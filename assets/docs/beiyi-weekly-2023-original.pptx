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39" r:id="rId3"/>
    <p:sldId id="559" r:id="rId5"/>
    <p:sldId id="717" r:id="rId6"/>
    <p:sldId id="606" r:id="rId7"/>
    <p:sldId id="748" r:id="rId8"/>
    <p:sldId id="607" r:id="rId9"/>
    <p:sldId id="721" r:id="rId10"/>
    <p:sldId id="608" r:id="rId11"/>
    <p:sldId id="610" r:id="rId12"/>
    <p:sldId id="611" r:id="rId13"/>
    <p:sldId id="858" r:id="rId14"/>
    <p:sldId id="795" r:id="rId15"/>
    <p:sldId id="863" r:id="rId16"/>
    <p:sldId id="886" r:id="rId17"/>
    <p:sldId id="887" r:id="rId18"/>
    <p:sldId id="888" r:id="rId19"/>
    <p:sldId id="889" r:id="rId20"/>
    <p:sldId id="890" r:id="rId21"/>
    <p:sldId id="891" r:id="rId22"/>
    <p:sldId id="892" r:id="rId23"/>
    <p:sldId id="893" r:id="rId24"/>
    <p:sldId id="894" r:id="rId25"/>
    <p:sldId id="895" r:id="rId26"/>
    <p:sldId id="724" r:id="rId27"/>
    <p:sldId id="727" r:id="rId28"/>
    <p:sldId id="728" r:id="rId29"/>
    <p:sldId id="731" r:id="rId30"/>
    <p:sldId id="846" r:id="rId31"/>
    <p:sldId id="848" r:id="rId32"/>
    <p:sldId id="849" r:id="rId33"/>
    <p:sldId id="851" r:id="rId34"/>
    <p:sldId id="640" r:id="rId35"/>
  </p:sldIdLst>
  <p:sldSz cx="9144000" cy="5143500" type="screen16x9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4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uanyelei" initials="q" lastIdx="1" clrIdx="0"/>
  <p:cmAuthor id="2" name="安木兮" initials="安木兮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C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70C0"/>
    <a:srgbClr val="EEECE1"/>
    <a:srgbClr val="4F81BD"/>
    <a:srgbClr val="E9EDF4"/>
    <a:srgbClr val="DCE6F2"/>
    <a:srgbClr val="95B3D7"/>
    <a:srgbClr val="D0D8E8"/>
    <a:srgbClr val="F0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12" autoAdjust="0"/>
    <p:restoredTop sz="93519" autoAdjust="0"/>
  </p:normalViewPr>
  <p:slideViewPr>
    <p:cSldViewPr showGuides="1">
      <p:cViewPr varScale="1">
        <p:scale>
          <a:sx n="106" d="100"/>
          <a:sy n="106" d="100"/>
        </p:scale>
        <p:origin x="374" y="86"/>
      </p:cViewPr>
      <p:guideLst>
        <p:guide orient="horz" pos="1574"/>
        <p:guide pos="2858"/>
      </p:guideLst>
    </p:cSldViewPr>
  </p:slideViewPr>
  <p:outlineViewPr>
    <p:cViewPr>
      <p:scale>
        <a:sx n="33" d="100"/>
        <a:sy n="33" d="100"/>
      </p:scale>
      <p:origin x="0" y="6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79.xml"/><Relationship Id="rId4" Type="http://schemas.openxmlformats.org/officeDocument/2006/relationships/notesMaster" Target="notesMasters/notesMaster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B6FBF-2AB3-4074-8791-A6A026EFB5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A52C4-631A-4F9D-8888-634DC5E169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100000">
              <a:schemeClr val="bg1">
                <a:lumMod val="95000"/>
              </a:schemeClr>
            </a:gs>
            <a:gs pos="50000">
              <a:schemeClr val="bg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tags" Target="../tags/tag30.xml"/><Relationship Id="rId5" Type="http://schemas.openxmlformats.org/officeDocument/2006/relationships/image" Target="../media/image6.png"/><Relationship Id="rId4" Type="http://schemas.openxmlformats.org/officeDocument/2006/relationships/tags" Target="../tags/tag29.xml"/><Relationship Id="rId3" Type="http://schemas.openxmlformats.org/officeDocument/2006/relationships/image" Target="../media/image5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35.xml"/><Relationship Id="rId7" Type="http://schemas.openxmlformats.org/officeDocument/2006/relationships/image" Target="../media/image10.png"/><Relationship Id="rId6" Type="http://schemas.openxmlformats.org/officeDocument/2006/relationships/tags" Target="../tags/tag34.xml"/><Relationship Id="rId5" Type="http://schemas.openxmlformats.org/officeDocument/2006/relationships/image" Target="../media/image9.png"/><Relationship Id="rId4" Type="http://schemas.openxmlformats.org/officeDocument/2006/relationships/tags" Target="../tags/tag33.xml"/><Relationship Id="rId3" Type="http://schemas.openxmlformats.org/officeDocument/2006/relationships/image" Target="../media/image8.png"/><Relationship Id="rId2" Type="http://schemas.openxmlformats.org/officeDocument/2006/relationships/tags" Target="../tags/tag32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tags" Target="../tags/tag39.xml"/><Relationship Id="rId2" Type="http://schemas.openxmlformats.org/officeDocument/2006/relationships/image" Target="../media/image12.png"/><Relationship Id="rId1" Type="http://schemas.openxmlformats.org/officeDocument/2006/relationships/tags" Target="../tags/tag38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tags" Target="../tags/tag41.xml"/><Relationship Id="rId2" Type="http://schemas.openxmlformats.org/officeDocument/2006/relationships/image" Target="../media/image14.png"/><Relationship Id="rId1" Type="http://schemas.openxmlformats.org/officeDocument/2006/relationships/tags" Target="../tags/tag4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tags" Target="../tags/tag60.xml"/><Relationship Id="rId6" Type="http://schemas.openxmlformats.org/officeDocument/2006/relationships/image" Target="../media/image19.png"/><Relationship Id="rId5" Type="http://schemas.openxmlformats.org/officeDocument/2006/relationships/tags" Target="../tags/tag59.xml"/><Relationship Id="rId4" Type="http://schemas.openxmlformats.org/officeDocument/2006/relationships/image" Target="../media/image18.png"/><Relationship Id="rId3" Type="http://schemas.openxmlformats.org/officeDocument/2006/relationships/tags" Target="../tags/tag58.xml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2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1.xml"/><Relationship Id="rId1" Type="http://schemas.openxmlformats.org/officeDocument/2006/relationships/tags" Target="../tags/tag5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45" y="0"/>
            <a:ext cx="9144000" cy="5109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0824" y="1790376"/>
            <a:ext cx="364333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贝易运营周报</a:t>
            </a:r>
            <a:endParaRPr lang="zh-CN" altLang="en-US" sz="28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6.11-6.17</a:t>
            </a:r>
            <a:endParaRPr lang="en-US" sz="28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6257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月产品目标及完成度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11505" y="1347470"/>
          <a:ext cx="7364730" cy="1584325"/>
        </p:xfrm>
        <a:graphic>
          <a:graphicData uri="http://schemas.openxmlformats.org/drawingml/2006/table">
            <a:tbl>
              <a:tblPr/>
              <a:tblGrid>
                <a:gridCol w="1227455"/>
                <a:gridCol w="1227455"/>
                <a:gridCol w="1227455"/>
                <a:gridCol w="1227455"/>
                <a:gridCol w="1227455"/>
                <a:gridCol w="1227455"/>
              </a:tblGrid>
              <a:tr h="3168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运营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产品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6月目标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目前销售额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达成率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上周销售额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晴天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床围栏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￥4,000,000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￥2,574,059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64.35%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￥1,208,554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8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晴天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￥250,000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￥141,981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56.79%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￥132,298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8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晴天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小蜗牛牙胶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￥50,000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￥22,431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44.86%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￥9,312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8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晴天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手抓球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￥40,000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￥16,162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40.40%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￥5,705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4828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周数据对比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323215" y="3075940"/>
            <a:ext cx="8002905" cy="172720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床围栏上周合计支付金额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120W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，因为狂欢日开卖所以数据上涨；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提升方案：</a:t>
            </a:r>
            <a:b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转化率提升：上周给到详情页，图和文案不契合，安排达人拍摄或机构拍摄；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618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结束按照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358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价格返场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天测试效果，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数据好的话后面日常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368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，活动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358 ;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日目标销售额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8W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品类词：之前日常品类词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300+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，活动结束增加低价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SKU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配合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BD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提升搜索，目标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500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品牌词：确定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月营销方案和目标，确定好后按照计划推进；增加抖音素人爆文复刻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红书测评抢占竞品流量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款式开发：单面款、一体式跟进，目前床围栏新配色图案筛选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06070" y="699770"/>
          <a:ext cx="8703310" cy="1163320"/>
        </p:xfrm>
        <a:graphic>
          <a:graphicData uri="http://schemas.openxmlformats.org/drawingml/2006/table">
            <a:tbl>
              <a:tblPr/>
              <a:tblGrid>
                <a:gridCol w="621665"/>
                <a:gridCol w="621665"/>
                <a:gridCol w="621665"/>
                <a:gridCol w="621665"/>
                <a:gridCol w="621665"/>
                <a:gridCol w="621665"/>
                <a:gridCol w="621665"/>
                <a:gridCol w="621665"/>
                <a:gridCol w="621665"/>
                <a:gridCol w="621665"/>
                <a:gridCol w="621665"/>
                <a:gridCol w="621665"/>
                <a:gridCol w="621665"/>
                <a:gridCol w="621665"/>
              </a:tblGrid>
              <a:tr h="290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单面链接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支付金额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90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￥366,169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32094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6068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2933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18.91%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10.62%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￥1,006,812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38,562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8337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4343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1039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2.69%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969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21.62%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2.53%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11.26%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8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174.96%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20.15%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37.39%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9.28%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48.07%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137.21%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180.16%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97.43%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15.91%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128.84%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14.35%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-15.48%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6.05%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306070" y="2027555"/>
          <a:ext cx="8667750" cy="914400"/>
        </p:xfrm>
        <a:graphic>
          <a:graphicData uri="http://schemas.openxmlformats.org/drawingml/2006/table">
            <a:tbl>
              <a:tblPr/>
              <a:tblGrid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</a:tblGrid>
              <a:tr h="228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组合装链接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支付金额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￥81,553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5653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1059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30.25%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1.54%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8.03%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￥222,628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7712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2283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785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2.61%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1108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29.60%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1.74%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10.18%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172.99%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36.42%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33.51%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54.02%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72.91%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161.04%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182.28%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91.35%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4.58%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100.10%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-2.14%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12.90%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26.74%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26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市场及排名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27405" y="4443730"/>
            <a:ext cx="7049135" cy="4546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近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天店铺排名第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，较上上周提升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名，</a:t>
            </a: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活动期高客单爆发比较好</a:t>
            </a:r>
            <a:endParaRPr lang="zh-CN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59840" y="554990"/>
            <a:ext cx="6395085" cy="3834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26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市场及排名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59840" y="4587875"/>
            <a:ext cx="6477000" cy="3403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近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天单面链接行业排名第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上上周单面链接排名第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名。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750" y="627380"/>
            <a:ext cx="8081010" cy="3815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580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320675" y="3940175"/>
            <a:ext cx="6695440" cy="6070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上周床围栏单链接销售额超过果然好奇，品牌词果然好奇点击人数是我们的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1.34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倍，果然好奇主要品牌词流量来自于自来水流量，果然好奇营销发力较少，小红书做横测抢果然好奇客户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52095" y="771525"/>
          <a:ext cx="8783320" cy="1363980"/>
        </p:xfrm>
        <a:graphic>
          <a:graphicData uri="http://schemas.openxmlformats.org/drawingml/2006/table">
            <a:tbl>
              <a:tblPr/>
              <a:tblGrid>
                <a:gridCol w="627380"/>
                <a:gridCol w="627380"/>
                <a:gridCol w="627380"/>
                <a:gridCol w="627380"/>
                <a:gridCol w="627380"/>
                <a:gridCol w="627380"/>
                <a:gridCol w="627380"/>
                <a:gridCol w="627380"/>
                <a:gridCol w="627380"/>
                <a:gridCol w="627380"/>
                <a:gridCol w="627380"/>
                <a:gridCol w="627380"/>
                <a:gridCol w="627380"/>
                <a:gridCol w="627380"/>
              </a:tblGrid>
              <a:tr h="2273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商品信息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1006812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38562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8337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4343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1040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2.70%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968.53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26.11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21.62%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2.53%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11.26%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3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果然好奇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782291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20997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4611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625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3036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1036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2345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4.94%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754.79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37.26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21.96%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14.46%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丸丫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5154935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324638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139964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6734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47277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17346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25199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5.34%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297.18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15.88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43.11%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14.56%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252095" y="2313940"/>
          <a:ext cx="5422900" cy="1219200"/>
        </p:xfrm>
        <a:graphic>
          <a:graphicData uri="http://schemas.openxmlformats.org/drawingml/2006/table">
            <a:tbl>
              <a:tblPr/>
              <a:tblGrid>
                <a:gridCol w="876300"/>
                <a:gridCol w="1136650"/>
                <a:gridCol w="1136650"/>
                <a:gridCol w="1136650"/>
                <a:gridCol w="1136650"/>
              </a:tblGrid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关键词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点击人数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支付转化率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5968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2544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2.59%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果然好奇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7605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1.27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1.11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1.48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丸丫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43026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33087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5.90%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1953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7.21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13.01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2.28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29.59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580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59155" y="4659630"/>
            <a:ext cx="6166485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搜索和直通车流量超过果然好奇，丸丫因为客单价低原因引力魔方和淘客数据都比较好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428625" y="627380"/>
          <a:ext cx="7909560" cy="3909060"/>
        </p:xfrm>
        <a:graphic>
          <a:graphicData uri="http://schemas.openxmlformats.org/drawingml/2006/table">
            <a:tbl>
              <a:tblPr/>
              <a:tblGrid>
                <a:gridCol w="1378585"/>
                <a:gridCol w="540385"/>
                <a:gridCol w="541020"/>
                <a:gridCol w="540385"/>
                <a:gridCol w="540385"/>
                <a:gridCol w="540385"/>
                <a:gridCol w="540385"/>
                <a:gridCol w="540385"/>
                <a:gridCol w="540385"/>
                <a:gridCol w="586105"/>
                <a:gridCol w="540385"/>
                <a:gridCol w="540385"/>
                <a:gridCol w="540385"/>
              </a:tblGrid>
              <a:tr h="21717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流量来源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果然好奇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丸丫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手淘搜索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221247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8888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2.37%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149452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4896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3.71%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1822666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125026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5946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4.75%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购物车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550548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3229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16.54%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469314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2420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2843531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32896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9074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27.58%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我的淘宝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138144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1984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7.31%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142060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9.99%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774848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27611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2706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9.79%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手淘旺信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168980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10.29%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159576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1486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13.72%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825765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19274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2672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13.86%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天猫榜单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25867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1560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12290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2.44%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233103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12661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732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5.78%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手淘推荐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39862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1270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45023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5.07%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222245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11713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684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5.84%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淘内待分类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59913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947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66231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14.45%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200658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6957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9.43%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手淘淘宝直播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68492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750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8.27%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47022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13.68%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212460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4220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15.19%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一淘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71770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40.80%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68270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42.85%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261406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1938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43.59%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直通车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188179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12198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1.57%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109199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9070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1.47%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153809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7674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6.50%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引力魔方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6022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5313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0.15%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8589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16.90%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262194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41920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886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2.11%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万相台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131251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1943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6.38%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2959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39.99%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淘宝客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102287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2051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4.63%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49493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28.62%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510261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53522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1652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3.08%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其他入口榜单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18314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1226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2.40%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155444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7840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其他猜你喜欢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37076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7.10%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43345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10.20%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194555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5466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10.97%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1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品销宝- 明星店铺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40718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1053</a:t>
                      </a:r>
                      <a:endParaRPr lang="en-US" altLang="en-US" sz="8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4.65%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1818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直通车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323850" y="4227830"/>
            <a:ext cx="6332220" cy="58547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付费推广还是以直通车拉新为主，直接投产在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，引力魔方和万象台少量投放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23850" y="771525"/>
          <a:ext cx="8472805" cy="871220"/>
        </p:xfrm>
        <a:graphic>
          <a:graphicData uri="http://schemas.openxmlformats.org/drawingml/2006/table">
            <a:tbl>
              <a:tblPr/>
              <a:tblGrid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</a:tblGrid>
              <a:tr h="2178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直通车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花费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点击量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CPC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直接加购数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直接成交笔数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直接ROI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178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39969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12,945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7.27%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1454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11.23%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1.10%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111310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8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65831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16,290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2,225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13.66%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2.39%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331201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78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64.71%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25.84%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30.89%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-11.00%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53.03%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21.60%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172.03%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116.17%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197.55%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80.65%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323850" y="1910080"/>
          <a:ext cx="8479790" cy="797560"/>
        </p:xfrm>
        <a:graphic>
          <a:graphicData uri="http://schemas.openxmlformats.org/drawingml/2006/table">
            <a:tbl>
              <a:tblPr/>
              <a:tblGrid>
                <a:gridCol w="770890"/>
                <a:gridCol w="770890"/>
                <a:gridCol w="770890"/>
                <a:gridCol w="770890"/>
                <a:gridCol w="770890"/>
                <a:gridCol w="770890"/>
                <a:gridCol w="770890"/>
                <a:gridCol w="770890"/>
                <a:gridCol w="770890"/>
                <a:gridCol w="770890"/>
                <a:gridCol w="770890"/>
              </a:tblGrid>
              <a:tr h="199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引力魔方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花费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点击量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CPC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总成交金额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总成交笔数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ROI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3580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3,067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6.36%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2843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0.13%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5686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5,640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1.92%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14417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9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58.83%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83.89%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-13.63%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106.45%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-13.85%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-53.15%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407.08%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425.00%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185.49%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219.26%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323850" y="2931795"/>
          <a:ext cx="8472805" cy="782320"/>
        </p:xfrm>
        <a:graphic>
          <a:graphicData uri="http://schemas.openxmlformats.org/drawingml/2006/table">
            <a:tbl>
              <a:tblPr/>
              <a:tblGrid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  <a:gridCol w="770255"/>
              </a:tblGrid>
              <a:tr h="195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万象台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花费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点击量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CPC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直接成交笔数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ROI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2978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681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3.04%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11.89%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19868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3.23%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6.7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3941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957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3.24%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18.60%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60972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7.11%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32.30%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40.53%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-5.85%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6.58%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119.75%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56.38%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206.88%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209.09%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119.95%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131.95%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598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SKU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销售占比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395605" y="4155440"/>
            <a:ext cx="7198995" cy="45339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云母灰占比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61.46%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贝母灰占比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26.44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有所提升，果然好奇灰色款占比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76%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，丸丫灰色款占比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80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251460" y="771525"/>
          <a:ext cx="3465195" cy="1194435"/>
        </p:xfrm>
        <a:graphic>
          <a:graphicData uri="http://schemas.openxmlformats.org/drawingml/2006/table">
            <a:tbl>
              <a:tblPr/>
              <a:tblGrid>
                <a:gridCol w="1931035"/>
                <a:gridCol w="835660"/>
                <a:gridCol w="698500"/>
              </a:tblGrid>
              <a:tr h="2927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属性信息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占比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03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云母灰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618762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61.46%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9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贝母灰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266158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26.44%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3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贝易卡其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121891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12.11%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251460" y="2139950"/>
          <a:ext cx="3422650" cy="1270000"/>
        </p:xfrm>
        <a:graphic>
          <a:graphicData uri="http://schemas.openxmlformats.org/drawingml/2006/table">
            <a:tbl>
              <a:tblPr/>
              <a:tblGrid>
                <a:gridCol w="1320800"/>
                <a:gridCol w="965200"/>
                <a:gridCol w="1136650"/>
              </a:tblGrid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属性信息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占比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豆乳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260587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33.31%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山石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250807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32.06%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鸟鸣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108239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13.84%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龙猫特别款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82974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10.61%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浪诵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79683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10.19%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4140200" y="627380"/>
          <a:ext cx="4679950" cy="2679700"/>
        </p:xfrm>
        <a:graphic>
          <a:graphicData uri="http://schemas.openxmlformats.org/drawingml/2006/table">
            <a:tbl>
              <a:tblPr/>
              <a:tblGrid>
                <a:gridCol w="2457450"/>
                <a:gridCol w="1085850"/>
                <a:gridCol w="1136650"/>
              </a:tblGrid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属性信息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占比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熊宝宝(x1)+小星星(x2)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1566138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30.38%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简灰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1438632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27.91%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小星星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739803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14.35%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熊宝宝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401999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7.80%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白金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282893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5.49%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爱心兔(x1)+粉星星(x2)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249968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4.85%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嘟嘟象(x1)+小月牙(x2)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145956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2.83%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爱心兔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103953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2.02%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粉星星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85772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1.66%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小月牙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69780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1.35%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嘟嘟象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58679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1.14%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粉森林【基础薄款】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10978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0.21%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072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竞品流失</a:t>
            </a:r>
            <a:endParaRPr lang="zh-CN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55650" y="4227830"/>
            <a:ext cx="6853555" cy="5048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近７天合计流失金额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876544</a:t>
            </a: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，流失人数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2045</a:t>
            </a: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，主要是流失到市面低价款；</a:t>
            </a:r>
            <a:endParaRPr 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我们相较于果然好奇、利伯顿在于缺少防撞棉，预计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6.20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大货生产出来。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1550" y="554990"/>
            <a:ext cx="57531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26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品牌词分析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331595" y="4587875"/>
            <a:ext cx="6488430" cy="3403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上周抖音有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篇宝宝荡秋千爆文，日均点击人数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500+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，小红书做横测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抖音复刻爆文提升品牌热度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827405" y="699135"/>
          <a:ext cx="7409815" cy="3726180"/>
        </p:xfrm>
        <a:graphic>
          <a:graphicData uri="http://schemas.openxmlformats.org/drawingml/2006/table">
            <a:tbl>
              <a:tblPr/>
              <a:tblGrid>
                <a:gridCol w="1144270"/>
                <a:gridCol w="1155065"/>
                <a:gridCol w="835660"/>
                <a:gridCol w="836295"/>
                <a:gridCol w="835660"/>
                <a:gridCol w="935990"/>
                <a:gridCol w="730885"/>
                <a:gridCol w="935990"/>
              </a:tblGrid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日期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关键词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支付转化率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0.37%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716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665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5748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2.82%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821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3193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1.67%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1064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1664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0.89%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2122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1.26%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707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2148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1.44%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716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4634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927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合计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4298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1675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20225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1.43%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843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3624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1.98%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906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7158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3.57%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4232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1411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695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1192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17544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3.13%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1032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528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10980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2.65%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784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贝易床围栏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11277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4.27%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752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01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合计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5441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2356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54815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2.59%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899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0701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同比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26.59%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40.66%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171.03%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80.70%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154.17%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6.63%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26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小红书图文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39750" y="4011930"/>
            <a:ext cx="7992745" cy="80327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上周投流费用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5040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，点击成本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0.65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，互动成本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元左右，活动期间加大干货种草类型文章投放，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抖音那种荡秋千的文章也可以发到小红书看看效果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5650" y="554990"/>
            <a:ext cx="1731010" cy="33553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27630" y="483235"/>
            <a:ext cx="1746885" cy="33985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27855" y="554990"/>
            <a:ext cx="1682115" cy="33458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1564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床围栏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抖音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51460" y="4155440"/>
            <a:ext cx="8143875" cy="80327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达人记录生活并种草这种数据还行，但是不能大爆；抖音重点推进找素人拍竞品的痛点：防护高度低、摇晃、卡缝隙等；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以及我们的有点稳固、无缝隙等，小红书偏安利，抖音偏曝光。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505" y="554990"/>
            <a:ext cx="1855470" cy="32175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83485" y="554990"/>
            <a:ext cx="2214880" cy="31946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16370" y="554990"/>
            <a:ext cx="1738630" cy="32175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716145" y="554990"/>
            <a:ext cx="184531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2288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周数据对比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252095" y="2643505"/>
            <a:ext cx="8223250" cy="21628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上周浴盆真实销售额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13W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618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期间购买氛围比较浓，上周直通车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营销爆文带动销售增长；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提升点：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转化率：日常转化率估计在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1.5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左右，目前新品基础评价太少，确定好营销计划安排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条晒图评价；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淘客：恢复日常后价格提高</a:t>
            </a: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，通过淘客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关联销售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咨询客服享优惠价这个月销量冲到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1000+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营销：小红书端少量铺设干货种草、测评类，抖音大量铺设萌娃类视频增加曝光，数据好的再复刻到小红书，站外过来的咨询客服享优惠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手淘：活动结束后增加浴网浴垫套餐降低展示价，配合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BD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拉升手淘，目标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日品类词手淘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500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，目前大促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243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开发赠品提升性价比：水中玩具小黄鸭、花洒等赠品采购，营造一个更温馨的洗澡玩水环境，提升氛围感，抖音这块也更有看点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6. 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引导发逛逛：引导客户晒图、发逛逛返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红包，加快评价堆积和内容种草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252095" y="987425"/>
          <a:ext cx="8667750" cy="1463040"/>
        </p:xfrm>
        <a:graphic>
          <a:graphicData uri="http://schemas.openxmlformats.org/drawingml/2006/table">
            <a:tbl>
              <a:tblPr/>
              <a:tblGrid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  <a:gridCol w="619125"/>
              </a:tblGrid>
              <a:tr h="3657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支付金额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访客数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买家数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5242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1905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678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2.75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35.59%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3.41%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7.98%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132299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9986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4140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2852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4.03%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13.25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41.46%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5.51%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28.56%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2423.83%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424.20%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510.62%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746.15%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1776.32%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2992.31%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3150.00%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489.91%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-18.38%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381.46%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16.49%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61.42%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257.94%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072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市场及排名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7400" y="527050"/>
            <a:ext cx="7275195" cy="3930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99795" y="4435475"/>
            <a:ext cx="7136130" cy="708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072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市场及排名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1535" y="504190"/>
            <a:ext cx="7440295" cy="35744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51535" y="4095115"/>
            <a:ext cx="7440295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26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52095" y="3291840"/>
            <a:ext cx="7074535" cy="6070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活动期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销售额是我们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倍左右，访客数是我们的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倍，需要增加付费流量，我们的加购率在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左右，远高于竞品，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加购率在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左右，我们产品卖点有优势，但是价格过高导致实际转化没那么理想。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79705" y="843280"/>
          <a:ext cx="8724900" cy="1985010"/>
        </p:xfrm>
        <a:graphic>
          <a:graphicData uri="http://schemas.openxmlformats.org/drawingml/2006/table">
            <a:tbl>
              <a:tblPr/>
              <a:tblGrid>
                <a:gridCol w="622935"/>
                <a:gridCol w="623570"/>
                <a:gridCol w="622935"/>
                <a:gridCol w="623570"/>
                <a:gridCol w="622935"/>
                <a:gridCol w="622300"/>
                <a:gridCol w="624205"/>
                <a:gridCol w="622935"/>
                <a:gridCol w="623570"/>
                <a:gridCol w="622935"/>
                <a:gridCol w="622935"/>
                <a:gridCol w="624205"/>
                <a:gridCol w="622300"/>
                <a:gridCol w="623570"/>
              </a:tblGrid>
              <a:tr h="3308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商品信息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308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137831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9986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4140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2852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4.20%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328.38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41.46%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5.51%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28.56%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8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bc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426618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49508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6712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6328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2061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2167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4.16%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207.01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13.56%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1.10%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12.78%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3308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3.10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4.96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1.62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2.22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4.91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4.58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0.20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3308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蒂爱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414589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29878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619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4620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1864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1964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6.24%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222.44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13.88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12.42%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15.46%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3308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3.01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1.13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1.62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4.44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4.15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1.49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1.01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26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55650" y="4732020"/>
            <a:ext cx="7426325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目前看来我们的推广花费太少，已经加大费用，日预算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2000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bc618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价格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159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，淘客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149+10%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佣金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683895" y="595630"/>
          <a:ext cx="7966710" cy="4084320"/>
        </p:xfrm>
        <a:graphic>
          <a:graphicData uri="http://schemas.openxmlformats.org/drawingml/2006/table">
            <a:tbl>
              <a:tblPr/>
              <a:tblGrid>
                <a:gridCol w="1249680"/>
                <a:gridCol w="559435"/>
                <a:gridCol w="559435"/>
                <a:gridCol w="560070"/>
                <a:gridCol w="559435"/>
                <a:gridCol w="560070"/>
                <a:gridCol w="559435"/>
                <a:gridCol w="559435"/>
                <a:gridCol w="560705"/>
                <a:gridCol w="560070"/>
                <a:gridCol w="559435"/>
                <a:gridCol w="560070"/>
                <a:gridCol w="559435"/>
              </a:tblGrid>
              <a:tr h="170180">
                <a:tc rowSpan="2"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流量来源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bc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蒂爱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01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手淘搜索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52432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4118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3.25%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55195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6845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3.81%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44409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4028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5.14%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购物车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70629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1367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16.90%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199788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5179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18.72%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230744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25.63%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我的淘宝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16556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8.98%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42359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3322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6.05%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47261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4062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5.09%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手淘推荐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4767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7.36%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11358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1350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4.15%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11101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5.78%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手淘淘宝直播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5347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8.33%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18893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788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11.03%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16762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728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9.75%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淘内待分类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3323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6.56%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20756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1023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10.26%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19775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9.37%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手淘旺信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8932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15.20%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21716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921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11.17%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24605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937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11.74%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手淘其他店铺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6.25%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3.58%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1824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4.37%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手淘消息中心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3024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15.79%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8466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11.57%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7613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9.24%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订阅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2.33%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2.44%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5.08%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一淘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5791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47.62%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19115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37.77%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22033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45.21%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淘口令分享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1476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12.12%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3919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12.77%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7099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12.25%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短视频全屏页上下滑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6.52%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日常营销活动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861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10.34%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10.62%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7303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13.41%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直通车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30516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2990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3.58%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59519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8748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3.20%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56774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8206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3.19%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万相台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9222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535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5.61%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55894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12371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2.18%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17174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1866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3.91%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引力魔方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960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102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3.92%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11299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5940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5786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3446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0.70%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淘宝客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15198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272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19.85%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54896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3541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9.51%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28332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rPr>
                        <a:t>529</a:t>
                      </a:r>
                      <a:endParaRPr lang="en-US" altLang="en-US" sz="700" b="0">
                        <a:solidFill>
                          <a:srgbClr val="FF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23.62%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其他猜你喜欢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3895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9.93%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8554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9.17%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9767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10.84%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首页推荐-微详情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3.45%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2790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888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1.69%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1333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1.56%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品销宝- 明星店铺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32352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1749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7.95%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品销宝- 品牌专区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18728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1738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4.95%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1564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直通车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323215" y="3349625"/>
            <a:ext cx="6332220" cy="58547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活动期间推广产出较好，花费太少需要加大费用。</a:t>
            </a:r>
            <a:endParaRPr lang="zh-CN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252095" y="843280"/>
          <a:ext cx="8650605" cy="1104900"/>
        </p:xfrm>
        <a:graphic>
          <a:graphicData uri="http://schemas.openxmlformats.org/drawingml/2006/table">
            <a:tbl>
              <a:tblPr/>
              <a:tblGrid>
                <a:gridCol w="765175"/>
                <a:gridCol w="764540"/>
                <a:gridCol w="765810"/>
                <a:gridCol w="765175"/>
                <a:gridCol w="764540"/>
                <a:gridCol w="765175"/>
                <a:gridCol w="765175"/>
                <a:gridCol w="765175"/>
                <a:gridCol w="765175"/>
                <a:gridCol w="999490"/>
                <a:gridCol w="765175"/>
              </a:tblGrid>
              <a:tr h="4032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直通车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花费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点击量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CPC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点击率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直接加购数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直接成交笔数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直接转化率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直接成交金额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直接ROI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336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963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5.35%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3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4638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2,383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11.19%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29.63%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4.20%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38570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6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381.90%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1174.33%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-62.18%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289.90%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6960.00%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454.02%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9900.00%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684.73%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8705.84%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1727.33%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252095" y="2283460"/>
          <a:ext cx="8650605" cy="622300"/>
        </p:xfrm>
        <a:graphic>
          <a:graphicData uri="http://schemas.openxmlformats.org/drawingml/2006/table">
            <a:tbl>
              <a:tblPr/>
              <a:tblGrid>
                <a:gridCol w="765175"/>
                <a:gridCol w="764540"/>
                <a:gridCol w="765810"/>
                <a:gridCol w="765175"/>
                <a:gridCol w="764540"/>
                <a:gridCol w="765175"/>
                <a:gridCol w="765175"/>
                <a:gridCol w="765175"/>
                <a:gridCol w="765175"/>
                <a:gridCol w="999490"/>
                <a:gridCol w="765175"/>
              </a:tblGrid>
              <a:tr h="393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万象台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花费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点击量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CPC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点击率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直接加购数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直接成交笔数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直接转化率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直接成交金额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直接ROI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6.14-6.17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1358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3.5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3.72%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22.14%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4.43%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4883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3.6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44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SKU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销售占比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4644390" y="4354830"/>
            <a:ext cx="3545205" cy="60896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蓝色占比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79%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，含脸盆占比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，浴盆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浴垫浴网占比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39.6%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，蒂爱蓝色占比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32%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，含脸盆占比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25%</a:t>
            </a: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23850" y="699135"/>
          <a:ext cx="3506470" cy="1206500"/>
        </p:xfrm>
        <a:graphic>
          <a:graphicData uri="http://schemas.openxmlformats.org/drawingml/2006/table">
            <a:tbl>
              <a:tblPr/>
              <a:tblGrid>
                <a:gridCol w="1463675"/>
                <a:gridCol w="1030605"/>
                <a:gridCol w="1012190"/>
              </a:tblGrid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属性信息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浴盆+浴网+浴垫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58790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42.65%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35959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26.09%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浴盆+浴网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21737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15.77%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浴盆+浴垫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21344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15.49%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107315" y="2211705"/>
          <a:ext cx="3906520" cy="2654300"/>
        </p:xfrm>
        <a:graphic>
          <a:graphicData uri="http://schemas.openxmlformats.org/drawingml/2006/table">
            <a:tbl>
              <a:tblPr/>
              <a:tblGrid>
                <a:gridCol w="1991360"/>
                <a:gridCol w="957580"/>
                <a:gridCol w="957580"/>
              </a:tblGrid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属性信息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占比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冰川蓝浴盆+浴网+浴垫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131237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30.76%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冰川蓝单盆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84462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19.80%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冰川蓝浴盆全套+温度计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45621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10.69%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青芥绿浴盆+浴网+浴垫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38102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8.93%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青芥绿单盆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31364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7.35%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冰川蓝浴盆+浴垫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30623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7.18%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冰川蓝浴盆全套+温度计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22436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5.26%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冰川蓝浴盆+浴网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22363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5.24%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青芥绿浴盆+浴垫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11461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2.69%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青芥绿浴盆+浴网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8951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2.10%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4787583" y="339312"/>
          <a:ext cx="4673600" cy="3403600"/>
        </p:xfrm>
        <a:graphic>
          <a:graphicData uri="http://schemas.openxmlformats.org/drawingml/2006/table">
            <a:tbl>
              <a:tblPr/>
              <a:tblGrid>
                <a:gridCol w="2205355"/>
                <a:gridCol w="904240"/>
                <a:gridCol w="999490"/>
              </a:tblGrid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属性信息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占比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浴盆-蓝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80311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19.37%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浴盆+浴垫+浴网+脸盆*2 -蓝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71340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17.21%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浴盆+浴架 -蓝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51537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12.43%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浴盆+浴垫+浴网 -蓝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50077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12.08%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浴盆+浴垫+浴网+脸盆*2;白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31857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7.68%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浴盆-白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28683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6.92%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浴盆+浴垫+浴网;白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28600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6.90%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蒂爱蓝-浴盆【非抑菌款】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15126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3.65%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浴盆+浴垫+脸盆*2;白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14477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3.49%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浴盆+浴架 -白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13227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3.19%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浴盆+浴垫 -白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12435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3.00%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浴盆+浴垫+浴网+洗澡玩具-蓝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9428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2.27%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浴盆+浴网;白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3532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0.85%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浴盆+洗澡玩具 -蓝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3153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0.76%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浴盆+浴网 -蓝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0.20%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1818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竞品流失</a:t>
            </a:r>
            <a:endParaRPr lang="zh-CN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15695" y="4443730"/>
            <a:ext cx="5323840" cy="5048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近７天合计流失金额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41410</a:t>
            </a: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，流失人数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266</a:t>
            </a: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，主要是流失到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babyviva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、蒂爱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1595" y="504190"/>
            <a:ext cx="575945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072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品牌词分析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331595" y="4587875"/>
            <a:ext cx="5766435" cy="3403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上周有营销小爆文，点击人数上涨明显，抖音方面可以多铺量；但是转化率比较低，主图加上咨询客服享优惠或更大权益赠品</a:t>
            </a:r>
            <a:endParaRPr lang="zh-CN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39750" y="627380"/>
          <a:ext cx="7929245" cy="3840480"/>
        </p:xfrm>
        <a:graphic>
          <a:graphicData uri="http://schemas.openxmlformats.org/drawingml/2006/table">
            <a:tbl>
              <a:tblPr/>
              <a:tblGrid>
                <a:gridCol w="1210310"/>
                <a:gridCol w="906780"/>
                <a:gridCol w="749300"/>
                <a:gridCol w="658495"/>
                <a:gridCol w="1101090"/>
                <a:gridCol w="1100455"/>
                <a:gridCol w="1101725"/>
                <a:gridCol w="1101090"/>
              </a:tblGrid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日期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关键词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支付转化率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合计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#DIV/0!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16.67%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33.33%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2188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3.31%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243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2023/6/17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贝易浴盆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合计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1605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2.32%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1336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1400.00%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600.00%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#DIV/0!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#DIV/0!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#DIV/0!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#DIV/0!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1.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1310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浴盆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营销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99135"/>
            <a:ext cx="1735455" cy="31476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35455" y="699135"/>
            <a:ext cx="1826895" cy="2626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63620" y="699135"/>
            <a:ext cx="1826895" cy="31476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391785" y="699135"/>
            <a:ext cx="1820545" cy="31534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8680" y="699135"/>
            <a:ext cx="1805940" cy="390525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1187450" y="4443730"/>
            <a:ext cx="5920740" cy="3403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抖音萌娃类数据曝光度都还可以，点赞数都是几百起，多做置换增加品牌曝光，搭配直播间买赠收割</a:t>
            </a:r>
            <a:endParaRPr lang="zh-CN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2288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牙胶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周数据对比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23850" y="2919730"/>
            <a:ext cx="8587740" cy="127254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牙胶问题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牙胶转化率在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左右，差异化不是很大，客单价比较低、类目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CPC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比较高，推广投产在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左右，转化率要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以上才能达到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目前这款不做主推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产品卖点一般，评价中反馈产品难以抓握不太适合小月龄宝宝，看看新品魔法棒牙胶市场反馈如何，然后再开发套手款牙胶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323850" y="1059180"/>
          <a:ext cx="8587740" cy="1305560"/>
        </p:xfrm>
        <a:graphic>
          <a:graphicData uri="http://schemas.openxmlformats.org/drawingml/2006/table">
            <a:tbl>
              <a:tblPr/>
              <a:tblGrid>
                <a:gridCol w="613410"/>
                <a:gridCol w="613410"/>
                <a:gridCol w="613410"/>
                <a:gridCol w="613410"/>
                <a:gridCol w="613410"/>
                <a:gridCol w="613410"/>
                <a:gridCol w="613410"/>
                <a:gridCol w="613410"/>
                <a:gridCol w="613410"/>
                <a:gridCol w="613410"/>
                <a:gridCol w="613410"/>
                <a:gridCol w="613410"/>
                <a:gridCol w="613410"/>
                <a:gridCol w="613410"/>
              </a:tblGrid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牙胶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支付金额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买家数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5894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2656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958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3.80%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2.22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36.07%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2.18%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11.94%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9311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4459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961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4.15%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21.55%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9.71%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57.97%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67.88%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-24.14%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36.59%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83.17%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84.91%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9.10%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-13.75%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-5.90%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-40.25%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-54.81%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-18.64%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26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牙胶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39750" y="3147695"/>
            <a:ext cx="7917180" cy="6572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与头部爆品相比，销量、卖点竞争力还是较弱；佳尔优优销售额是我们的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倍，访客数是我们的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4.85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倍，销售额主要集中在头部品牌链接，日常日均销售额在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1W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以上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224790" y="843280"/>
          <a:ext cx="8596630" cy="2087880"/>
        </p:xfrm>
        <a:graphic>
          <a:graphicData uri="http://schemas.openxmlformats.org/drawingml/2006/table">
            <a:tbl>
              <a:tblPr/>
              <a:tblGrid>
                <a:gridCol w="614045"/>
                <a:gridCol w="614045"/>
                <a:gridCol w="614045"/>
                <a:gridCol w="614045"/>
                <a:gridCol w="614045"/>
                <a:gridCol w="614045"/>
                <a:gridCol w="614045"/>
                <a:gridCol w="614045"/>
                <a:gridCol w="614045"/>
                <a:gridCol w="614045"/>
                <a:gridCol w="614045"/>
                <a:gridCol w="614045"/>
                <a:gridCol w="614045"/>
                <a:gridCol w="614045"/>
              </a:tblGrid>
              <a:tr h="347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商品信息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支付转化率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9311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4459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961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4.14%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50.41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21.55%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9.71%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佳尔优优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123781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21605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4030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3959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1939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2051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8.98%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63.83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5.73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18.65%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3.04%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18.32%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13.29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4.85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4.19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14.91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9.14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10.48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10.46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2.17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1.27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2.74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0.87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3.07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1.89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妈贝乐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92768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16105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5243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607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4280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2760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2935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17.14%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33.61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5.76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32.56%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3.77%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26.58%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9.96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3.61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5.46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13.80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9.88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14.92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14.97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4.14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0.67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2.76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1.51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3.81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2.74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326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牙胶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827405" y="4732020"/>
            <a:ext cx="7484110" cy="40259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佳尔优优主要靠直通车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引力魔方</a:t>
            </a: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带动搜索和推荐流量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，妈贝乐以搜索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直通车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淘客为主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755650" y="554990"/>
          <a:ext cx="7737475" cy="3992880"/>
        </p:xfrm>
        <a:graphic>
          <a:graphicData uri="http://schemas.openxmlformats.org/drawingml/2006/table">
            <a:tbl>
              <a:tblPr/>
              <a:tblGrid>
                <a:gridCol w="1054100"/>
                <a:gridCol w="556895"/>
                <a:gridCol w="556895"/>
                <a:gridCol w="556895"/>
                <a:gridCol w="556895"/>
                <a:gridCol w="556895"/>
                <a:gridCol w="556895"/>
                <a:gridCol w="556895"/>
                <a:gridCol w="557530"/>
                <a:gridCol w="556895"/>
                <a:gridCol w="556895"/>
                <a:gridCol w="556895"/>
                <a:gridCol w="556895"/>
              </a:tblGrid>
              <a:tr h="16637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流量来源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佳尔优优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妈贝乐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63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站外广告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11101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524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33.76%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12796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1256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31.60%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手淘搜索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2140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932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3.86%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22305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4374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7.61%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25521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5190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729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14.04%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购物车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3625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13.91%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47132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3070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749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24.39%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29900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2619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911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34.77%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效果广告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1614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9.04%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42847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10212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6.28%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15796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3104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14.33%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我的淘宝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780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5.52%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11443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2334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7.15%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2773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8.80%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手淘旺信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6.73%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12013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861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21.82%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4520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26.73%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淘内待分类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3280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11.02%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995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手淘推荐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4.95%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5010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11.84%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3947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1749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6.01%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手淘拍立淘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1157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6.61%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1058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12.73%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手淘淘宝直播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3.23%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1753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10.57%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1597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21.83%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一淘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43.33%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7342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48.18%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8393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59.24%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手机天猫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7.69%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6.90%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5.17%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手淘其他店铺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5.26%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9.09%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淘口令分享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25.00%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4449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30.38%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2462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19.68%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日常营销活动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25.00%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6.59%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16.15%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手淘问大家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9.09%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615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15.37%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淘宝客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0.99%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11101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521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33.96%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12796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1252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31.70%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直通车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927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8.70%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39134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6312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584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9.25%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15735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3101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14.28%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万相台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13.85%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引力魔方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8.00%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4388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4175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1.63%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66.65%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首页推荐-微详情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2.98%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910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1271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2.12%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63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其他猜你喜欢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11.11%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4569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17.99%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3037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16.55%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1818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牙胶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竞品流失</a:t>
            </a:r>
            <a:endParaRPr lang="zh-CN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87450" y="4587875"/>
            <a:ext cx="5323840" cy="5048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上周流失金额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7896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，主要流失到佳尔优优。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1550" y="627380"/>
            <a:ext cx="5872480" cy="36849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4828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手抓球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周数据对比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23850" y="3514725"/>
            <a:ext cx="7856220" cy="132080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手抓球问题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&amp;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解决方案：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市面曼哈顿手抓球基本差异化比较小，市面低价款在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多左右，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bc59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，英氏</a:t>
            </a:r>
            <a:r>
              <a:rPr 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世喜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69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，价格希望调整到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促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69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，日常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79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月转化率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转化率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，主图、视频、详情页卖点需要重新提炼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整体流量偏低，价格调整后可以拉升手淘，手抓球市场较小，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手淘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600+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魔法棒牙胶上线之后做组合套餐带动手抓球销售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179705" y="915035"/>
          <a:ext cx="8818880" cy="993140"/>
        </p:xfrm>
        <a:graphic>
          <a:graphicData uri="http://schemas.openxmlformats.org/drawingml/2006/table">
            <a:tbl>
              <a:tblPr/>
              <a:tblGrid>
                <a:gridCol w="629920"/>
                <a:gridCol w="629920"/>
                <a:gridCol w="629920"/>
                <a:gridCol w="629920"/>
                <a:gridCol w="629920"/>
                <a:gridCol w="629920"/>
                <a:gridCol w="629920"/>
                <a:gridCol w="629920"/>
                <a:gridCol w="629920"/>
                <a:gridCol w="629920"/>
                <a:gridCol w="629920"/>
                <a:gridCol w="629920"/>
                <a:gridCol w="629920"/>
                <a:gridCol w="629920"/>
              </a:tblGrid>
              <a:tr h="2482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时间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支付金额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访客数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82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4162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1155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3.03%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119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3.60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28.31%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1.99%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11.69%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5706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3236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339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1.92%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92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1.76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10.48%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0.62%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5.01%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37.10%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180.17%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3.67%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-13.04%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20.00%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77.14%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80.00%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-36.77%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-22.61%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-51.07%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-63.00%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-68.96%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-57.17%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251460" y="2211070"/>
          <a:ext cx="8661400" cy="1000760"/>
        </p:xfrm>
        <a:graphic>
          <a:graphicData uri="http://schemas.openxmlformats.org/drawingml/2006/table">
            <a:tbl>
              <a:tblPr/>
              <a:tblGrid>
                <a:gridCol w="787400"/>
                <a:gridCol w="787400"/>
                <a:gridCol w="787400"/>
                <a:gridCol w="787400"/>
                <a:gridCol w="787400"/>
                <a:gridCol w="787400"/>
                <a:gridCol w="787400"/>
                <a:gridCol w="787400"/>
                <a:gridCol w="787400"/>
                <a:gridCol w="787400"/>
                <a:gridCol w="787400"/>
              </a:tblGrid>
              <a:tr h="250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直通车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花费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点击量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CPC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点击率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直接加购数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直接成交笔数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直接成交金额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直接ROI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50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6.4-6.10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2.3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11.49%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4.60%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1144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6.11-6.17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385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2.0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3.49%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14.29%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4.08%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742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1.9 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环比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-2.09%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12.64%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-13.08%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16.72%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24.29%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-11.22%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-35.12%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-33.74%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580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手抓球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39750" y="3435350"/>
            <a:ext cx="7991475" cy="6572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手抓球市场体量较小，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BC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日常日均销售额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5K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左右，英氏日常日均销售额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3K</a:t>
            </a: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左右，后面主要把魔法棒牙胶冲成爆款链接带动套餐手抓球销售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51460" y="1059180"/>
          <a:ext cx="8534400" cy="162877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133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商品信息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支付件数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支付转化率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客单价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UV价值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搜索占比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收藏率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加购率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32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5706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3236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339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1.91%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92.24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1.76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10.48%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0.62%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5.01%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2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bc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69175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13443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3351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188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2450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1155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1271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8.59%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59.91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5.15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24.93%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1.40%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18.23%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425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9.9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18.6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20.2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0.6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2.9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2.4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2.3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3.6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</a:tr>
              <a:tr h="2432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英氏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34982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8007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1600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935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492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546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71.03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4.37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19.98%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2.15%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11.68%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2432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倍数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4.7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8.6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7.9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8.7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3.2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1.9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3.5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2.3 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580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手抓球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竞品数据对比</a:t>
            </a:r>
            <a:endParaRPr lang="zh-CN" altLang="en-US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39750" y="4659630"/>
            <a:ext cx="7484110" cy="41338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</a:pPr>
            <a:r>
              <a:rPr 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竞品基本都是靠站内付费拉新为主，且投入较小不做主推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323850" y="699135"/>
          <a:ext cx="8265160" cy="3898900"/>
        </p:xfrm>
        <a:graphic>
          <a:graphicData uri="http://schemas.openxmlformats.org/drawingml/2006/table">
            <a:tbl>
              <a:tblPr/>
              <a:tblGrid>
                <a:gridCol w="1275715"/>
                <a:gridCol w="582295"/>
                <a:gridCol w="582295"/>
                <a:gridCol w="582930"/>
                <a:gridCol w="581660"/>
                <a:gridCol w="582930"/>
                <a:gridCol w="582930"/>
                <a:gridCol w="582295"/>
                <a:gridCol w="582295"/>
                <a:gridCol w="582295"/>
                <a:gridCol w="582930"/>
                <a:gridCol w="581660"/>
                <a:gridCol w="582930"/>
              </a:tblGrid>
              <a:tr h="19494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流量来源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贝易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bc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英氏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49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交易金额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访客人数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支付人数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转化率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效果广告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1739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5.08%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20015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5453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6.31%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12494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3476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4.57%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手淘搜索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752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338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1.78%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10425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3535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5.03%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11516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7.28%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购物车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2524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10.42%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26923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1982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20.22%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11276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676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22.32%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我的淘宝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1.83%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3835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1087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5.89%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3604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416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7.69%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淘内待分类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4.35%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1123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6.59%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286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2.11%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手淘旺信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2.78%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1448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9.30%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11.86%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手淘推荐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1102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708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2.53%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1230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1754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1.08%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日常营销活动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15.11%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6.12%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订阅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12.50%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一淘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50.00%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3091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49.99%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1178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48.71%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淘宝客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1891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0.11%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2522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188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24.99%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3829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25.95%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直通车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1119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292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3.77%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9213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3025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5.45%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9065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1566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7.53%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万相台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482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11.36%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9158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15.13%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2497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429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6.29%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引力魔方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236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14.29%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2427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1608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1635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1588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1.39%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首页推荐-微详情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558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569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1.76%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1664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0.84%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其他猜你喜欢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5.71%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441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6.38%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手猫搜索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9.67%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302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15.62%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品销宝- 品牌专区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2561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659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6.52%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95536" cy="50405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2.</a:t>
            </a:r>
            <a:endParaRPr lang="zh-CN" alt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51435"/>
            <a:ext cx="2072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手抓球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-</a:t>
            </a:r>
            <a:r>
              <a:rPr 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竞品流失</a:t>
            </a:r>
            <a:endParaRPr lang="zh-CN" sz="2000" b="1" dirty="0">
              <a:solidFill>
                <a:srgbClr val="FF0000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87450" y="4587875"/>
            <a:ext cx="5323840" cy="40894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上周流失金额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2771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，主要流失到英氏、世喜等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15695" y="554990"/>
            <a:ext cx="5702300" cy="36131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45" y="115870"/>
            <a:ext cx="9144000" cy="49937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1940" y="2214560"/>
            <a:ext cx="3719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60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2.xml><?xml version="1.0" encoding="utf-8"?>
<p:tagLst xmlns:p="http://schemas.openxmlformats.org/presentationml/2006/main">
  <p:tag name="KSO_WM_UNIT_TABLE_BEAUTIFY" val="smartTable{6368d62e-5e60-432d-bd68-07210775bc32}"/>
  <p:tag name="TABLE_ENDDRAG_ORIGIN_RECT" val="579*124"/>
  <p:tag name="TABLE_ENDDRAG_RECT" val="59*60*579*124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TABLE_BEAUTIFY" val="smartTable{37557421-7209-4f5d-82ed-4f32fa5e45a6}"/>
  <p:tag name="TABLE_ENDDRAG_ORIGIN_RECT" val="685*91"/>
  <p:tag name="TABLE_ENDDRAG_RECT" val="24*55*685*91"/>
</p:tagLst>
</file>

<file path=ppt/tags/tag5.xml><?xml version="1.0" encoding="utf-8"?>
<p:tagLst xmlns:p="http://schemas.openxmlformats.org/presentationml/2006/main">
  <p:tag name="KSO_WM_UNIT_TABLE_BEAUTIFY" val="smartTable{579ee658-60c2-4c7a-b38e-9a3064992e27}"/>
  <p:tag name="TABLE_ENDDRAG_ORIGIN_RECT" val="682*71"/>
  <p:tag name="TABLE_ENDDRAG_RECT" val="24*159*682*71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UNIT_TABLE_BEAUTIFY" val="smartTable{a4682ce3-e6db-4a66-bee6-c8937c5f40b8}"/>
  <p:tag name="TABLE_ENDDRAG_ORIGIN_RECT" val="691*107"/>
  <p:tag name="TABLE_ENDDRAG_RECT" val="19*60*691*107"/>
</p:tagLst>
</file>

<file path=ppt/tags/tag12.xml><?xml version="1.0" encoding="utf-8"?>
<p:tagLst xmlns:p="http://schemas.openxmlformats.org/presentationml/2006/main">
  <p:tag name="KSO_WM_UNIT_TABLE_BEAUTIFY" val="smartTable{f8496e60-079b-4c88-8662-76c9d9424bab}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UNIT_TABLE_BEAUTIFY" val="smartTable{5422c791-bf4f-4806-bf2b-c1668fc41d6c}"/>
  <p:tag name="TABLE_ENDDRAG_ORIGIN_RECT" val="622*307"/>
  <p:tag name="TABLE_ENDDRAG_RECT" val="33*49*622*307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TABLE_BEAUTIFY" val="smartTable{e4a276b2-7bd9-4fdb-81c4-3ed1d9f94f50}"/>
  <p:tag name="TABLE_ENDDRAG_ORIGIN_RECT" val="667*68"/>
  <p:tag name="TABLE_ENDDRAG_RECT" val="25*60*667*68"/>
</p:tagLst>
</file>

<file path=ppt/tags/tag17.xml><?xml version="1.0" encoding="utf-8"?>
<p:tagLst xmlns:p="http://schemas.openxmlformats.org/presentationml/2006/main">
  <p:tag name="KSO_WM_UNIT_TABLE_BEAUTIFY" val="smartTable{616fa58d-be09-46ad-95d3-19662cd536e6}"/>
  <p:tag name="TABLE_ENDDRAG_ORIGIN_RECT" val="667*62"/>
  <p:tag name="TABLE_ENDDRAG_RECT" val="25*150*667*62"/>
</p:tagLst>
</file>

<file path=ppt/tags/tag18.xml><?xml version="1.0" encoding="utf-8"?>
<p:tagLst xmlns:p="http://schemas.openxmlformats.org/presentationml/2006/main">
  <p:tag name="KSO_WM_UNIT_TABLE_BEAUTIFY" val="smartTable{6230734f-88df-4cd3-8b80-dbcbddc7d0a6}"/>
  <p:tag name="TABLE_ENDDRAG_ORIGIN_RECT" val="666*61"/>
  <p:tag name="TABLE_ENDDRAG_RECT" val="25*230*666*61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UNIT_TABLE_BEAUTIFY" val="smartTable{c4a191ff-7163-4fad-a0e1-03b032262b7c}"/>
  <p:tag name="TABLE_ENDDRAG_ORIGIN_RECT" val="272*94"/>
  <p:tag name="TABLE_ENDDRAG_RECT" val="19*60*272*94"/>
</p:tagLst>
</file>

<file path=ppt/tags/tag21.xml><?xml version="1.0" encoding="utf-8"?>
<p:tagLst xmlns:p="http://schemas.openxmlformats.org/presentationml/2006/main">
  <p:tag name="KSO_WM_UNIT_TABLE_BEAUTIFY" val="smartTable{9cf3ef57-69b8-4610-807a-84f330d62f9b}"/>
</p:tagLst>
</file>

<file path=ppt/tags/tag22.xml><?xml version="1.0" encoding="utf-8"?>
<p:tagLst xmlns:p="http://schemas.openxmlformats.org/presentationml/2006/main">
  <p:tag name="KSO_WM_UNIT_TABLE_BEAUTIFY" val="smartTable{88a8eef7-00b4-44b4-a8c4-fc30290489f1}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UNIT_TABLE_BEAUTIFY" val="smartTable{a2528db2-4782-4237-b3af-4a9b83046dfa}"/>
  <p:tag name="TABLE_ENDDRAG_ORIGIN_RECT" val="583*292"/>
  <p:tag name="TABLE_ENDDRAG_RECT" val="65*55*583*292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UNIT_TABLE_BEAUTIFY" val="smartTable{e8e02fc0-bd47-4831-861b-56a97f5e03cd}"/>
  <p:tag name="TABLE_ENDDRAG_ORIGIN_RECT" val="682*115"/>
  <p:tag name="TABLE_ENDDRAG_RECT" val="19*77*682*115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UNIT_TABLE_BEAUTIFY" val="smartTable{d5879b74-dfe0-41f8-9c9a-8f565aab08fa}"/>
  <p:tag name="TABLE_ENDDRAG_ORIGIN_RECT" val="687*156"/>
  <p:tag name="TABLE_ENDDRAG_RECT" val="14*66*687*156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UNIT_TABLE_BEAUTIFY" val="smartTable{11258403-d7b4-49fc-b4b2-190125e27694}"/>
  <p:tag name="TABLE_ENDDRAG_ORIGIN_RECT" val="627*320"/>
  <p:tag name="TABLE_ENDDRAG_RECT" val="53*46*627*320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UNIT_TABLE_BEAUTIFY" val="smartTable{a6a08f29-d145-4527-bde2-9940f3f892ff}"/>
  <p:tag name="TABLE_ENDDRAG_ORIGIN_RECT" val="681*87"/>
  <p:tag name="TABLE_ENDDRAG_RECT" val="19*66*681*87"/>
</p:tagLst>
</file>

<file path=ppt/tags/tag48.xml><?xml version="1.0" encoding="utf-8"?>
<p:tagLst xmlns:p="http://schemas.openxmlformats.org/presentationml/2006/main">
  <p:tag name="KSO_WM_UNIT_TABLE_BEAUTIFY" val="smartTable{9cdf61bc-c6bb-43aa-bfda-52acf59db3d7}"/>
  <p:tag name="TABLE_ENDDRAG_ORIGIN_RECT" val="681*49"/>
  <p:tag name="TABLE_ENDDRAG_RECT" val="19*179*681*49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UNIT_TABLE_BEAUTIFY" val="smartTable{0e321938-0d4e-4809-80b7-87c12466d08f}"/>
  <p:tag name="TABLE_ENDDRAG_ORIGIN_RECT" val="276*95"/>
  <p:tag name="TABLE_ENDDRAG_RECT" val="25*55*276*95"/>
</p:tagLst>
</file>

<file path=ppt/tags/tag51.xml><?xml version="1.0" encoding="utf-8"?>
<p:tagLst xmlns:p="http://schemas.openxmlformats.org/presentationml/2006/main">
  <p:tag name="KSO_WM_UNIT_TABLE_BEAUTIFY" val="smartTable{1dbf393d-04d9-491f-a4ad-648d9d3efd4a}"/>
  <p:tag name="TABLE_ENDDRAG_ORIGIN_RECT" val="307*204"/>
  <p:tag name="TABLE_ENDDRAG_RECT" val="8*174*307*204"/>
</p:tagLst>
</file>

<file path=ppt/tags/tag52.xml><?xml version="1.0" encoding="utf-8"?>
<p:tagLst xmlns:p="http://schemas.openxmlformats.org/presentationml/2006/main">
  <p:tag name="KSO_WM_UNIT_TABLE_BEAUTIFY" val="smartTable{c20691c2-fdd0-4d74-bf63-a12496768231}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UNIT_TABLE_BEAUTIFY" val="smartTable{fa468084-5173-496d-8389-ea0a547f02e7}"/>
  <p:tag name="TABLE_ENDDRAG_ORIGIN_RECT" val="624*302"/>
  <p:tag name="TABLE_ENDDRAG_RECT" val="42*49*624*302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UNIT_TABLE_BEAUTIFY" val="smartTable{7dde2ff1-f89d-4891-b433-aaf65035b472}"/>
  <p:tag name="TABLE_ENDDRAG_ORIGIN_RECT" val="676*102"/>
  <p:tag name="TABLE_ENDDRAG_RECT" val="25*83*676*102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UNIT_TABLE_BEAUTIFY" val="smartTable{d4f074dd-5772-45d5-9bc1-48d26ae07161}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UNIT_TABLE_BEAUTIFY" val="smartTable{6e91c686-8a48-49b7-951a-17a4e033749a}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UNIT_TABLE_BEAUTIFY" val="smartTable{1cc467a4-d45e-4c98-8cad-43e57e826b3c}"/>
  <p:tag name="TABLE_ENDDRAG_ORIGIN_RECT" val="693*78"/>
  <p:tag name="TABLE_ENDDRAG_RECT" val="14*72*693*78"/>
</p:tagLst>
</file>

<file path=ppt/tags/tag72.xml><?xml version="1.0" encoding="utf-8"?>
<p:tagLst xmlns:p="http://schemas.openxmlformats.org/presentationml/2006/main">
  <p:tag name="KSO_WM_UNIT_TABLE_BEAUTIFY" val="smartTable{9c34ebb5-2310-4eb2-b986-e87e78aa92af}"/>
  <p:tag name="TABLE_ENDDRAG_ORIGIN_RECT" val="681*78"/>
  <p:tag name="TABLE_ENDDRAG_RECT" val="19*174*681*78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UNIT_TABLE_BEAUTIFY" val="smartTable{6bfa8fad-5c59-4727-be8b-ff6b3dd785a0}"/>
  <p:tag name="TABLE_ENDDRAG_ORIGIN_RECT" val="671*128"/>
  <p:tag name="TABLE_ENDDRAG_RECT" val="19*83*671*128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UNIT_TABLE_BEAUTIFY" val="smartTable{457c93e8-7cd7-4b66-bdfd-f79d96a43ddf}"/>
  <p:tag name="TABLE_ENDDRAG_ORIGIN_RECT" val="650*306"/>
  <p:tag name="TABLE_ENDDRAG_RECT" val="25*55*650*306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PP_MARK_KEY" val="d62f24db-d1ea-48d7-bbf7-6075353e7c46"/>
  <p:tag name="COMMONDATA" val="eyJoZGlkIjoiMjhmMmIwZmM1ODgyMWU0YjhkNmU5OTU5MGZjNzQwYm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12598</Words>
  <Application>WPS 演示</Application>
  <PresentationFormat>全屏显示(16:9)</PresentationFormat>
  <Paragraphs>5180</Paragraphs>
  <Slides>32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汉仪颜楷简</vt:lpstr>
      <vt:lpstr>Arial Unicode MS</vt:lpstr>
      <vt:lpstr>华文中宋</vt:lpstr>
      <vt:lpstr>Gill Sans MT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andy Andy</dc:creator>
  <cp:lastModifiedBy>EDY</cp:lastModifiedBy>
  <cp:revision>2093</cp:revision>
  <dcterms:created xsi:type="dcterms:W3CDTF">1900-01-01T00:00:00Z</dcterms:created>
  <dcterms:modified xsi:type="dcterms:W3CDTF">2023-06-19T03:46:48Z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2052-11.1.0.14309</vt:lpwstr>
  </property>
  <property fmtid="{D5CDD505-2E9C-101B-9397-08002B2CF9AE}" pid="4" name="ICV">
    <vt:lpwstr>4CB593FCF23A4B8C9DD1DF6874980E59_12</vt:lpwstr>
  </property>
</Properties>
</file>