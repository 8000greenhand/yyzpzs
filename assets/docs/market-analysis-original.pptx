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328" r:id="rId4"/>
    <p:sldId id="290" r:id="rId5"/>
    <p:sldId id="329" r:id="rId6"/>
    <p:sldId id="334" r:id="rId7"/>
    <p:sldId id="332" r:id="rId8"/>
    <p:sldId id="338" r:id="rId9"/>
    <p:sldId id="14998054" r:id="rId10"/>
    <p:sldId id="14998057" r:id="rId11"/>
    <p:sldId id="337" r:id="rId12"/>
    <p:sldId id="335" r:id="rId13"/>
    <p:sldId id="331" r:id="rId14"/>
    <p:sldId id="14998056" r:id="rId15"/>
    <p:sldId id="326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08" userDrawn="1">
          <p15:clr>
            <a:srgbClr val="A4A3A4"/>
          </p15:clr>
        </p15:guide>
        <p15:guide id="5" orient="horz" pos="3947" userDrawn="1">
          <p15:clr>
            <a:srgbClr val="A4A3A4"/>
          </p15:clr>
        </p15:guide>
        <p15:guide id="6" orient="horz" pos="42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B8B"/>
    <a:srgbClr val="FFCC66"/>
    <a:srgbClr val="2B54DB"/>
    <a:srgbClr val="F2F5F8"/>
    <a:srgbClr val="929F69"/>
    <a:srgbClr val="FDFFFA"/>
    <a:srgbClr val="ECE2D9"/>
    <a:srgbClr val="E9E7DC"/>
    <a:srgbClr val="EAE8DC"/>
    <a:srgbClr val="E0D8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67" autoAdjust="0"/>
    <p:restoredTop sz="94280" autoAdjust="0"/>
  </p:normalViewPr>
  <p:slideViewPr>
    <p:cSldViewPr snapToGrid="0" showGuides="1">
      <p:cViewPr>
        <p:scale>
          <a:sx n="75" d="100"/>
          <a:sy n="75" d="100"/>
        </p:scale>
        <p:origin x="552" y="261"/>
      </p:cViewPr>
      <p:guideLst>
        <p:guide pos="415"/>
        <p:guide pos="7265"/>
        <p:guide orient="horz" pos="608"/>
        <p:guide orient="horz" pos="3947"/>
        <p:guide orient="horz" pos="42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Workbook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24.7</a:t>
            </a: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近半年儿童食养市场变化趋势</a:t>
            </a:r>
            <a:endParaRPr lang="zh-CN" altLang="zh-CN" sz="1200" b="1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layout>
        <c:manualLayout>
          <c:xMode val="edge"/>
          <c:yMode val="edge"/>
          <c:x val="0.33799583734195"/>
          <c:y val="0.0052550925925925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77317375563326"/>
          <c:y val="0.241292694858994"/>
          <c:w val="0.877716001559278"/>
          <c:h val="0.6375265870239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销售金额（指数）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[$-409]mmm\-yy;@</c:formatCode>
                <c:ptCount val="6"/>
                <c:pt idx="0" c:formatCode="[$-409]mmm\-yy;@">
                  <c:v>45351</c:v>
                </c:pt>
                <c:pt idx="1" c:formatCode="[$-409]mmm\-yy;@">
                  <c:v>45382</c:v>
                </c:pt>
                <c:pt idx="2" c:formatCode="[$-409]mmm\-yy;@">
                  <c:v>45412</c:v>
                </c:pt>
                <c:pt idx="3" c:formatCode="[$-409]mmm\-yy;@">
                  <c:v>45443</c:v>
                </c:pt>
                <c:pt idx="4" c:formatCode="[$-409]mmm\-yy;@">
                  <c:v>45473</c:v>
                </c:pt>
                <c:pt idx="5" c:formatCode="[$-409]mmm\-yy;@">
                  <c:v>45504</c:v>
                </c:pt>
              </c:numCache>
            </c:numRef>
          </c:cat>
          <c:val>
            <c:numRef>
              <c:f>Sheet1!$B$2:$B$7</c:f>
              <c:numCache>
                <c:formatCode>#,##0</c:formatCode>
                <c:ptCount val="6"/>
                <c:pt idx="0">
                  <c:v>48243546</c:v>
                </c:pt>
                <c:pt idx="1">
                  <c:v>68314376</c:v>
                </c:pt>
                <c:pt idx="2">
                  <c:v>69048918</c:v>
                </c:pt>
                <c:pt idx="3">
                  <c:v>76239670</c:v>
                </c:pt>
                <c:pt idx="4">
                  <c:v>81845043</c:v>
                </c:pt>
                <c:pt idx="5">
                  <c:v>85488872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43016000"/>
        <c:axId val="975050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购买人数（指数）</c:v>
                </c:pt>
              </c:strCache>
            </c:strRef>
          </c:tx>
          <c:spPr>
            <a:ln w="2222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[$-409]mmm\-yy;@</c:formatCode>
                <c:ptCount val="6"/>
                <c:pt idx="0" c:formatCode="[$-409]mmm\-yy;@">
                  <c:v>45351</c:v>
                </c:pt>
                <c:pt idx="1" c:formatCode="[$-409]mmm\-yy;@">
                  <c:v>45382</c:v>
                </c:pt>
                <c:pt idx="2" c:formatCode="[$-409]mmm\-yy;@">
                  <c:v>45412</c:v>
                </c:pt>
                <c:pt idx="3" c:formatCode="[$-409]mmm\-yy;@">
                  <c:v>45443</c:v>
                </c:pt>
                <c:pt idx="4" c:formatCode="[$-409]mmm\-yy;@">
                  <c:v>45473</c:v>
                </c:pt>
                <c:pt idx="5" c:formatCode="[$-409]mmm\-yy;@">
                  <c:v>45504</c:v>
                </c:pt>
              </c:numCache>
            </c:numRef>
          </c:cat>
          <c:val>
            <c:numRef>
              <c:f>Sheet1!$C$2:$C$7</c:f>
              <c:numCache>
                <c:formatCode>#,##0</c:formatCode>
                <c:ptCount val="6"/>
                <c:pt idx="0">
                  <c:v>242726</c:v>
                </c:pt>
                <c:pt idx="1">
                  <c:v>368782</c:v>
                </c:pt>
                <c:pt idx="2">
                  <c:v>403258</c:v>
                </c:pt>
                <c:pt idx="3">
                  <c:v>467105</c:v>
                </c:pt>
                <c:pt idx="4">
                  <c:v>498704</c:v>
                </c:pt>
                <c:pt idx="5">
                  <c:v>551023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143011680"/>
        <c:axId val="1146700880"/>
      </c:lineChart>
      <c:dateAx>
        <c:axId val="1143016000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5050480"/>
        <c:crosses val="autoZero"/>
        <c:auto val="1"/>
        <c:lblOffset val="100"/>
        <c:baseTimeUnit val="months"/>
      </c:dateAx>
      <c:valAx>
        <c:axId val="97505048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6000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0.0464649908875373"/>
                <c:y val="0.107298723352093"/>
              </c:manualLayout>
            </c:layout>
            <c:tx>
              <c:rich>
                <a:bodyPr rot="0" spcFirstLastPara="1" vertOverflow="ellipsis" vert="horz" wrap="square" anchor="ctr" anchorCtr="1">
                  <a:spAutoFit/>
                </a:bodyPr>
                <a:lstStyle/>
                <a:p>
                  <a:pPr>
                    <a:defRPr lang="zh-CN" sz="8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zh-CN" altLang="en-US" sz="800" dirty="0"/>
                    <a:t>百万元</a:t>
                  </a:r>
                  <a:endParaRPr lang="zh-CN" altLang="en-US" sz="800" dirty="0"/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dateAx>
        <c:axId val="1143011680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6700880"/>
        <c:crosses val="autoZero"/>
        <c:auto val="1"/>
        <c:lblOffset val="100"/>
        <c:baseTimeUnit val="months"/>
      </c:dateAx>
      <c:valAx>
        <c:axId val="1146700880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1680"/>
        <c:crosses val="max"/>
        <c:crossBetween val="between"/>
        <c:dispUnits>
          <c:builtInUnit val="tenThousands"/>
          <c:dispUnitsLbl>
            <c:layout>
              <c:manualLayout>
                <c:xMode val="edge"/>
                <c:yMode val="edge"/>
                <c:x val="0.939254237708812"/>
                <c:y val="0.0916837589597234"/>
              </c:manualLayout>
            </c:layout>
            <c:tx>
              <c:rich>
                <a:bodyPr rot="0" spcFirstLastPara="1" vertOverflow="ellipsis" vert="horz" wrap="square" anchor="ctr" anchorCtr="1">
                  <a:spAutoFit/>
                </a:bodyPr>
                <a:lstStyle/>
                <a:p>
                  <a:pPr>
                    <a:defRPr lang="zh-CN" sz="8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zh-CN" altLang="en-US" sz="800" dirty="0"/>
                    <a:t>万人</a:t>
                  </a:r>
                  <a:endParaRPr lang="en-US" altLang="zh-CN" sz="800" dirty="0"/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73639595600489"/>
          <c:y val="0.148200849732683"/>
          <c:w val="0.468316759130782"/>
          <c:h val="0.1081972107774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b695c53-6d94-43b7-9ed7-bb094b7ab552}"/>
      </c:ext>
    </c:extLst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lang="zh-CN" sz="105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24.7</a:t>
            </a: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近半年儿童食养市场变化趋势</a:t>
            </a:r>
            <a:endParaRPr lang="zh-CN" altLang="zh-CN" sz="1200" b="1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layout>
        <c:manualLayout>
          <c:xMode val="edge"/>
          <c:yMode val="edge"/>
          <c:x val="0.33799583734195"/>
          <c:y val="0.0052550925925925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77317375563326"/>
          <c:y val="0.241292694858994"/>
          <c:w val="0.877716001559278"/>
          <c:h val="0.63752658702395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商品数（指数）</c:v>
                </c:pt>
              </c:strCache>
            </c:strRef>
          </c:tx>
          <c:spPr>
            <a:solidFill>
              <a:schemeClr val="accent2"/>
            </a:solidFill>
            <a:ln w="2222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[$-409]mmm\-yy;@</c:formatCode>
                <c:ptCount val="6"/>
                <c:pt idx="0" c:formatCode="[$-409]mmm\-yy;@">
                  <c:v>45351</c:v>
                </c:pt>
                <c:pt idx="1" c:formatCode="[$-409]mmm\-yy;@">
                  <c:v>45382</c:v>
                </c:pt>
                <c:pt idx="2" c:formatCode="[$-409]mmm\-yy;@">
                  <c:v>45412</c:v>
                </c:pt>
                <c:pt idx="3" c:formatCode="[$-409]mmm\-yy;@">
                  <c:v>45443</c:v>
                </c:pt>
                <c:pt idx="4" c:formatCode="[$-409]mmm\-yy;@">
                  <c:v>45473</c:v>
                </c:pt>
                <c:pt idx="5" c:formatCode="[$-409]mmm\-yy;@">
                  <c:v>45504</c:v>
                </c:pt>
              </c:numCache>
            </c:numRef>
          </c:cat>
          <c:val>
            <c:numRef>
              <c:f>Sheet1!$C$2:$C$7</c:f>
              <c:numCache>
                <c:formatCode>#,##0</c:formatCode>
                <c:ptCount val="6"/>
                <c:pt idx="0">
                  <c:v>7728</c:v>
                </c:pt>
                <c:pt idx="1">
                  <c:v>9390</c:v>
                </c:pt>
                <c:pt idx="2">
                  <c:v>9457</c:v>
                </c:pt>
                <c:pt idx="3">
                  <c:v>9923</c:v>
                </c:pt>
                <c:pt idx="4">
                  <c:v>9940</c:v>
                </c:pt>
                <c:pt idx="5">
                  <c:v>10183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43011680"/>
        <c:axId val="1146700880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商品平均价格（指数）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29F69"/>
              </a:solidFill>
              <a:ln w="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[$-409]mmm\-yy;@</c:formatCode>
                <c:ptCount val="6"/>
                <c:pt idx="0" c:formatCode="[$-409]mmm\-yy;@">
                  <c:v>45351</c:v>
                </c:pt>
                <c:pt idx="1" c:formatCode="[$-409]mmm\-yy;@">
                  <c:v>45382</c:v>
                </c:pt>
                <c:pt idx="2" c:formatCode="[$-409]mmm\-yy;@">
                  <c:v>45412</c:v>
                </c:pt>
                <c:pt idx="3" c:formatCode="[$-409]mmm\-yy;@">
                  <c:v>45443</c:v>
                </c:pt>
                <c:pt idx="4" c:formatCode="[$-409]mmm\-yy;@">
                  <c:v>45473</c:v>
                </c:pt>
                <c:pt idx="5" c:formatCode="[$-409]mmm\-yy;@">
                  <c:v>45504</c:v>
                </c:pt>
              </c:numCache>
            </c:numRef>
          </c:cat>
          <c:val>
            <c:numRef>
              <c:f>Sheet1!$B$2:$B$7</c:f>
              <c:numCache>
                <c:formatCode>#,##0</c:formatCode>
                <c:ptCount val="6"/>
                <c:pt idx="0">
                  <c:v>98.9936102105306</c:v>
                </c:pt>
                <c:pt idx="1">
                  <c:v>88.1105186721456</c:v>
                </c:pt>
                <c:pt idx="2">
                  <c:v>86.4378870518898</c:v>
                </c:pt>
                <c:pt idx="3">
                  <c:v>76.1546813755848</c:v>
                </c:pt>
                <c:pt idx="4">
                  <c:v>73.4308250499961</c:v>
                </c:pt>
                <c:pt idx="5">
                  <c:v>72.1504841463486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3016000"/>
        <c:axId val="975050480"/>
      </c:lineChart>
      <c:dateAx>
        <c:axId val="1143016000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5050480"/>
        <c:crosses val="autoZero"/>
        <c:auto val="1"/>
        <c:lblOffset val="100"/>
        <c:baseTimeUnit val="months"/>
      </c:dateAx>
      <c:valAx>
        <c:axId val="97505048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6000"/>
        <c:crosses val="autoZero"/>
        <c:crossBetween val="between"/>
      </c:valAx>
      <c:dateAx>
        <c:axId val="1143011680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6700880"/>
        <c:crosses val="autoZero"/>
        <c:auto val="1"/>
        <c:lblOffset val="100"/>
        <c:baseTimeUnit val="months"/>
      </c:dateAx>
      <c:valAx>
        <c:axId val="1146700880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1680"/>
        <c:crosses val="max"/>
        <c:crossBetween val="between"/>
        <c:dispUnits>
          <c:builtInUnit val="hundreds"/>
          <c:dispUnitsLbl>
            <c:layout>
              <c:manualLayout>
                <c:xMode val="edge"/>
                <c:yMode val="edge"/>
                <c:x val="0.961769466513177"/>
                <c:y val="0.107453301942913"/>
              </c:manualLayout>
            </c:layout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73639595600489"/>
          <c:y val="0.148200849732683"/>
          <c:w val="0.546744806132652"/>
          <c:h val="0.1008055212047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d1242d-f7da-4059-82a3-18f573738785}"/>
      </c:ext>
    </c:extLst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lang="zh-CN" sz="105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月</a:t>
            </a: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儿童食养脾胃人群渗透情况</a:t>
            </a:r>
            <a:endParaRPr lang="zh-CN" altLang="zh-CN" sz="1200" b="1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layout>
        <c:manualLayout>
          <c:xMode val="edge"/>
          <c:yMode val="edge"/>
          <c:x val="0.33799583734195"/>
          <c:y val="0.0052550925925925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77317375563326"/>
          <c:y val="0.224505100566103"/>
          <c:w val="0.905860046283273"/>
          <c:h val="0.5719754383243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买家数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小羊森林</c:v>
                </c:pt>
                <c:pt idx="1">
                  <c:v>金豆芽</c:v>
                </c:pt>
                <c:pt idx="2">
                  <c:v>小鹿蓝蓝</c:v>
                </c:pt>
                <c:pt idx="3">
                  <c:v>七小七</c:v>
                </c:pt>
                <c:pt idx="4">
                  <c:v>不二宝贝</c:v>
                </c:pt>
                <c:pt idx="5">
                  <c:v>光合星球</c:v>
                </c:pt>
                <c:pt idx="6">
                  <c:v>秋田满满</c:v>
                </c:pt>
                <c:pt idx="7">
                  <c:v>宝宝馋了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>
                  <c:v>13169.546</c:v>
                </c:pt>
                <c:pt idx="1">
                  <c:v>109082.0864</c:v>
                </c:pt>
                <c:pt idx="2">
                  <c:v>143593.9981</c:v>
                </c:pt>
                <c:pt idx="3">
                  <c:v>38277.0036</c:v>
                </c:pt>
                <c:pt idx="4">
                  <c:v>82833.7344</c:v>
                </c:pt>
                <c:pt idx="5">
                  <c:v>4274.134</c:v>
                </c:pt>
                <c:pt idx="6">
                  <c:v>101752.209</c:v>
                </c:pt>
                <c:pt idx="7">
                  <c:v>39693.0482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43016000"/>
        <c:axId val="975050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渗透率</c:v>
                </c:pt>
              </c:strCache>
            </c:strRef>
          </c:tx>
          <c:spPr>
            <a:ln w="2222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小羊森林</c:v>
                </c:pt>
                <c:pt idx="1">
                  <c:v>金豆芽</c:v>
                </c:pt>
                <c:pt idx="2">
                  <c:v>小鹿蓝蓝</c:v>
                </c:pt>
                <c:pt idx="3">
                  <c:v>七小七</c:v>
                </c:pt>
                <c:pt idx="4">
                  <c:v>不二宝贝</c:v>
                </c:pt>
                <c:pt idx="5">
                  <c:v>光合星球</c:v>
                </c:pt>
                <c:pt idx="6">
                  <c:v>秋田满满</c:v>
                </c:pt>
                <c:pt idx="7">
                  <c:v>宝宝馋了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0.3445</c:v>
                </c:pt>
                <c:pt idx="1">
                  <c:v>0.1792</c:v>
                </c:pt>
                <c:pt idx="2">
                  <c:v>0.2569</c:v>
                </c:pt>
                <c:pt idx="3">
                  <c:v>0.2321</c:v>
                </c:pt>
                <c:pt idx="4">
                  <c:v>0.3776</c:v>
                </c:pt>
                <c:pt idx="5">
                  <c:v>0.181</c:v>
                </c:pt>
                <c:pt idx="6">
                  <c:v>0.3965</c:v>
                </c:pt>
                <c:pt idx="7">
                  <c:v>0.3497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143011680"/>
        <c:axId val="1146700880"/>
      </c:lineChart>
      <c:catAx>
        <c:axId val="1143016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5050480"/>
        <c:crosses val="autoZero"/>
        <c:auto val="1"/>
        <c:lblAlgn val="ctr"/>
        <c:lblOffset val="100"/>
        <c:noMultiLvlLbl val="0"/>
      </c:catAx>
      <c:valAx>
        <c:axId val="975050480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6000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0.0464649908875373"/>
                <c:y val="0.107298723352093"/>
              </c:manualLayout>
            </c:layout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catAx>
        <c:axId val="11430116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6700880"/>
        <c:crosses val="autoZero"/>
        <c:auto val="1"/>
        <c:lblAlgn val="ctr"/>
        <c:lblOffset val="100"/>
        <c:noMultiLvlLbl val="0"/>
      </c:catAx>
      <c:valAx>
        <c:axId val="1146700880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1680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62769425589979"/>
          <c:y val="0.0983999460426859"/>
          <c:w val="0.468316759130782"/>
          <c:h val="0.1081972107774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449aecb-5fcc-4c15-8154-bd409268649d}"/>
      </c:ext>
    </c:extLst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lang="zh-CN" sz="105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月</a:t>
            </a: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儿童食养脾胃人群转化率情况</a:t>
            </a:r>
            <a:endParaRPr lang="zh-CN" altLang="zh-CN" sz="1200" b="1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layout>
        <c:manualLayout>
          <c:xMode val="edge"/>
          <c:yMode val="edge"/>
          <c:x val="0.221768309996316"/>
          <c:y val="0.030909904441196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77317375563326"/>
          <c:y val="0.241292694858994"/>
          <c:w val="0.877716001559278"/>
          <c:h val="0.7144908462793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点击转化率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5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5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5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小羊森林</c:v>
                </c:pt>
                <c:pt idx="1">
                  <c:v>金豆芽</c:v>
                </c:pt>
                <c:pt idx="2">
                  <c:v>小鹿蓝蓝</c:v>
                </c:pt>
                <c:pt idx="3">
                  <c:v>七小七</c:v>
                </c:pt>
                <c:pt idx="4">
                  <c:v>不二宝贝</c:v>
                </c:pt>
                <c:pt idx="5">
                  <c:v>光合星球</c:v>
                </c:pt>
                <c:pt idx="6">
                  <c:v>秋田满满</c:v>
                </c:pt>
                <c:pt idx="7">
                  <c:v>宝宝馋了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0.132757534882388</c:v>
                </c:pt>
                <c:pt idx="1">
                  <c:v>0.194949462560535</c:v>
                </c:pt>
                <c:pt idx="2">
                  <c:v>0.300243771688045</c:v>
                </c:pt>
                <c:pt idx="3">
                  <c:v>0.224894263219742</c:v>
                </c:pt>
                <c:pt idx="4">
                  <c:v>0.252916122101199</c:v>
                </c:pt>
                <c:pt idx="5">
                  <c:v>0.108808625771914</c:v>
                </c:pt>
                <c:pt idx="6">
                  <c:v>0.257729993740831</c:v>
                </c:pt>
                <c:pt idx="7">
                  <c:v>0.184001001059167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曝光点击率</c:v>
                </c:pt>
              </c:strCache>
            </c:strRef>
          </c:tx>
          <c:spPr>
            <a:ln w="2222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小羊森林</c:v>
                </c:pt>
                <c:pt idx="1">
                  <c:v>金豆芽</c:v>
                </c:pt>
                <c:pt idx="2">
                  <c:v>小鹿蓝蓝</c:v>
                </c:pt>
                <c:pt idx="3">
                  <c:v>七小七</c:v>
                </c:pt>
                <c:pt idx="4">
                  <c:v>不二宝贝</c:v>
                </c:pt>
                <c:pt idx="5">
                  <c:v>光合星球</c:v>
                </c:pt>
                <c:pt idx="6">
                  <c:v>秋田满满</c:v>
                </c:pt>
                <c:pt idx="7">
                  <c:v>宝宝馋了</c:v>
                </c:pt>
              </c:strCache>
            </c:strRef>
          </c:cat>
          <c:val>
            <c:numRef>
              <c:f>Sheet1!$C$2:$C$9</c:f>
              <c:numCache>
                <c:formatCode>0.0%</c:formatCode>
                <c:ptCount val="8"/>
                <c:pt idx="0">
                  <c:v>0.0968653818957212</c:v>
                </c:pt>
                <c:pt idx="1" c:formatCode="0%">
                  <c:v>0.114984971514773</c:v>
                </c:pt>
                <c:pt idx="2" c:formatCode="0%">
                  <c:v>0.110886066374851</c:v>
                </c:pt>
                <c:pt idx="3">
                  <c:v>0.0651200984346348</c:v>
                </c:pt>
                <c:pt idx="4" c:formatCode="0%">
                  <c:v>0.122211561671368</c:v>
                </c:pt>
                <c:pt idx="5">
                  <c:v>0.0635216853981549</c:v>
                </c:pt>
                <c:pt idx="6" c:formatCode="0%">
                  <c:v>0.136687181359528</c:v>
                </c:pt>
                <c:pt idx="7" c:formatCode="0%">
                  <c:v>0.147456077512739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143016000"/>
        <c:axId val="975050480"/>
      </c:lineChart>
      <c:catAx>
        <c:axId val="1143016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5050480"/>
        <c:crosses val="autoZero"/>
        <c:auto val="1"/>
        <c:lblAlgn val="ctr"/>
        <c:lblOffset val="100"/>
        <c:noMultiLvlLbl val="0"/>
      </c:catAx>
      <c:valAx>
        <c:axId val="975050480"/>
        <c:scaling>
          <c:orientation val="minMax"/>
          <c:min val="0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6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73639595600489"/>
          <c:y val="0.148200849732683"/>
          <c:w val="0.468316759130782"/>
          <c:h val="0.1081972107774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f872ea7-24bf-4f48-a793-c19d9ca83e88}"/>
      </c:ext>
    </c:extLst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lang="zh-CN" sz="105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月</a:t>
            </a: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儿童食养脾胃人群触达情况</a:t>
            </a:r>
            <a:endParaRPr lang="zh-CN" altLang="zh-CN" sz="1200" b="1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layout>
        <c:manualLayout>
          <c:xMode val="edge"/>
          <c:yMode val="edge"/>
          <c:x val="0.33799583734195"/>
          <c:y val="0.0052550925925925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77317375563326"/>
          <c:y val="0.241292694858994"/>
          <c:w val="0.905860046283273"/>
          <c:h val="0.6375265870239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曝光数</c:v>
                </c:pt>
              </c:strCache>
            </c:strRef>
          </c:tx>
          <c:spPr>
            <a:solidFill>
              <a:srgbClr val="C5DB8B"/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小羊森林</c:v>
                </c:pt>
                <c:pt idx="1">
                  <c:v>金豆芽</c:v>
                </c:pt>
                <c:pt idx="2">
                  <c:v>小鹿蓝蓝</c:v>
                </c:pt>
                <c:pt idx="3">
                  <c:v>七小七</c:v>
                </c:pt>
                <c:pt idx="4">
                  <c:v>不二宝贝</c:v>
                </c:pt>
                <c:pt idx="5">
                  <c:v>光合星球</c:v>
                </c:pt>
                <c:pt idx="6">
                  <c:v>秋田满满</c:v>
                </c:pt>
                <c:pt idx="7">
                  <c:v>宝宝馋了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>
                  <c:v>1024101.563</c:v>
                </c:pt>
                <c:pt idx="1">
                  <c:v>4866204.005</c:v>
                </c:pt>
                <c:pt idx="2">
                  <c:v>4313058.049</c:v>
                </c:pt>
                <c:pt idx="3">
                  <c:v>2613632.4129</c:v>
                </c:pt>
                <c:pt idx="4">
                  <c:v>2679899.04</c:v>
                </c:pt>
                <c:pt idx="5">
                  <c:v>618390.4812</c:v>
                </c:pt>
                <c:pt idx="6">
                  <c:v>2888358.4918</c:v>
                </c:pt>
                <c:pt idx="7">
                  <c:v>1462957.0923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43016000"/>
        <c:axId val="975050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总曝光占比</c:v>
                </c:pt>
              </c:strCache>
            </c:strRef>
          </c:tx>
          <c:spPr>
            <a:ln w="2222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小羊森林</c:v>
                </c:pt>
                <c:pt idx="1">
                  <c:v>金豆芽</c:v>
                </c:pt>
                <c:pt idx="2">
                  <c:v>小鹿蓝蓝</c:v>
                </c:pt>
                <c:pt idx="3">
                  <c:v>七小七</c:v>
                </c:pt>
                <c:pt idx="4">
                  <c:v>不二宝贝</c:v>
                </c:pt>
                <c:pt idx="5">
                  <c:v>光合星球</c:v>
                </c:pt>
                <c:pt idx="6">
                  <c:v>秋田满满</c:v>
                </c:pt>
                <c:pt idx="7">
                  <c:v>宝宝馋了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0.2342</c:v>
                </c:pt>
                <c:pt idx="1">
                  <c:v>0.0905</c:v>
                </c:pt>
                <c:pt idx="2">
                  <c:v>0.127</c:v>
                </c:pt>
                <c:pt idx="3">
                  <c:v>0.1437</c:v>
                </c:pt>
                <c:pt idx="4">
                  <c:v>0.189</c:v>
                </c:pt>
                <c:pt idx="5">
                  <c:v>0.1398</c:v>
                </c:pt>
                <c:pt idx="6">
                  <c:v>0.1982</c:v>
                </c:pt>
                <c:pt idx="7">
                  <c:v>0.2507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143011680"/>
        <c:axId val="1146700880"/>
      </c:lineChart>
      <c:catAx>
        <c:axId val="1143016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5050480"/>
        <c:crosses val="autoZero"/>
        <c:auto val="1"/>
        <c:lblAlgn val="ctr"/>
        <c:lblOffset val="100"/>
        <c:noMultiLvlLbl val="0"/>
      </c:catAx>
      <c:valAx>
        <c:axId val="975050480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6000"/>
        <c:crosses val="autoZero"/>
        <c:crossBetween val="between"/>
        <c:dispUnits>
          <c:builtInUnit val="tenThousands"/>
          <c:dispUnitsLbl>
            <c:layout>
              <c:manualLayout>
                <c:xMode val="edge"/>
                <c:yMode val="edge"/>
                <c:x val="0.0464649908875373"/>
                <c:y val="0.107298723352093"/>
              </c:manualLayout>
            </c:layout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catAx>
        <c:axId val="11430116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6700880"/>
        <c:crosses val="autoZero"/>
        <c:auto val="1"/>
        <c:lblAlgn val="ctr"/>
        <c:lblOffset val="100"/>
        <c:noMultiLvlLbl val="0"/>
      </c:catAx>
      <c:valAx>
        <c:axId val="1146700880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1680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73639595600489"/>
          <c:y val="0.148200849732683"/>
          <c:w val="0.468316759130782"/>
          <c:h val="0.1081972107774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039c8fa-a610-4bb7-8258-29647465c8a9}"/>
      </c:ext>
    </c:extLst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lang="zh-CN" sz="105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曝光已购人群竞品去向</a:t>
            </a:r>
            <a:endParaRPr lang="zh-CN" altLang="zh-CN" sz="1200" b="1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layout>
        <c:manualLayout>
          <c:xMode val="edge"/>
          <c:yMode val="edge"/>
          <c:x val="0.319702888581186"/>
          <c:y val="0.0033050985960357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77317375563326"/>
          <c:y val="0.152055094692376"/>
          <c:w val="0.847218630439826"/>
          <c:h val="0.7267643761379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仅购竞品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金豆芽</c:v>
                </c:pt>
                <c:pt idx="1">
                  <c:v>小鹿蓝蓝</c:v>
                </c:pt>
                <c:pt idx="2">
                  <c:v>不二宝贝</c:v>
                </c:pt>
                <c:pt idx="3">
                  <c:v>秋田满满</c:v>
                </c:pt>
                <c:pt idx="4">
                  <c:v>七小七</c:v>
                </c:pt>
                <c:pt idx="5">
                  <c:v>宝宝馋了</c:v>
                </c:pt>
                <c:pt idx="6">
                  <c:v>光合星球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124094.2606</c:v>
                </c:pt>
                <c:pt idx="1">
                  <c:v>85810.6278</c:v>
                </c:pt>
                <c:pt idx="2">
                  <c:v>50681.7641</c:v>
                </c:pt>
                <c:pt idx="3">
                  <c:v>45328.2759</c:v>
                </c:pt>
                <c:pt idx="4">
                  <c:v>44626.358</c:v>
                </c:pt>
                <c:pt idx="5">
                  <c:v>37704.9127</c:v>
                </c:pt>
                <c:pt idx="6">
                  <c:v>6238.0323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均购买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 w="2222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金豆芽</c:v>
                </c:pt>
                <c:pt idx="1">
                  <c:v>小鹿蓝蓝</c:v>
                </c:pt>
                <c:pt idx="2">
                  <c:v>不二宝贝</c:v>
                </c:pt>
                <c:pt idx="3">
                  <c:v>秋田满满</c:v>
                </c:pt>
                <c:pt idx="4">
                  <c:v>七小七</c:v>
                </c:pt>
                <c:pt idx="5">
                  <c:v>宝宝馋了</c:v>
                </c:pt>
                <c:pt idx="6">
                  <c:v>光合星球</c:v>
                </c:pt>
              </c:strCache>
            </c:strRef>
          </c:cat>
          <c:val>
            <c:numRef>
              <c:f>Sheet1!$C$2:$C$8</c:f>
              <c:numCache>
                <c:formatCode>_ * #,##0_ ;_ * \-#,##0_ ;_ * "-"??_ ;_ @_ </c:formatCode>
                <c:ptCount val="7"/>
                <c:pt idx="0">
                  <c:v>4465.0304</c:v>
                </c:pt>
                <c:pt idx="1">
                  <c:v>2519.2252</c:v>
                </c:pt>
                <c:pt idx="2">
                  <c:v>2228.6924</c:v>
                </c:pt>
                <c:pt idx="3">
                  <c:v>1460.3096</c:v>
                </c:pt>
                <c:pt idx="4">
                  <c:v>2599.504</c:v>
                </c:pt>
                <c:pt idx="5">
                  <c:v>2087.2488</c:v>
                </c:pt>
                <c:pt idx="6">
                  <c:v>321.1152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43016000"/>
        <c:axId val="97505048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竞品转化率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4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5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5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金豆芽</c:v>
                </c:pt>
                <c:pt idx="1">
                  <c:v>小鹿蓝蓝</c:v>
                </c:pt>
                <c:pt idx="2">
                  <c:v>不二宝贝</c:v>
                </c:pt>
                <c:pt idx="3">
                  <c:v>秋田满满</c:v>
                </c:pt>
                <c:pt idx="4">
                  <c:v>七小七</c:v>
                </c:pt>
                <c:pt idx="5">
                  <c:v>宝宝馋了</c:v>
                </c:pt>
                <c:pt idx="6">
                  <c:v>光合星球</c:v>
                </c:pt>
              </c:strCache>
            </c:strRef>
          </c:cat>
          <c:val>
            <c:numRef>
              <c:f>Sheet1!$D$2:$D$8</c:f>
              <c:numCache>
                <c:formatCode>0.0%</c:formatCode>
                <c:ptCount val="7"/>
                <c:pt idx="0">
                  <c:v>0.0347312929720498</c:v>
                </c:pt>
                <c:pt idx="1">
                  <c:v>0.0285206542798164</c:v>
                </c:pt>
                <c:pt idx="2">
                  <c:v>0.0421219650599688</c:v>
                </c:pt>
                <c:pt idx="3">
                  <c:v>0.0312108088841455</c:v>
                </c:pt>
                <c:pt idx="4">
                  <c:v>0.0550440773320347</c:v>
                </c:pt>
                <c:pt idx="5">
                  <c:v>0.0524537678105272</c:v>
                </c:pt>
                <c:pt idx="6">
                  <c:v>0.0489568499564921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143011680"/>
        <c:axId val="1146700880"/>
      </c:lineChart>
      <c:catAx>
        <c:axId val="1143016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</a:p>
        </c:txPr>
        <c:crossAx val="975050480"/>
        <c:crosses val="autoZero"/>
        <c:auto val="1"/>
        <c:lblAlgn val="ctr"/>
        <c:lblOffset val="100"/>
        <c:noMultiLvlLbl val="0"/>
      </c:catAx>
      <c:valAx>
        <c:axId val="975050480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6000"/>
        <c:crosses val="autoZero"/>
        <c:crossBetween val="between"/>
      </c:valAx>
      <c:catAx>
        <c:axId val="11430116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6700880"/>
        <c:crosses val="autoZero"/>
        <c:auto val="1"/>
        <c:lblAlgn val="ctr"/>
        <c:lblOffset val="100"/>
        <c:noMultiLvlLbl val="0"/>
      </c:catAx>
      <c:valAx>
        <c:axId val="1146700880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1680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87715217548718"/>
          <c:y val="0.0787938107734763"/>
          <c:w val="0.540506192561242"/>
          <c:h val="0.056395652051711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dc0610b-ce96-4aeb-8a7d-8c488f5d3cb6}"/>
      </c:ext>
    </c:extLst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lang="zh-CN" sz="1050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r>
              <a:rPr lang="zh-CN" altLang="en-US" sz="1400" b="1" dirty="0"/>
              <a:t>性别</a:t>
            </a:r>
            <a:endParaRPr lang="zh-CN" sz="1400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59532103675935"/>
          <c:y val="0.196500508409303"/>
          <c:w val="0.953859468741497"/>
          <c:h val="0.6588125044071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A1-A2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男</c:v>
                </c:pt>
                <c:pt idx="1">
                  <c:v>女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0.1536</c:v>
                </c:pt>
                <c:pt idx="1">
                  <c:v>0.8392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男</c:v>
                </c:pt>
                <c:pt idx="1">
                  <c:v>女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0">
                  <c:v>0.107</c:v>
                </c:pt>
                <c:pt idx="1">
                  <c:v>0.8864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A4-A5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男</c:v>
                </c:pt>
                <c:pt idx="1">
                  <c:v>女</c:v>
                </c:pt>
              </c:strCache>
            </c:strRef>
          </c:cat>
          <c:val>
            <c:numRef>
              <c:f>Sheet1!$D$2:$D$3</c:f>
              <c:numCache>
                <c:formatCode>0.0%</c:formatCode>
                <c:ptCount val="2"/>
                <c:pt idx="0">
                  <c:v>0.1166</c:v>
                </c:pt>
                <c:pt idx="1">
                  <c:v>0.873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27562608"/>
        <c:axId val="774755856"/>
      </c:barChart>
      <c:catAx>
        <c:axId val="627562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</a:p>
        </c:txPr>
        <c:crossAx val="774755856"/>
        <c:crosses val="autoZero"/>
        <c:auto val="1"/>
        <c:lblAlgn val="ctr"/>
        <c:lblOffset val="100"/>
        <c:noMultiLvlLbl val="0"/>
      </c:catAx>
      <c:valAx>
        <c:axId val="774755856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</a:p>
        </c:txPr>
        <c:crossAx val="62756260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0631909801482189"/>
          <c:y val="0.164374130832886"/>
          <c:w val="0.899999684953483"/>
          <c:h val="0.1079651068911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0dcccfd-3f7c-418b-a60d-a743cb16045b}"/>
      </c:ext>
    </c:extLst>
  </c:chart>
  <c:spPr>
    <a:noFill/>
    <a:ln>
      <a:noFill/>
    </a:ln>
    <a:effectLst/>
  </c:spPr>
  <c:txPr>
    <a:bodyPr/>
    <a:lstStyle/>
    <a:p>
      <a:pPr>
        <a:defRPr lang="zh-CN" sz="1100">
          <a:solidFill>
            <a:schemeClr val="tx1"/>
          </a:solidFill>
          <a:latin typeface="+mn-ea"/>
          <a:ea typeface="+mn-ea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r>
              <a:rPr lang="zh-CN" altLang="en-US" sz="1400" b="1" dirty="0"/>
              <a:t>八大策略人群</a:t>
            </a:r>
            <a:endParaRPr lang="zh-CN" sz="1400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59532103675935"/>
          <c:y val="0.196500508409303"/>
          <c:w val="0.953859468741497"/>
          <c:h val="0.6588125044071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A1-A2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精致妈妈</c:v>
                </c:pt>
                <c:pt idx="1">
                  <c:v>小镇青年</c:v>
                </c:pt>
                <c:pt idx="2">
                  <c:v>新锐白领</c:v>
                </c:pt>
                <c:pt idx="3">
                  <c:v>Z世代</c:v>
                </c:pt>
                <c:pt idx="4">
                  <c:v>资深中产</c:v>
                </c:pt>
                <c:pt idx="5">
                  <c:v>都市蓝领</c:v>
                </c:pt>
                <c:pt idx="6">
                  <c:v>小镇中老年</c:v>
                </c:pt>
                <c:pt idx="7">
                  <c:v>都市银发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0.2507</c:v>
                </c:pt>
                <c:pt idx="1">
                  <c:v>0.2381</c:v>
                </c:pt>
                <c:pt idx="2">
                  <c:v>0.1322</c:v>
                </c:pt>
                <c:pt idx="3">
                  <c:v>0.1006</c:v>
                </c:pt>
                <c:pt idx="4">
                  <c:v>0.0831</c:v>
                </c:pt>
                <c:pt idx="5">
                  <c:v>0.0955</c:v>
                </c:pt>
                <c:pt idx="6">
                  <c:v>0.0481</c:v>
                </c:pt>
                <c:pt idx="7">
                  <c:v>0.0302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精致妈妈</c:v>
                </c:pt>
                <c:pt idx="1">
                  <c:v>小镇青年</c:v>
                </c:pt>
                <c:pt idx="2">
                  <c:v>新锐白领</c:v>
                </c:pt>
                <c:pt idx="3">
                  <c:v>Z世代</c:v>
                </c:pt>
                <c:pt idx="4">
                  <c:v>资深中产</c:v>
                </c:pt>
                <c:pt idx="5">
                  <c:v>都市蓝领</c:v>
                </c:pt>
                <c:pt idx="6">
                  <c:v>小镇中老年</c:v>
                </c:pt>
                <c:pt idx="7">
                  <c:v>都市银发</c:v>
                </c:pt>
              </c:strCache>
            </c:strRef>
          </c:cat>
          <c:val>
            <c:numRef>
              <c:f>Sheet1!$C$2:$C$9</c:f>
              <c:numCache>
                <c:formatCode>0.0%</c:formatCode>
                <c:ptCount val="8"/>
                <c:pt idx="0">
                  <c:v>0.3635</c:v>
                </c:pt>
                <c:pt idx="1">
                  <c:v>0.2306</c:v>
                </c:pt>
                <c:pt idx="2">
                  <c:v>0.1183</c:v>
                </c:pt>
                <c:pt idx="3">
                  <c:v>0.0979</c:v>
                </c:pt>
                <c:pt idx="4">
                  <c:v>0.0712</c:v>
                </c:pt>
                <c:pt idx="5">
                  <c:v>0.0562</c:v>
                </c:pt>
                <c:pt idx="6">
                  <c:v>0.0317</c:v>
                </c:pt>
                <c:pt idx="7">
                  <c:v>0.0213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A4-A5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精致妈妈</c:v>
                </c:pt>
                <c:pt idx="1">
                  <c:v>小镇青年</c:v>
                </c:pt>
                <c:pt idx="2">
                  <c:v>新锐白领</c:v>
                </c:pt>
                <c:pt idx="3">
                  <c:v>Z世代</c:v>
                </c:pt>
                <c:pt idx="4">
                  <c:v>资深中产</c:v>
                </c:pt>
                <c:pt idx="5">
                  <c:v>都市蓝领</c:v>
                </c:pt>
                <c:pt idx="6">
                  <c:v>小镇中老年</c:v>
                </c:pt>
                <c:pt idx="7">
                  <c:v>都市银发</c:v>
                </c:pt>
              </c:strCache>
            </c:strRef>
          </c:cat>
          <c:val>
            <c:numRef>
              <c:f>Sheet1!$D$2:$D$9</c:f>
              <c:numCache>
                <c:formatCode>0.0%</c:formatCode>
                <c:ptCount val="8"/>
                <c:pt idx="0">
                  <c:v>0.42</c:v>
                </c:pt>
                <c:pt idx="1">
                  <c:v>0.1856</c:v>
                </c:pt>
                <c:pt idx="2">
                  <c:v>0.1146</c:v>
                </c:pt>
                <c:pt idx="3">
                  <c:v>0.0321</c:v>
                </c:pt>
                <c:pt idx="4">
                  <c:v>0.1316</c:v>
                </c:pt>
                <c:pt idx="5">
                  <c:v>0.0193</c:v>
                </c:pt>
                <c:pt idx="6">
                  <c:v>0.0493</c:v>
                </c:pt>
                <c:pt idx="7">
                  <c:v>0.0361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27562608"/>
        <c:axId val="774755856"/>
      </c:barChart>
      <c:catAx>
        <c:axId val="627562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</a:p>
        </c:txPr>
        <c:crossAx val="774755856"/>
        <c:crosses val="autoZero"/>
        <c:auto val="1"/>
        <c:lblAlgn val="ctr"/>
        <c:lblOffset val="100"/>
        <c:noMultiLvlLbl val="0"/>
      </c:catAx>
      <c:valAx>
        <c:axId val="774755856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</a:p>
        </c:txPr>
        <c:crossAx val="627562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8841503193939"/>
          <c:y val="0.160589746446246"/>
          <c:w val="0.463636135917659"/>
          <c:h val="0.0996696581196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8ec0904-b222-4ebd-8dea-ff4d78ddecb0}"/>
      </c:ext>
    </c:extLst>
  </c:chart>
  <c:spPr>
    <a:noFill/>
    <a:ln>
      <a:noFill/>
    </a:ln>
    <a:effectLst/>
  </c:spPr>
  <c:txPr>
    <a:bodyPr/>
    <a:lstStyle/>
    <a:p>
      <a:pPr>
        <a:defRPr lang="zh-CN" sz="1100">
          <a:solidFill>
            <a:schemeClr val="tx1"/>
          </a:solidFill>
          <a:latin typeface="+mn-ea"/>
          <a:ea typeface="+mn-ea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r>
              <a:rPr lang="zh-CN" altLang="en-US" sz="1400" b="1" dirty="0"/>
              <a:t>年龄</a:t>
            </a:r>
            <a:endParaRPr lang="zh-CN" sz="1400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59532103675935"/>
          <c:y val="0.196500508409303"/>
          <c:w val="0.953859468741497"/>
          <c:h val="0.6588125044071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A1-A2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20-23</c:v>
                </c:pt>
                <c:pt idx="1">
                  <c:v>24-30</c:v>
                </c:pt>
                <c:pt idx="2">
                  <c:v>31-35</c:v>
                </c:pt>
                <c:pt idx="3">
                  <c:v>36-40</c:v>
                </c:pt>
                <c:pt idx="4">
                  <c:v>41-45</c:v>
                </c:pt>
                <c:pt idx="5">
                  <c:v>46-50</c:v>
                </c:pt>
                <c:pt idx="6">
                  <c:v>51-55</c:v>
                </c:pt>
                <c:pt idx="7">
                  <c:v>56-59</c:v>
                </c:pt>
                <c:pt idx="8">
                  <c:v>60+</c:v>
                </c:pt>
              </c:strCache>
            </c:strRef>
          </c:cat>
          <c:val>
            <c:numRef>
              <c:f>Sheet1!$B$2:$B$10</c:f>
              <c:numCache>
                <c:formatCode>0.0%</c:formatCode>
                <c:ptCount val="9"/>
                <c:pt idx="0">
                  <c:v>0.066</c:v>
                </c:pt>
                <c:pt idx="1">
                  <c:v>0.358</c:v>
                </c:pt>
                <c:pt idx="2">
                  <c:v>0.3137</c:v>
                </c:pt>
                <c:pt idx="3">
                  <c:v>0.1103</c:v>
                </c:pt>
                <c:pt idx="4">
                  <c:v>0.0397</c:v>
                </c:pt>
                <c:pt idx="5">
                  <c:v>0.0199</c:v>
                </c:pt>
                <c:pt idx="6">
                  <c:v>0.0239</c:v>
                </c:pt>
                <c:pt idx="7">
                  <c:v>0.0084</c:v>
                </c:pt>
                <c:pt idx="8">
                  <c:v>0.0156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20-23</c:v>
                </c:pt>
                <c:pt idx="1">
                  <c:v>24-30</c:v>
                </c:pt>
                <c:pt idx="2">
                  <c:v>31-35</c:v>
                </c:pt>
                <c:pt idx="3">
                  <c:v>36-40</c:v>
                </c:pt>
                <c:pt idx="4">
                  <c:v>41-45</c:v>
                </c:pt>
                <c:pt idx="5">
                  <c:v>46-50</c:v>
                </c:pt>
                <c:pt idx="6">
                  <c:v>51-55</c:v>
                </c:pt>
                <c:pt idx="7">
                  <c:v>56-59</c:v>
                </c:pt>
                <c:pt idx="8">
                  <c:v>60+</c:v>
                </c:pt>
              </c:strCache>
            </c:strRef>
          </c:cat>
          <c:val>
            <c:numRef>
              <c:f>Sheet1!$C$2:$C$10</c:f>
              <c:numCache>
                <c:formatCode>0.0%</c:formatCode>
                <c:ptCount val="9"/>
                <c:pt idx="0">
                  <c:v>0.0625</c:v>
                </c:pt>
                <c:pt idx="1">
                  <c:v>0.4413</c:v>
                </c:pt>
                <c:pt idx="2">
                  <c:v>0.308</c:v>
                </c:pt>
                <c:pt idx="3">
                  <c:v>0.0881</c:v>
                </c:pt>
                <c:pt idx="4">
                  <c:v>0.0268</c:v>
                </c:pt>
                <c:pt idx="5">
                  <c:v>0.0123</c:v>
                </c:pt>
                <c:pt idx="6">
                  <c:v>0.017</c:v>
                </c:pt>
                <c:pt idx="7">
                  <c:v>0.0058</c:v>
                </c:pt>
                <c:pt idx="8">
                  <c:v>0.0109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A4-A5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20-23</c:v>
                </c:pt>
                <c:pt idx="1">
                  <c:v>24-30</c:v>
                </c:pt>
                <c:pt idx="2">
                  <c:v>31-35</c:v>
                </c:pt>
                <c:pt idx="3">
                  <c:v>36-40</c:v>
                </c:pt>
                <c:pt idx="4">
                  <c:v>41-45</c:v>
                </c:pt>
                <c:pt idx="5">
                  <c:v>46-50</c:v>
                </c:pt>
                <c:pt idx="6">
                  <c:v>51-55</c:v>
                </c:pt>
                <c:pt idx="7">
                  <c:v>56-59</c:v>
                </c:pt>
                <c:pt idx="8">
                  <c:v>60+</c:v>
                </c:pt>
              </c:strCache>
            </c:strRef>
          </c:cat>
          <c:val>
            <c:numRef>
              <c:f>Sheet1!$D$2:$D$10</c:f>
              <c:numCache>
                <c:formatCode>0.0%</c:formatCode>
                <c:ptCount val="9"/>
                <c:pt idx="0">
                  <c:v>0.015</c:v>
                </c:pt>
                <c:pt idx="1">
                  <c:v>0.3013</c:v>
                </c:pt>
                <c:pt idx="2">
                  <c:v>0.3956</c:v>
                </c:pt>
                <c:pt idx="3">
                  <c:v>0.1529</c:v>
                </c:pt>
                <c:pt idx="4">
                  <c:v>0.0481</c:v>
                </c:pt>
                <c:pt idx="5">
                  <c:v>0.0152</c:v>
                </c:pt>
                <c:pt idx="6">
                  <c:v>0.0256</c:v>
                </c:pt>
                <c:pt idx="7">
                  <c:v>0.012</c:v>
                </c:pt>
                <c:pt idx="8">
                  <c:v>0.0203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27562608"/>
        <c:axId val="774755856"/>
      </c:barChart>
      <c:catAx>
        <c:axId val="627562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</a:p>
        </c:txPr>
        <c:crossAx val="774755856"/>
        <c:crosses val="autoZero"/>
        <c:auto val="1"/>
        <c:lblAlgn val="ctr"/>
        <c:lblOffset val="100"/>
        <c:noMultiLvlLbl val="0"/>
      </c:catAx>
      <c:valAx>
        <c:axId val="774755856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</a:p>
        </c:txPr>
        <c:crossAx val="62756260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329306000496615"/>
          <c:y val="0.149991801195899"/>
          <c:w val="0.350173611817815"/>
          <c:h val="0.1384312787923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b2687e2-c563-4bab-acca-09aeddb65f88}"/>
      </c:ext>
    </c:extLst>
  </c:chart>
  <c:spPr>
    <a:noFill/>
    <a:ln>
      <a:noFill/>
    </a:ln>
    <a:effectLst/>
  </c:spPr>
  <c:txPr>
    <a:bodyPr/>
    <a:lstStyle/>
    <a:p>
      <a:pPr>
        <a:defRPr lang="zh-CN" sz="1100">
          <a:solidFill>
            <a:schemeClr val="tx1"/>
          </a:solidFill>
          <a:latin typeface="+mn-ea"/>
          <a:ea typeface="+mn-ea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r>
              <a:rPr lang="zh-CN" altLang="en-US" sz="1400" b="1" dirty="0"/>
              <a:t>城市等级</a:t>
            </a:r>
            <a:endParaRPr lang="zh-CN" sz="1400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59532103675935"/>
          <c:y val="0.218569269046364"/>
          <c:w val="0.953859468741497"/>
          <c:h val="0.632317641281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A1-A2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一线城市</c:v>
                </c:pt>
                <c:pt idx="1">
                  <c:v>新一线城市</c:v>
                </c:pt>
                <c:pt idx="2">
                  <c:v>二线城市</c:v>
                </c:pt>
                <c:pt idx="3">
                  <c:v>三线城市</c:v>
                </c:pt>
                <c:pt idx="4">
                  <c:v>四线城市</c:v>
                </c:pt>
                <c:pt idx="5">
                  <c:v>五线城市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0.0781</c:v>
                </c:pt>
                <c:pt idx="1">
                  <c:v>0.1805</c:v>
                </c:pt>
                <c:pt idx="2">
                  <c:v>0.1856</c:v>
                </c:pt>
                <c:pt idx="3">
                  <c:v>0.238</c:v>
                </c:pt>
                <c:pt idx="4">
                  <c:v>0.196</c:v>
                </c:pt>
                <c:pt idx="5">
                  <c:v>0.1099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一线城市</c:v>
                </c:pt>
                <c:pt idx="1">
                  <c:v>新一线城市</c:v>
                </c:pt>
                <c:pt idx="2">
                  <c:v>二线城市</c:v>
                </c:pt>
                <c:pt idx="3">
                  <c:v>三线城市</c:v>
                </c:pt>
                <c:pt idx="4">
                  <c:v>四线城市</c:v>
                </c:pt>
                <c:pt idx="5">
                  <c:v>五线城市</c:v>
                </c:pt>
              </c:strCache>
            </c:strRef>
          </c:cat>
          <c:val>
            <c:numRef>
              <c:f>Sheet1!$C$2:$C$7</c:f>
              <c:numCache>
                <c:formatCode>0.0%</c:formatCode>
                <c:ptCount val="6"/>
                <c:pt idx="0">
                  <c:v>0.0826</c:v>
                </c:pt>
                <c:pt idx="1">
                  <c:v>0.1863</c:v>
                </c:pt>
                <c:pt idx="2">
                  <c:v>0.2009</c:v>
                </c:pt>
                <c:pt idx="3">
                  <c:v>0.2425</c:v>
                </c:pt>
                <c:pt idx="4">
                  <c:v>0.1774</c:v>
                </c:pt>
                <c:pt idx="5">
                  <c:v>0.1004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A4-A5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一线城市</c:v>
                </c:pt>
                <c:pt idx="1">
                  <c:v>新一线城市</c:v>
                </c:pt>
                <c:pt idx="2">
                  <c:v>二线城市</c:v>
                </c:pt>
                <c:pt idx="3">
                  <c:v>三线城市</c:v>
                </c:pt>
                <c:pt idx="4">
                  <c:v>四线城市</c:v>
                </c:pt>
                <c:pt idx="5">
                  <c:v>五线城市</c:v>
                </c:pt>
              </c:strCache>
            </c:strRef>
          </c:cat>
          <c:val>
            <c:numRef>
              <c:f>Sheet1!$D$2:$D$7</c:f>
              <c:numCache>
                <c:formatCode>0.0%</c:formatCode>
                <c:ptCount val="6"/>
                <c:pt idx="0">
                  <c:v>0.1068</c:v>
                </c:pt>
                <c:pt idx="1">
                  <c:v>0.1999</c:v>
                </c:pt>
                <c:pt idx="2">
                  <c:v>0.214</c:v>
                </c:pt>
                <c:pt idx="3">
                  <c:v>0.2169</c:v>
                </c:pt>
                <c:pt idx="4">
                  <c:v>0.1533</c:v>
                </c:pt>
                <c:pt idx="5">
                  <c:v>0.0935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27562608"/>
        <c:axId val="774755856"/>
      </c:barChart>
      <c:catAx>
        <c:axId val="6275626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</a:p>
        </c:txPr>
        <c:crossAx val="774755856"/>
        <c:crosses val="autoZero"/>
        <c:auto val="1"/>
        <c:lblAlgn val="ctr"/>
        <c:lblOffset val="100"/>
        <c:noMultiLvlLbl val="0"/>
      </c:catAx>
      <c:valAx>
        <c:axId val="774755856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</a:p>
        </c:txPr>
        <c:crossAx val="627562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60809213941012"/>
          <c:y val="0.149991801195899"/>
          <c:w val="0.496534105892965"/>
          <c:h val="0.1483871794871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1899341-6118-4559-9a26-7f88f9b8c03f}"/>
      </c:ext>
    </c:extLst>
  </c:chart>
  <c:spPr>
    <a:noFill/>
    <a:ln>
      <a:noFill/>
    </a:ln>
    <a:effectLst/>
  </c:spPr>
  <c:txPr>
    <a:bodyPr/>
    <a:lstStyle/>
    <a:p>
      <a:pPr>
        <a:defRPr lang="zh-CN" sz="1100">
          <a:solidFill>
            <a:schemeClr val="tx1"/>
          </a:solidFill>
          <a:latin typeface="+mn-ea"/>
          <a:ea typeface="+mn-ea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24.7</a:t>
            </a:r>
            <a:r>
              <a:rPr lang="zh-CN" altLang="en-US" sz="12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近半年品牌内容种草变化趋势</a:t>
            </a:r>
            <a:endParaRPr lang="zh-CN" altLang="zh-CN" sz="1200" b="1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layout>
        <c:manualLayout>
          <c:xMode val="edge"/>
          <c:yMode val="edge"/>
          <c:x val="0.339872106408981"/>
          <c:y val="0.02980186119432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33402671570771"/>
          <c:y val="0.13959868601437"/>
          <c:w val="0.93963288948982"/>
          <c:h val="0.77428732128671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种草量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[$-409]mmm\-yy;@</c:formatCode>
                <c:ptCount val="6"/>
                <c:pt idx="0" c:formatCode="[$-409]mmm\-yy;@">
                  <c:v>45351</c:v>
                </c:pt>
                <c:pt idx="1" c:formatCode="[$-409]mmm\-yy;@">
                  <c:v>45382</c:v>
                </c:pt>
                <c:pt idx="2" c:formatCode="[$-409]mmm\-yy;@">
                  <c:v>45412</c:v>
                </c:pt>
                <c:pt idx="3" c:formatCode="[$-409]mmm\-yy;@">
                  <c:v>45443</c:v>
                </c:pt>
                <c:pt idx="4" c:formatCode="[$-409]mmm\-yy;@">
                  <c:v>45473</c:v>
                </c:pt>
                <c:pt idx="5" c:formatCode="[$-409]mmm\-yy;@">
                  <c:v>45504</c:v>
                </c:pt>
              </c:numCache>
            </c:numRef>
          </c:cat>
          <c:val>
            <c:numRef>
              <c:f>Sheet1!$B$2:$B$7</c:f>
              <c:numCache>
                <c:formatCode>#,##0</c:formatCode>
                <c:ptCount val="6"/>
                <c:pt idx="0">
                  <c:v>61732</c:v>
                </c:pt>
                <c:pt idx="1">
                  <c:v>155246</c:v>
                </c:pt>
                <c:pt idx="2">
                  <c:v>120592</c:v>
                </c:pt>
                <c:pt idx="3">
                  <c:v>187479</c:v>
                </c:pt>
                <c:pt idx="4">
                  <c:v>203314</c:v>
                </c:pt>
                <c:pt idx="5">
                  <c:v>254217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种草转化量</c:v>
                </c:pt>
              </c:strCache>
            </c:strRef>
          </c:tx>
          <c:spPr>
            <a:solidFill>
              <a:srgbClr val="92D050"/>
            </a:solidFill>
            <a:ln w="2222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[$-409]mmm\-yy;@</c:formatCode>
                <c:ptCount val="6"/>
                <c:pt idx="0" c:formatCode="[$-409]mmm\-yy;@">
                  <c:v>45351</c:v>
                </c:pt>
                <c:pt idx="1" c:formatCode="[$-409]mmm\-yy;@">
                  <c:v>45382</c:v>
                </c:pt>
                <c:pt idx="2" c:formatCode="[$-409]mmm\-yy;@">
                  <c:v>45412</c:v>
                </c:pt>
                <c:pt idx="3" c:formatCode="[$-409]mmm\-yy;@">
                  <c:v>45443</c:v>
                </c:pt>
                <c:pt idx="4" c:formatCode="[$-409]mmm\-yy;@">
                  <c:v>45473</c:v>
                </c:pt>
                <c:pt idx="5" c:formatCode="[$-409]mmm\-yy;@">
                  <c:v>45504</c:v>
                </c:pt>
              </c:numCache>
            </c:numRef>
          </c:cat>
          <c:val>
            <c:numRef>
              <c:f>Sheet1!$C$2:$C$7</c:f>
              <c:numCache>
                <c:formatCode>#,##0</c:formatCode>
                <c:ptCount val="6"/>
                <c:pt idx="0">
                  <c:v>1816</c:v>
                </c:pt>
                <c:pt idx="1">
                  <c:v>3705</c:v>
                </c:pt>
                <c:pt idx="2">
                  <c:v>4392</c:v>
                </c:pt>
                <c:pt idx="3">
                  <c:v>6566</c:v>
                </c:pt>
                <c:pt idx="4">
                  <c:v>7902</c:v>
                </c:pt>
                <c:pt idx="5">
                  <c:v>11858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43016000"/>
        <c:axId val="97505048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种草转化率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0.0420003569343359"/>
                  <c:y val="0.045455486762536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401240878673057"/>
                  <c:y val="0.04896217279789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[$-409]mmm\-yy;@</c:formatCode>
                <c:ptCount val="6"/>
                <c:pt idx="0" c:formatCode="[$-409]mmm\-yy;@">
                  <c:v>45351</c:v>
                </c:pt>
                <c:pt idx="1" c:formatCode="[$-409]mmm\-yy;@">
                  <c:v>45382</c:v>
                </c:pt>
                <c:pt idx="2" c:formatCode="[$-409]mmm\-yy;@">
                  <c:v>45412</c:v>
                </c:pt>
                <c:pt idx="3" c:formatCode="[$-409]mmm\-yy;@">
                  <c:v>45443</c:v>
                </c:pt>
                <c:pt idx="4" c:formatCode="[$-409]mmm\-yy;@">
                  <c:v>45473</c:v>
                </c:pt>
                <c:pt idx="5" c:formatCode="[$-409]mmm\-yy;@">
                  <c:v>45504</c:v>
                </c:pt>
              </c:numCache>
            </c:numRef>
          </c:cat>
          <c:val>
            <c:numRef>
              <c:f>Sheet1!$D$2:$D$7</c:f>
              <c:numCache>
                <c:formatCode>0.0%</c:formatCode>
                <c:ptCount val="6"/>
                <c:pt idx="0">
                  <c:v>0.1808</c:v>
                </c:pt>
                <c:pt idx="1">
                  <c:v>0.2342</c:v>
                </c:pt>
                <c:pt idx="2">
                  <c:v>0.1415</c:v>
                </c:pt>
                <c:pt idx="3">
                  <c:v>0.1358</c:v>
                </c:pt>
                <c:pt idx="4">
                  <c:v>0.1634</c:v>
                </c:pt>
                <c:pt idx="5">
                  <c:v>0.2036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3011680"/>
        <c:axId val="1146700880"/>
      </c:lineChart>
      <c:dateAx>
        <c:axId val="1143016000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5050480"/>
        <c:crosses val="autoZero"/>
        <c:auto val="1"/>
        <c:lblOffset val="100"/>
        <c:baseTimeUnit val="months"/>
      </c:dateAx>
      <c:valAx>
        <c:axId val="97505048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6000"/>
        <c:crosses val="autoZero"/>
        <c:crossBetween val="between"/>
      </c:valAx>
      <c:dateAx>
        <c:axId val="1143011680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6700880"/>
        <c:crosses val="autoZero"/>
        <c:auto val="1"/>
        <c:lblOffset val="100"/>
        <c:baseTimeUnit val="months"/>
      </c:dateAx>
      <c:valAx>
        <c:axId val="1146700880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3011680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73639595600489"/>
          <c:y val="0.148200849732683"/>
          <c:w val="0.504123490014655"/>
          <c:h val="0.0598353845605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8700261-8807-4d66-bcbe-237404d10443}"/>
      </c:ext>
    </c:extLst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lang="zh-CN" sz="105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84627D-3F56-462E-95B1-684C4B0EB639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C22529A3-F046-4534-AF4C-B9D216F5DF4E}">
      <dgm:prSet phldrT="[文本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929F69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7620" tIns="7620" rIns="7620" bIns="80470" numCol="1" spcCol="1270" anchor="ctr" anchorCtr="0"/>
        <a:lstStyle/>
        <a:p>
          <a:pPr marL="0" lvl="0" algn="ctr" defTabSz="533400">
            <a:spcBef>
              <a:spcPct val="0"/>
            </a:spcBef>
            <a:buNone/>
          </a:pPr>
          <a:r>
            <a:rPr lang="zh-CN" alt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销售金额：</a:t>
          </a:r>
          <a:r>
            <a:rPr lang="en-US" altLang="zh-CN" sz="1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85,488,872</a:t>
          </a:r>
          <a:endParaRPr lang="zh-CN" altLang="en-US" sz="12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425B26AA-5937-4BBB-9A03-C5D980E65210}" cxnId="{2292051C-E381-4EA6-81FC-EF81B595B745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A7B46E2-B93C-4740-A976-2A907370CBD9}" cxnId="{2292051C-E381-4EA6-81FC-EF81B595B745}" type="sibTrans">
      <dgm:prSet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algn="ctr"/>
          <a:r>
            <a:rPr lang="zh-CN" altLang="en-US" sz="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环比：</a:t>
          </a:r>
          <a:r>
            <a:rPr lang="en-US" altLang="zh-CN" sz="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4.45</a:t>
          </a:r>
          <a:r>
            <a:rPr lang="en-US" altLang="zh-CN" sz="900" b="0" i="0" u="none" strike="noStrik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%</a:t>
          </a:r>
          <a:endParaRPr lang="zh-CN" altLang="en-US" sz="900" b="0" i="0" u="none" strike="noStrike" kern="1200" dirty="0">
            <a:solidFill>
              <a:srgbClr val="FF0000"/>
            </a:solidFill>
            <a:effectLst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A6118B04-C491-4F7A-AB1E-43572E007FCB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rPr>
            <a:t>平均价格：</a:t>
          </a:r>
          <a:endParaRPr lang="en-US" altLang="zh-CN" sz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en-US" altLang="zh-CN" sz="1200" b="1" i="0" dirty="0"/>
            <a:t>72.15</a:t>
          </a:r>
          <a:endParaRPr lang="zh-CN" altLang="zh-CN" sz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E1755A0-AD01-42CB-8E12-5D492FE45EEE}" cxnId="{F3C3AFEE-2BF9-4A0E-B166-CADD067C1269}" type="parTrans">
      <dgm:prSet/>
      <dgm:spPr/>
      <dgm:t>
        <a:bodyPr/>
        <a:lstStyle/>
        <a:p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82070F-E4B7-49B2-920A-3DB8F4ECDCEC}" cxnId="{F3C3AFEE-2BF9-4A0E-B166-CADD067C1269}" type="sibTrans">
      <dgm:prSet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algn="ctr"/>
          <a:r>
            <a:rPr lang="zh-CN" altLang="en-US" sz="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同比：</a:t>
          </a:r>
          <a:r>
            <a:rPr lang="en-US" altLang="zh-CN" sz="900" kern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-1.74</a:t>
          </a:r>
          <a:r>
            <a:rPr lang="en-US" altLang="zh-CN" sz="900" kern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%</a:t>
          </a:r>
          <a:endParaRPr lang="zh-CN" altLang="en-US" sz="900" kern="1200" dirty="0">
            <a:solidFill>
              <a:srgbClr val="00B05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A1918F0-9371-4A76-B8CB-8AE547380A39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rPr>
            <a:t>销量：</a:t>
          </a:r>
          <a:endParaRPr lang="en-US" altLang="zh-CN" sz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200" b="1" i="0" dirty="0"/>
            <a:t>1,184,869</a:t>
          </a:r>
          <a:endParaRPr lang="zh-CN" altLang="en-US" sz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06F7765-1535-4B91-BFDE-B9D6CA2BB23C}" cxnId="{68037465-F12D-48B6-9F1E-7805DFBF3106}" type="parTrans">
      <dgm:prSet/>
      <dgm:spPr/>
      <dgm:t>
        <a:bodyPr/>
        <a:lstStyle/>
        <a:p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2CC9FE3-9751-46B4-9F8B-BF66715C5637}" cxnId="{68037465-F12D-48B6-9F1E-7805DFBF3106}" type="sibTrans">
      <dgm:prSet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algn="ctr"/>
          <a:r>
            <a: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rPr>
            <a:t>同比：</a:t>
          </a:r>
          <a:r>
            <a:rPr lang="en-US" altLang="zh-CN" sz="9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6.31%</a:t>
          </a:r>
          <a:endParaRPr lang="zh-CN" altLang="en-US" sz="9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5479BA4-6A6B-451D-9669-ABF019AA745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rPr>
            <a:t>人均购买量</a:t>
          </a:r>
          <a:endParaRPr lang="en-US" altLang="zh-CN" sz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200" b="1" i="0" dirty="0"/>
            <a:t>2.15</a:t>
          </a:r>
          <a:endParaRPr lang="zh-CN" altLang="en-US" sz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700E84-417C-4E28-8249-E28E9DED63C9}" cxnId="{FF9AF1CE-2B25-41F0-A5F1-000B8BE045E1}" type="parTrans">
      <dgm:prSet/>
      <dgm:spPr/>
      <dgm:t>
        <a:bodyPr/>
        <a:lstStyle/>
        <a:p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B997A03-5CE5-4623-A77D-E71BC4FC9EB8}" cxnId="{FF9AF1CE-2B25-41F0-A5F1-000B8BE045E1}" type="sibTrans">
      <dgm:prSet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algn="ctr"/>
          <a:r>
            <a:rPr lang="zh-CN" altLang="en-US" sz="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同比：</a:t>
          </a:r>
          <a:r>
            <a:rPr lang="en-US" altLang="zh-CN" sz="900" kern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-3.79%</a:t>
          </a:r>
          <a:endParaRPr lang="zh-CN" altLang="en-US" sz="900" kern="1200" dirty="0">
            <a:solidFill>
              <a:srgbClr val="00B050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4C363EF4-38CF-41D6-93CC-102D82B2882B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rPr>
            <a:t>购买人数：</a:t>
          </a:r>
          <a:endParaRPr lang="en-US" altLang="zh-CN" sz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200" b="1" i="0" dirty="0"/>
            <a:t>551,023</a:t>
          </a:r>
          <a:endParaRPr lang="zh-CN" altLang="en-US" sz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35A7B28-EDC0-417E-85C0-B7F47B67D4B7}" cxnId="{480E32A9-5A5B-45B3-9A9C-A6B94DF06AD2}" type="sibTrans">
      <dgm:prSet custT="1"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pPr algn="ctr"/>
          <a:r>
            <a: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rPr>
            <a:t>同比：</a:t>
          </a:r>
          <a:r>
            <a:rPr lang="en-US" altLang="zh-CN" sz="9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10.49%</a:t>
          </a:r>
          <a:endParaRPr lang="zh-CN" altLang="en-US" sz="9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3833532-BEF8-462C-9D4C-DCF48A627257}" cxnId="{480E32A9-5A5B-45B3-9A9C-A6B94DF06AD2}" type="parTrans">
      <dgm:prSet/>
      <dgm:spPr/>
      <dgm:t>
        <a:bodyPr/>
        <a:lstStyle/>
        <a:p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F98089D-2D51-4E84-B965-516879E01477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购买频次：</a:t>
          </a:r>
          <a:endParaRPr lang="en-US" altLang="zh-CN" sz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200" b="1" i="0"/>
            <a:t>1.92</a:t>
          </a:r>
          <a:endParaRPr lang="zh-CN" altLang="en-US" sz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786A222-99D8-4BA7-B98E-FE4EEB80E06B}" cxnId="{8B4B314F-9AFA-49DB-A6BF-AE06006AF45A}" type="parTrans">
      <dgm:prSet/>
      <dgm:spPr/>
      <dgm:t>
        <a:bodyPr/>
        <a:lstStyle/>
        <a:p>
          <a:endParaRPr lang="zh-CN" altLang="en-US"/>
        </a:p>
      </dgm:t>
    </dgm:pt>
    <dgm:pt modelId="{A124CCE8-5430-4A90-9350-32585E564900}" cxnId="{8B4B314F-9AFA-49DB-A6BF-AE06006AF45A}" type="sibTrans">
      <dgm:prSet custT="1"/>
      <dgm:spPr/>
      <dgm:t>
        <a:bodyPr/>
        <a:lstStyle/>
        <a:p>
          <a:pPr algn="ctr"/>
          <a:r>
            <a:rPr lang="zh-CN" alt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同比：</a:t>
          </a:r>
          <a:r>
            <a:rPr lang="en-US" altLang="zh-CN" sz="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10.49%</a:t>
          </a:r>
          <a:endParaRPr lang="zh-CN" altLang="en-US" sz="9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A94CCF74-82A3-4CD0-B05C-7417BAC8439D}" type="pres">
      <dgm:prSet presAssocID="{5B84627D-3F56-462E-95B1-684C4B0EB63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A455B02-9560-4AF9-BCC5-5D36FB225B2A}" type="pres">
      <dgm:prSet presAssocID="{C22529A3-F046-4534-AF4C-B9D216F5DF4E}" presName="hierRoot1" presStyleCnt="0">
        <dgm:presLayoutVars>
          <dgm:hierBranch val="init"/>
        </dgm:presLayoutVars>
      </dgm:prSet>
      <dgm:spPr/>
    </dgm:pt>
    <dgm:pt modelId="{E16C55A6-7A06-4FBE-8298-2CC11195F5FF}" type="pres">
      <dgm:prSet presAssocID="{C22529A3-F046-4534-AF4C-B9D216F5DF4E}" presName="rootComposite1" presStyleCnt="0"/>
      <dgm:spPr/>
    </dgm:pt>
    <dgm:pt modelId="{DB233929-0DC9-4A24-B74C-1FF77ED197C0}" type="pres">
      <dgm:prSet presAssocID="{C22529A3-F046-4534-AF4C-B9D216F5DF4E}" presName="rootText1" presStyleLbl="node0" presStyleIdx="0" presStyleCnt="1">
        <dgm:presLayoutVars>
          <dgm:chMax/>
          <dgm:chPref val="3"/>
        </dgm:presLayoutVars>
      </dgm:prSet>
      <dgm:spPr>
        <a:xfrm>
          <a:off x="780519" y="991926"/>
          <a:ext cx="1101403" cy="570257"/>
        </a:xfrm>
        <a:prstGeom prst="rect">
          <a:avLst/>
        </a:prstGeom>
      </dgm:spPr>
    </dgm:pt>
    <dgm:pt modelId="{FA7C0E56-FC80-43B8-A33F-A06108629357}" type="pres">
      <dgm:prSet presAssocID="{C22529A3-F046-4534-AF4C-B9D216F5DF4E}" presName="titleText1" presStyleLbl="fgAcc0" presStyleIdx="0" presStyleCnt="1" custScaleY="79949">
        <dgm:presLayoutVars>
          <dgm:chMax val="0"/>
          <dgm:chPref val="0"/>
        </dgm:presLayoutVars>
      </dgm:prSet>
      <dgm:spPr/>
    </dgm:pt>
    <dgm:pt modelId="{D9FE94E4-A379-4500-BD1C-A57A73DD3CFA}" type="pres">
      <dgm:prSet presAssocID="{C22529A3-F046-4534-AF4C-B9D216F5DF4E}" presName="rootConnector1" presStyleLbl="node1" presStyleIdx="0" presStyleCnt="5"/>
      <dgm:spPr/>
    </dgm:pt>
    <dgm:pt modelId="{58EDBF90-6DA4-4409-88F9-73FEB4D4CEF9}" type="pres">
      <dgm:prSet presAssocID="{C22529A3-F046-4534-AF4C-B9D216F5DF4E}" presName="hierChild2" presStyleCnt="0"/>
      <dgm:spPr/>
    </dgm:pt>
    <dgm:pt modelId="{BEB95201-B08E-4A4E-B8EA-6AC813366157}" type="pres">
      <dgm:prSet presAssocID="{1E1755A0-AD01-42CB-8E12-5D492FE45EEE}" presName="Name37" presStyleLbl="parChTrans1D2" presStyleIdx="0" presStyleCnt="2"/>
      <dgm:spPr/>
    </dgm:pt>
    <dgm:pt modelId="{2023E8B5-5D1A-4949-A6B2-057C63547A92}" type="pres">
      <dgm:prSet presAssocID="{A6118B04-C491-4F7A-AB1E-43572E007FCB}" presName="hierRoot2" presStyleCnt="0">
        <dgm:presLayoutVars>
          <dgm:hierBranch val="init"/>
        </dgm:presLayoutVars>
      </dgm:prSet>
      <dgm:spPr/>
    </dgm:pt>
    <dgm:pt modelId="{53D69815-C155-40A0-9E8D-264821E3E6AC}" type="pres">
      <dgm:prSet presAssocID="{A6118B04-C491-4F7A-AB1E-43572E007FCB}" presName="rootComposite" presStyleCnt="0"/>
      <dgm:spPr/>
    </dgm:pt>
    <dgm:pt modelId="{BF0E3C4A-3EA9-4F1D-8EC0-013E979CBA7D}" type="pres">
      <dgm:prSet presAssocID="{A6118B04-C491-4F7A-AB1E-43572E007FCB}" presName="rootText" presStyleLbl="node1" presStyleIdx="0" presStyleCnt="5">
        <dgm:presLayoutVars>
          <dgm:chMax/>
          <dgm:chPref val="3"/>
        </dgm:presLayoutVars>
      </dgm:prSet>
      <dgm:spPr/>
    </dgm:pt>
    <dgm:pt modelId="{0ED584D8-F454-4D54-BBB0-B418F45A9AC3}" type="pres">
      <dgm:prSet presAssocID="{A6118B04-C491-4F7A-AB1E-43572E007FCB}" presName="titleText2" presStyleLbl="fgAcc1" presStyleIdx="0" presStyleCnt="5" custScaleY="79949">
        <dgm:presLayoutVars>
          <dgm:chMax val="0"/>
          <dgm:chPref val="0"/>
        </dgm:presLayoutVars>
      </dgm:prSet>
      <dgm:spPr/>
    </dgm:pt>
    <dgm:pt modelId="{6D2B44AA-1DAA-4B86-B91A-D39B0AEAC06B}" type="pres">
      <dgm:prSet presAssocID="{A6118B04-C491-4F7A-AB1E-43572E007FCB}" presName="rootConnector" presStyleLbl="node2" presStyleIdx="0" presStyleCnt="0"/>
      <dgm:spPr/>
    </dgm:pt>
    <dgm:pt modelId="{AB3C9C4C-F7D0-40EE-AB6D-3C4B46E2CFB4}" type="pres">
      <dgm:prSet presAssocID="{A6118B04-C491-4F7A-AB1E-43572E007FCB}" presName="hierChild4" presStyleCnt="0"/>
      <dgm:spPr/>
    </dgm:pt>
    <dgm:pt modelId="{D561E80C-8E41-4FDC-9B3F-CCD3C0C80080}" type="pres">
      <dgm:prSet presAssocID="{A6118B04-C491-4F7A-AB1E-43572E007FCB}" presName="hierChild5" presStyleCnt="0"/>
      <dgm:spPr/>
    </dgm:pt>
    <dgm:pt modelId="{7B1E259E-5162-4BF9-ADCE-C38E870F2C13}" type="pres">
      <dgm:prSet presAssocID="{706F7765-1535-4B91-BFDE-B9D6CA2BB23C}" presName="Name37" presStyleLbl="parChTrans1D2" presStyleIdx="1" presStyleCnt="2"/>
      <dgm:spPr/>
    </dgm:pt>
    <dgm:pt modelId="{459FD92E-E815-4EC4-9C18-FB23886AED24}" type="pres">
      <dgm:prSet presAssocID="{4A1918F0-9371-4A76-B8CB-8AE547380A39}" presName="hierRoot2" presStyleCnt="0">
        <dgm:presLayoutVars>
          <dgm:hierBranch val="init"/>
        </dgm:presLayoutVars>
      </dgm:prSet>
      <dgm:spPr/>
    </dgm:pt>
    <dgm:pt modelId="{1388BFDB-1876-43BF-AEEE-3D287A35E4F1}" type="pres">
      <dgm:prSet presAssocID="{4A1918F0-9371-4A76-B8CB-8AE547380A39}" presName="rootComposite" presStyleCnt="0"/>
      <dgm:spPr/>
    </dgm:pt>
    <dgm:pt modelId="{D0BB05D2-5FFB-465A-AC54-A9DC28D86E12}" type="pres">
      <dgm:prSet presAssocID="{4A1918F0-9371-4A76-B8CB-8AE547380A39}" presName="rootText" presStyleLbl="node1" presStyleIdx="1" presStyleCnt="5">
        <dgm:presLayoutVars>
          <dgm:chMax/>
          <dgm:chPref val="3"/>
        </dgm:presLayoutVars>
      </dgm:prSet>
      <dgm:spPr/>
    </dgm:pt>
    <dgm:pt modelId="{09309397-BB7B-45D1-B9B2-3845C7B5C5EC}" type="pres">
      <dgm:prSet presAssocID="{4A1918F0-9371-4A76-B8CB-8AE547380A39}" presName="titleText2" presStyleLbl="fgAcc1" presStyleIdx="1" presStyleCnt="5" custScaleY="79805">
        <dgm:presLayoutVars>
          <dgm:chMax val="0"/>
          <dgm:chPref val="0"/>
        </dgm:presLayoutVars>
      </dgm:prSet>
      <dgm:spPr/>
    </dgm:pt>
    <dgm:pt modelId="{6B9CCF1F-0829-42FB-9E8A-4CA85C2CCE94}" type="pres">
      <dgm:prSet presAssocID="{4A1918F0-9371-4A76-B8CB-8AE547380A39}" presName="rootConnector" presStyleLbl="node2" presStyleIdx="0" presStyleCnt="0"/>
      <dgm:spPr/>
    </dgm:pt>
    <dgm:pt modelId="{4D0909B9-2A1C-4737-9D58-0E5F198D2DA4}" type="pres">
      <dgm:prSet presAssocID="{4A1918F0-9371-4A76-B8CB-8AE547380A39}" presName="hierChild4" presStyleCnt="0"/>
      <dgm:spPr/>
    </dgm:pt>
    <dgm:pt modelId="{D8968E40-52C3-4977-AC43-B1BD4D59D4D4}" type="pres">
      <dgm:prSet presAssocID="{8E700E84-417C-4E28-8249-E28E9DED63C9}" presName="Name37" presStyleLbl="parChTrans1D3" presStyleIdx="0" presStyleCnt="3"/>
      <dgm:spPr/>
    </dgm:pt>
    <dgm:pt modelId="{038BE787-FE17-4D8B-98B3-FFF5A8BBA022}" type="pres">
      <dgm:prSet presAssocID="{35479BA4-6A6B-451D-9669-ABF019AA7452}" presName="hierRoot2" presStyleCnt="0">
        <dgm:presLayoutVars>
          <dgm:hierBranch val="init"/>
        </dgm:presLayoutVars>
      </dgm:prSet>
      <dgm:spPr/>
    </dgm:pt>
    <dgm:pt modelId="{C14D1A98-AC48-4AF7-81EF-D9CDF3FFEAD9}" type="pres">
      <dgm:prSet presAssocID="{35479BA4-6A6B-451D-9669-ABF019AA7452}" presName="rootComposite" presStyleCnt="0"/>
      <dgm:spPr/>
    </dgm:pt>
    <dgm:pt modelId="{AB6EB0CA-B427-4323-BA21-247E6AA0A840}" type="pres">
      <dgm:prSet presAssocID="{35479BA4-6A6B-451D-9669-ABF019AA7452}" presName="rootText" presStyleLbl="node1" presStyleIdx="2" presStyleCnt="5">
        <dgm:presLayoutVars>
          <dgm:chMax/>
          <dgm:chPref val="3"/>
        </dgm:presLayoutVars>
      </dgm:prSet>
      <dgm:spPr/>
    </dgm:pt>
    <dgm:pt modelId="{0DC617EC-7F65-494F-A7EE-C9D6DAEA4FC2}" type="pres">
      <dgm:prSet presAssocID="{35479BA4-6A6B-451D-9669-ABF019AA7452}" presName="titleText2" presStyleLbl="fgAcc1" presStyleIdx="2" presStyleCnt="5" custScaleY="79949">
        <dgm:presLayoutVars>
          <dgm:chMax val="0"/>
          <dgm:chPref val="0"/>
        </dgm:presLayoutVars>
      </dgm:prSet>
      <dgm:spPr/>
    </dgm:pt>
    <dgm:pt modelId="{A94E054C-CE89-4F7F-AB12-95EB9B22F12A}" type="pres">
      <dgm:prSet presAssocID="{35479BA4-6A6B-451D-9669-ABF019AA7452}" presName="rootConnector" presStyleLbl="node3" presStyleIdx="0" presStyleCnt="0"/>
      <dgm:spPr/>
    </dgm:pt>
    <dgm:pt modelId="{3910C53C-3FFE-47AB-BF6D-D94BB23C1F18}" type="pres">
      <dgm:prSet presAssocID="{35479BA4-6A6B-451D-9669-ABF019AA7452}" presName="hierChild4" presStyleCnt="0"/>
      <dgm:spPr/>
    </dgm:pt>
    <dgm:pt modelId="{1FEDEE27-C8DA-470F-A7BA-AD07642F96F5}" type="pres">
      <dgm:prSet presAssocID="{35479BA4-6A6B-451D-9669-ABF019AA7452}" presName="hierChild5" presStyleCnt="0"/>
      <dgm:spPr/>
    </dgm:pt>
    <dgm:pt modelId="{E505EA05-3A58-4A6C-9629-507CC24324C3}" type="pres">
      <dgm:prSet presAssocID="{73833532-BEF8-462C-9D4C-DCF48A627257}" presName="Name37" presStyleLbl="parChTrans1D3" presStyleIdx="1" presStyleCnt="3"/>
      <dgm:spPr/>
    </dgm:pt>
    <dgm:pt modelId="{5C73527E-3F58-471A-ACF9-576CF4DA448D}" type="pres">
      <dgm:prSet presAssocID="{4C363EF4-38CF-41D6-93CC-102D82B2882B}" presName="hierRoot2" presStyleCnt="0">
        <dgm:presLayoutVars>
          <dgm:hierBranch val="init"/>
        </dgm:presLayoutVars>
      </dgm:prSet>
      <dgm:spPr/>
    </dgm:pt>
    <dgm:pt modelId="{DBFE0E9D-8B4F-4F86-BBD3-4B3D29735939}" type="pres">
      <dgm:prSet presAssocID="{4C363EF4-38CF-41D6-93CC-102D82B2882B}" presName="rootComposite" presStyleCnt="0"/>
      <dgm:spPr/>
    </dgm:pt>
    <dgm:pt modelId="{39068DD9-4878-4746-98AD-C2F3338BA8FB}" type="pres">
      <dgm:prSet presAssocID="{4C363EF4-38CF-41D6-93CC-102D82B2882B}" presName="rootText" presStyleLbl="node1" presStyleIdx="3" presStyleCnt="5">
        <dgm:presLayoutVars>
          <dgm:chMax/>
          <dgm:chPref val="3"/>
        </dgm:presLayoutVars>
      </dgm:prSet>
      <dgm:spPr/>
    </dgm:pt>
    <dgm:pt modelId="{5344E2AF-F67E-470C-BEE1-E70E0D064AA2}" type="pres">
      <dgm:prSet presAssocID="{4C363EF4-38CF-41D6-93CC-102D82B2882B}" presName="titleText2" presStyleLbl="fgAcc1" presStyleIdx="3" presStyleCnt="5" custScaleY="80381">
        <dgm:presLayoutVars>
          <dgm:chMax val="0"/>
          <dgm:chPref val="0"/>
        </dgm:presLayoutVars>
      </dgm:prSet>
      <dgm:spPr/>
    </dgm:pt>
    <dgm:pt modelId="{D1BB68C9-8494-4692-8666-7433AB91A267}" type="pres">
      <dgm:prSet presAssocID="{4C363EF4-38CF-41D6-93CC-102D82B2882B}" presName="rootConnector" presStyleLbl="node3" presStyleIdx="0" presStyleCnt="0"/>
      <dgm:spPr/>
    </dgm:pt>
    <dgm:pt modelId="{695087F0-2F73-4278-A971-27491786EA34}" type="pres">
      <dgm:prSet presAssocID="{4C363EF4-38CF-41D6-93CC-102D82B2882B}" presName="hierChild4" presStyleCnt="0"/>
      <dgm:spPr/>
    </dgm:pt>
    <dgm:pt modelId="{2F284434-0F06-4F1B-A55F-2B0C2DC3FBB9}" type="pres">
      <dgm:prSet presAssocID="{4C363EF4-38CF-41D6-93CC-102D82B2882B}" presName="hierChild5" presStyleCnt="0"/>
      <dgm:spPr/>
    </dgm:pt>
    <dgm:pt modelId="{A53FEAC4-4D4A-4C29-8EB8-391083E9771F}" type="pres">
      <dgm:prSet presAssocID="{E786A222-99D8-4BA7-B98E-FE4EEB80E06B}" presName="Name37" presStyleLbl="parChTrans1D3" presStyleIdx="2" presStyleCnt="3"/>
      <dgm:spPr/>
    </dgm:pt>
    <dgm:pt modelId="{2ED3C874-2A95-4C51-A60E-C6FA3B97215E}" type="pres">
      <dgm:prSet presAssocID="{8F98089D-2D51-4E84-B965-516879E01477}" presName="hierRoot2" presStyleCnt="0">
        <dgm:presLayoutVars>
          <dgm:hierBranch val="init"/>
        </dgm:presLayoutVars>
      </dgm:prSet>
      <dgm:spPr/>
    </dgm:pt>
    <dgm:pt modelId="{51BDD0A9-0706-4ED5-B499-DE4FD91568D9}" type="pres">
      <dgm:prSet presAssocID="{8F98089D-2D51-4E84-B965-516879E01477}" presName="rootComposite" presStyleCnt="0"/>
      <dgm:spPr/>
    </dgm:pt>
    <dgm:pt modelId="{1A74E30D-1A0A-4DEB-8463-7AFAE731C390}" type="pres">
      <dgm:prSet presAssocID="{8F98089D-2D51-4E84-B965-516879E01477}" presName="rootText" presStyleLbl="node1" presStyleIdx="4" presStyleCnt="5">
        <dgm:presLayoutVars>
          <dgm:chMax/>
          <dgm:chPref val="3"/>
        </dgm:presLayoutVars>
      </dgm:prSet>
      <dgm:spPr/>
    </dgm:pt>
    <dgm:pt modelId="{EE60CD07-85CE-42CC-835C-744FD658ACF0}" type="pres">
      <dgm:prSet presAssocID="{8F98089D-2D51-4E84-B965-516879E01477}" presName="titleText2" presStyleLbl="fgAcc1" presStyleIdx="4" presStyleCnt="5">
        <dgm:presLayoutVars>
          <dgm:chMax val="0"/>
          <dgm:chPref val="0"/>
        </dgm:presLayoutVars>
      </dgm:prSet>
      <dgm:spPr/>
    </dgm:pt>
    <dgm:pt modelId="{102B0F43-3532-4CCB-9A9B-6122CC359A73}" type="pres">
      <dgm:prSet presAssocID="{8F98089D-2D51-4E84-B965-516879E01477}" presName="rootConnector" presStyleLbl="node3" presStyleIdx="0" presStyleCnt="0"/>
      <dgm:spPr/>
    </dgm:pt>
    <dgm:pt modelId="{FD3FDB4A-3033-4417-9E03-B52ACD610A22}" type="pres">
      <dgm:prSet presAssocID="{8F98089D-2D51-4E84-B965-516879E01477}" presName="hierChild4" presStyleCnt="0"/>
      <dgm:spPr/>
    </dgm:pt>
    <dgm:pt modelId="{62C1B558-835C-43EE-99F4-0E0D13D05709}" type="pres">
      <dgm:prSet presAssocID="{8F98089D-2D51-4E84-B965-516879E01477}" presName="hierChild5" presStyleCnt="0"/>
      <dgm:spPr/>
    </dgm:pt>
    <dgm:pt modelId="{8F1AD29E-1FF6-429C-943A-191D36FABB32}" type="pres">
      <dgm:prSet presAssocID="{4A1918F0-9371-4A76-B8CB-8AE547380A39}" presName="hierChild5" presStyleCnt="0"/>
      <dgm:spPr/>
    </dgm:pt>
    <dgm:pt modelId="{B09A98AB-E562-438C-B1E2-92BDE34D5178}" type="pres">
      <dgm:prSet presAssocID="{C22529A3-F046-4534-AF4C-B9D216F5DF4E}" presName="hierChild3" presStyleCnt="0"/>
      <dgm:spPr/>
    </dgm:pt>
  </dgm:ptLst>
  <dgm:cxnLst>
    <dgm:cxn modelId="{2292051C-E381-4EA6-81FC-EF81B595B745}" srcId="{5B84627D-3F56-462E-95B1-684C4B0EB639}" destId="{C22529A3-F046-4534-AF4C-B9D216F5DF4E}" srcOrd="0" destOrd="0" parTransId="{425B26AA-5937-4BBB-9A03-C5D980E65210}" sibTransId="{0A7B46E2-B93C-4740-A976-2A907370CBD9}"/>
    <dgm:cxn modelId="{9C870120-3BB1-4995-BA8B-58932AADEDF5}" type="presOf" srcId="{0A7B46E2-B93C-4740-A976-2A907370CBD9}" destId="{FA7C0E56-FC80-43B8-A33F-A06108629357}" srcOrd="0" destOrd="0" presId="urn:microsoft.com/office/officeart/2008/layout/NameandTitleOrganizationalChart"/>
    <dgm:cxn modelId="{6D14D629-8A8D-401F-BE6B-4EF5EAC1285A}" type="presOf" srcId="{1E1755A0-AD01-42CB-8E12-5D492FE45EEE}" destId="{BEB95201-B08E-4A4E-B8EA-6AC813366157}" srcOrd="0" destOrd="0" presId="urn:microsoft.com/office/officeart/2008/layout/NameandTitleOrganizationalChart"/>
    <dgm:cxn modelId="{D12DA32C-E658-4F35-B2CA-50146860A5A5}" type="presOf" srcId="{8F98089D-2D51-4E84-B965-516879E01477}" destId="{1A74E30D-1A0A-4DEB-8463-7AFAE731C390}" srcOrd="0" destOrd="0" presId="urn:microsoft.com/office/officeart/2008/layout/NameandTitleOrganizationalChart"/>
    <dgm:cxn modelId="{59D2F32E-B37B-497F-8B29-9D1A96E9B53F}" type="presOf" srcId="{8E700E84-417C-4E28-8249-E28E9DED63C9}" destId="{D8968E40-52C3-4977-AC43-B1BD4D59D4D4}" srcOrd="0" destOrd="0" presId="urn:microsoft.com/office/officeart/2008/layout/NameandTitleOrganizationalChart"/>
    <dgm:cxn modelId="{74679833-0F58-4E3D-88A1-6B5C1DCFC46F}" type="presOf" srcId="{35479BA4-6A6B-451D-9669-ABF019AA7452}" destId="{A94E054C-CE89-4F7F-AB12-95EB9B22F12A}" srcOrd="1" destOrd="0" presId="urn:microsoft.com/office/officeart/2008/layout/NameandTitleOrganizationalChart"/>
    <dgm:cxn modelId="{6B1C9E3D-50CD-439A-8129-AFDB6A1CE141}" type="presOf" srcId="{735A7B28-EDC0-417E-85C0-B7F47B67D4B7}" destId="{5344E2AF-F67E-470C-BEE1-E70E0D064AA2}" srcOrd="0" destOrd="0" presId="urn:microsoft.com/office/officeart/2008/layout/NameandTitleOrganizationalChart"/>
    <dgm:cxn modelId="{42A8FE3D-EC0C-4E6C-8715-5BFD5279C9A6}" type="presOf" srcId="{A6118B04-C491-4F7A-AB1E-43572E007FCB}" destId="{6D2B44AA-1DAA-4B86-B91A-D39B0AEAC06B}" srcOrd="1" destOrd="0" presId="urn:microsoft.com/office/officeart/2008/layout/NameandTitleOrganizationalChart"/>
    <dgm:cxn modelId="{68037465-F12D-48B6-9F1E-7805DFBF3106}" srcId="{C22529A3-F046-4534-AF4C-B9D216F5DF4E}" destId="{4A1918F0-9371-4A76-B8CB-8AE547380A39}" srcOrd="1" destOrd="0" parTransId="{706F7765-1535-4B91-BFDE-B9D6CA2BB23C}" sibTransId="{42CC9FE3-9751-46B4-9F8B-BF66715C5637}"/>
    <dgm:cxn modelId="{64484F6B-63A8-486D-B5FA-AE90AAB627ED}" type="presOf" srcId="{706F7765-1535-4B91-BFDE-B9D6CA2BB23C}" destId="{7B1E259E-5162-4BF9-ADCE-C38E870F2C13}" srcOrd="0" destOrd="0" presId="urn:microsoft.com/office/officeart/2008/layout/NameandTitleOrganizationalChart"/>
    <dgm:cxn modelId="{8B4B314F-9AFA-49DB-A6BF-AE06006AF45A}" srcId="{4A1918F0-9371-4A76-B8CB-8AE547380A39}" destId="{8F98089D-2D51-4E84-B965-516879E01477}" srcOrd="2" destOrd="0" parTransId="{E786A222-99D8-4BA7-B98E-FE4EEB80E06B}" sibTransId="{A124CCE8-5430-4A90-9350-32585E564900}"/>
    <dgm:cxn modelId="{9926BB58-1BE5-4F47-8CE0-285786F4125A}" type="presOf" srcId="{35479BA4-6A6B-451D-9669-ABF019AA7452}" destId="{AB6EB0CA-B427-4323-BA21-247E6AA0A840}" srcOrd="0" destOrd="0" presId="urn:microsoft.com/office/officeart/2008/layout/NameandTitleOrganizationalChart"/>
    <dgm:cxn modelId="{E3D9F87E-B794-431E-80F2-F211318B25D9}" type="presOf" srcId="{4A1918F0-9371-4A76-B8CB-8AE547380A39}" destId="{D0BB05D2-5FFB-465A-AC54-A9DC28D86E12}" srcOrd="0" destOrd="0" presId="urn:microsoft.com/office/officeart/2008/layout/NameandTitleOrganizationalChart"/>
    <dgm:cxn modelId="{39803581-1DF8-4465-A60C-D287E6C9CF51}" type="presOf" srcId="{C22529A3-F046-4534-AF4C-B9D216F5DF4E}" destId="{DB233929-0DC9-4A24-B74C-1FF77ED197C0}" srcOrd="0" destOrd="0" presId="urn:microsoft.com/office/officeart/2008/layout/NameandTitleOrganizationalChart"/>
    <dgm:cxn modelId="{7AA9B588-3131-4B3F-8EF1-7781983402EC}" type="presOf" srcId="{D182070F-E4B7-49B2-920A-3DB8F4ECDCEC}" destId="{0ED584D8-F454-4D54-BBB0-B418F45A9AC3}" srcOrd="0" destOrd="0" presId="urn:microsoft.com/office/officeart/2008/layout/NameandTitleOrganizationalChart"/>
    <dgm:cxn modelId="{A2B4058B-D35F-439A-92C2-FBE70567095C}" type="presOf" srcId="{4A1918F0-9371-4A76-B8CB-8AE547380A39}" destId="{6B9CCF1F-0829-42FB-9E8A-4CA85C2CCE94}" srcOrd="1" destOrd="0" presId="urn:microsoft.com/office/officeart/2008/layout/NameandTitleOrganizationalChart"/>
    <dgm:cxn modelId="{AC6E2B95-319C-4FA1-8DE7-12130D78DFF4}" type="presOf" srcId="{5B84627D-3F56-462E-95B1-684C4B0EB639}" destId="{A94CCF74-82A3-4CD0-B05C-7417BAC8439D}" srcOrd="0" destOrd="0" presId="urn:microsoft.com/office/officeart/2008/layout/NameandTitleOrganizationalChart"/>
    <dgm:cxn modelId="{891B0199-DFB7-499B-A26D-8DB9A15D47A9}" type="presOf" srcId="{8F98089D-2D51-4E84-B965-516879E01477}" destId="{102B0F43-3532-4CCB-9A9B-6122CC359A73}" srcOrd="1" destOrd="0" presId="urn:microsoft.com/office/officeart/2008/layout/NameandTitleOrganizationalChart"/>
    <dgm:cxn modelId="{ECB51A99-122F-4465-918B-FCB39AF12F3C}" type="presOf" srcId="{4C363EF4-38CF-41D6-93CC-102D82B2882B}" destId="{39068DD9-4878-4746-98AD-C2F3338BA8FB}" srcOrd="0" destOrd="0" presId="urn:microsoft.com/office/officeart/2008/layout/NameandTitleOrganizationalChart"/>
    <dgm:cxn modelId="{272B30A1-726A-4A82-97A4-8C8BFC93E2F1}" type="presOf" srcId="{FB997A03-5CE5-4623-A77D-E71BC4FC9EB8}" destId="{0DC617EC-7F65-494F-A7EE-C9D6DAEA4FC2}" srcOrd="0" destOrd="0" presId="urn:microsoft.com/office/officeart/2008/layout/NameandTitleOrganizationalChart"/>
    <dgm:cxn modelId="{9048BDA3-A91A-4567-82E4-7DBB43BCA0D6}" type="presOf" srcId="{73833532-BEF8-462C-9D4C-DCF48A627257}" destId="{E505EA05-3A58-4A6C-9629-507CC24324C3}" srcOrd="0" destOrd="0" presId="urn:microsoft.com/office/officeart/2008/layout/NameandTitleOrganizationalChart"/>
    <dgm:cxn modelId="{480E32A9-5A5B-45B3-9A9C-A6B94DF06AD2}" srcId="{4A1918F0-9371-4A76-B8CB-8AE547380A39}" destId="{4C363EF4-38CF-41D6-93CC-102D82B2882B}" srcOrd="1" destOrd="0" parTransId="{73833532-BEF8-462C-9D4C-DCF48A627257}" sibTransId="{735A7B28-EDC0-417E-85C0-B7F47B67D4B7}"/>
    <dgm:cxn modelId="{7EB5CEBB-1BC1-43BB-9185-AA853D59AF9C}" type="presOf" srcId="{C22529A3-F046-4534-AF4C-B9D216F5DF4E}" destId="{D9FE94E4-A379-4500-BD1C-A57A73DD3CFA}" srcOrd="1" destOrd="0" presId="urn:microsoft.com/office/officeart/2008/layout/NameandTitleOrganizationalChart"/>
    <dgm:cxn modelId="{D080D7C9-4AD0-4636-97C1-A2A4F78C6875}" type="presOf" srcId="{A124CCE8-5430-4A90-9350-32585E564900}" destId="{EE60CD07-85CE-42CC-835C-744FD658ACF0}" srcOrd="0" destOrd="0" presId="urn:microsoft.com/office/officeart/2008/layout/NameandTitleOrganizationalChart"/>
    <dgm:cxn modelId="{FF9AF1CE-2B25-41F0-A5F1-000B8BE045E1}" srcId="{4A1918F0-9371-4A76-B8CB-8AE547380A39}" destId="{35479BA4-6A6B-451D-9669-ABF019AA7452}" srcOrd="0" destOrd="0" parTransId="{8E700E84-417C-4E28-8249-E28E9DED63C9}" sibTransId="{FB997A03-5CE5-4623-A77D-E71BC4FC9EB8}"/>
    <dgm:cxn modelId="{E3CCF6D6-185F-420A-9DE5-ADE1F41398F7}" type="presOf" srcId="{4C363EF4-38CF-41D6-93CC-102D82B2882B}" destId="{D1BB68C9-8494-4692-8666-7433AB91A267}" srcOrd="1" destOrd="0" presId="urn:microsoft.com/office/officeart/2008/layout/NameandTitleOrganizationalChart"/>
    <dgm:cxn modelId="{10B2DDDA-992C-4CCD-A45E-2D0E74BC2522}" type="presOf" srcId="{E786A222-99D8-4BA7-B98E-FE4EEB80E06B}" destId="{A53FEAC4-4D4A-4C29-8EB8-391083E9771F}" srcOrd="0" destOrd="0" presId="urn:microsoft.com/office/officeart/2008/layout/NameandTitleOrganizationalChart"/>
    <dgm:cxn modelId="{1DB7F5DB-50CE-49D9-A8FF-10546C3ABFD8}" type="presOf" srcId="{A6118B04-C491-4F7A-AB1E-43572E007FCB}" destId="{BF0E3C4A-3EA9-4F1D-8EC0-013E979CBA7D}" srcOrd="0" destOrd="0" presId="urn:microsoft.com/office/officeart/2008/layout/NameandTitleOrganizationalChart"/>
    <dgm:cxn modelId="{B4C016E9-5FD9-4D33-9864-50ADAFC0728B}" type="presOf" srcId="{42CC9FE3-9751-46B4-9F8B-BF66715C5637}" destId="{09309397-BB7B-45D1-B9B2-3845C7B5C5EC}" srcOrd="0" destOrd="0" presId="urn:microsoft.com/office/officeart/2008/layout/NameandTitleOrganizationalChart"/>
    <dgm:cxn modelId="{F3C3AFEE-2BF9-4A0E-B166-CADD067C1269}" srcId="{C22529A3-F046-4534-AF4C-B9D216F5DF4E}" destId="{A6118B04-C491-4F7A-AB1E-43572E007FCB}" srcOrd="0" destOrd="0" parTransId="{1E1755A0-AD01-42CB-8E12-5D492FE45EEE}" sibTransId="{D182070F-E4B7-49B2-920A-3DB8F4ECDCEC}"/>
    <dgm:cxn modelId="{12F3A6BF-CE47-49F9-A0EB-0F270F35BB50}" type="presParOf" srcId="{A94CCF74-82A3-4CD0-B05C-7417BAC8439D}" destId="{EA455B02-9560-4AF9-BCC5-5D36FB225B2A}" srcOrd="0" destOrd="0" presId="urn:microsoft.com/office/officeart/2008/layout/NameandTitleOrganizationalChart"/>
    <dgm:cxn modelId="{A4722D58-B456-40E8-A338-AF30774F0599}" type="presParOf" srcId="{EA455B02-9560-4AF9-BCC5-5D36FB225B2A}" destId="{E16C55A6-7A06-4FBE-8298-2CC11195F5FF}" srcOrd="0" destOrd="0" presId="urn:microsoft.com/office/officeart/2008/layout/NameandTitleOrganizationalChart"/>
    <dgm:cxn modelId="{3B9AEF28-70C4-4BA6-93BB-E980B2FD91F8}" type="presParOf" srcId="{E16C55A6-7A06-4FBE-8298-2CC11195F5FF}" destId="{DB233929-0DC9-4A24-B74C-1FF77ED197C0}" srcOrd="0" destOrd="0" presId="urn:microsoft.com/office/officeart/2008/layout/NameandTitleOrganizationalChart"/>
    <dgm:cxn modelId="{AF7002A9-779B-49E2-A960-DAE61DAC0962}" type="presParOf" srcId="{E16C55A6-7A06-4FBE-8298-2CC11195F5FF}" destId="{FA7C0E56-FC80-43B8-A33F-A06108629357}" srcOrd="1" destOrd="0" presId="urn:microsoft.com/office/officeart/2008/layout/NameandTitleOrganizationalChart"/>
    <dgm:cxn modelId="{A0BDAA77-2CEE-4C44-A832-C591BE3EB0A9}" type="presParOf" srcId="{E16C55A6-7A06-4FBE-8298-2CC11195F5FF}" destId="{D9FE94E4-A379-4500-BD1C-A57A73DD3CFA}" srcOrd="2" destOrd="0" presId="urn:microsoft.com/office/officeart/2008/layout/NameandTitleOrganizationalChart"/>
    <dgm:cxn modelId="{8AFE8DAB-C379-41A5-9638-A1F4DC661E42}" type="presParOf" srcId="{EA455B02-9560-4AF9-BCC5-5D36FB225B2A}" destId="{58EDBF90-6DA4-4409-88F9-73FEB4D4CEF9}" srcOrd="1" destOrd="0" presId="urn:microsoft.com/office/officeart/2008/layout/NameandTitleOrganizationalChart"/>
    <dgm:cxn modelId="{5C362A33-9300-4562-9372-7C2CCCCA5BC2}" type="presParOf" srcId="{58EDBF90-6DA4-4409-88F9-73FEB4D4CEF9}" destId="{BEB95201-B08E-4A4E-B8EA-6AC813366157}" srcOrd="0" destOrd="0" presId="urn:microsoft.com/office/officeart/2008/layout/NameandTitleOrganizationalChart"/>
    <dgm:cxn modelId="{AEF659F1-2AAE-4555-912F-94EBA651BBF9}" type="presParOf" srcId="{58EDBF90-6DA4-4409-88F9-73FEB4D4CEF9}" destId="{2023E8B5-5D1A-4949-A6B2-057C63547A92}" srcOrd="1" destOrd="0" presId="urn:microsoft.com/office/officeart/2008/layout/NameandTitleOrganizationalChart"/>
    <dgm:cxn modelId="{3D17A5E5-9547-48D4-85C9-BFA7F010461F}" type="presParOf" srcId="{2023E8B5-5D1A-4949-A6B2-057C63547A92}" destId="{53D69815-C155-40A0-9E8D-264821E3E6AC}" srcOrd="0" destOrd="0" presId="urn:microsoft.com/office/officeart/2008/layout/NameandTitleOrganizationalChart"/>
    <dgm:cxn modelId="{B0EB0BF6-5E3D-4C24-931F-E30B4E31FF7F}" type="presParOf" srcId="{53D69815-C155-40A0-9E8D-264821E3E6AC}" destId="{BF0E3C4A-3EA9-4F1D-8EC0-013E979CBA7D}" srcOrd="0" destOrd="0" presId="urn:microsoft.com/office/officeart/2008/layout/NameandTitleOrganizationalChart"/>
    <dgm:cxn modelId="{28BE9A57-8D50-45F7-8CC6-91946C61BF9F}" type="presParOf" srcId="{53D69815-C155-40A0-9E8D-264821E3E6AC}" destId="{0ED584D8-F454-4D54-BBB0-B418F45A9AC3}" srcOrd="1" destOrd="0" presId="urn:microsoft.com/office/officeart/2008/layout/NameandTitleOrganizationalChart"/>
    <dgm:cxn modelId="{1C46BDDD-0081-4DDD-90B2-CDB67C2E4280}" type="presParOf" srcId="{53D69815-C155-40A0-9E8D-264821E3E6AC}" destId="{6D2B44AA-1DAA-4B86-B91A-D39B0AEAC06B}" srcOrd="2" destOrd="0" presId="urn:microsoft.com/office/officeart/2008/layout/NameandTitleOrganizationalChart"/>
    <dgm:cxn modelId="{DFE1BD03-4675-4E8C-9937-9E16D7F3FC44}" type="presParOf" srcId="{2023E8B5-5D1A-4949-A6B2-057C63547A92}" destId="{AB3C9C4C-F7D0-40EE-AB6D-3C4B46E2CFB4}" srcOrd="1" destOrd="0" presId="urn:microsoft.com/office/officeart/2008/layout/NameandTitleOrganizationalChart"/>
    <dgm:cxn modelId="{175D7E2C-9449-41BC-9D8C-18718BE027E5}" type="presParOf" srcId="{2023E8B5-5D1A-4949-A6B2-057C63547A92}" destId="{D561E80C-8E41-4FDC-9B3F-CCD3C0C80080}" srcOrd="2" destOrd="0" presId="urn:microsoft.com/office/officeart/2008/layout/NameandTitleOrganizationalChart"/>
    <dgm:cxn modelId="{0BD36687-47BA-4CCA-8093-E68773F3E0C5}" type="presParOf" srcId="{58EDBF90-6DA4-4409-88F9-73FEB4D4CEF9}" destId="{7B1E259E-5162-4BF9-ADCE-C38E870F2C13}" srcOrd="2" destOrd="0" presId="urn:microsoft.com/office/officeart/2008/layout/NameandTitleOrganizationalChart"/>
    <dgm:cxn modelId="{1D317EA2-D6F0-4CCF-A95B-1FC1C2C055A6}" type="presParOf" srcId="{58EDBF90-6DA4-4409-88F9-73FEB4D4CEF9}" destId="{459FD92E-E815-4EC4-9C18-FB23886AED24}" srcOrd="3" destOrd="0" presId="urn:microsoft.com/office/officeart/2008/layout/NameandTitleOrganizationalChart"/>
    <dgm:cxn modelId="{BA195772-CE8D-44A2-BE44-89CB48523FC6}" type="presParOf" srcId="{459FD92E-E815-4EC4-9C18-FB23886AED24}" destId="{1388BFDB-1876-43BF-AEEE-3D287A35E4F1}" srcOrd="0" destOrd="0" presId="urn:microsoft.com/office/officeart/2008/layout/NameandTitleOrganizationalChart"/>
    <dgm:cxn modelId="{9D93FD0A-F345-48B1-9BB4-08C782B702D6}" type="presParOf" srcId="{1388BFDB-1876-43BF-AEEE-3D287A35E4F1}" destId="{D0BB05D2-5FFB-465A-AC54-A9DC28D86E12}" srcOrd="0" destOrd="0" presId="urn:microsoft.com/office/officeart/2008/layout/NameandTitleOrganizationalChart"/>
    <dgm:cxn modelId="{3DD291C1-31FA-485E-80A5-0EA3EE259581}" type="presParOf" srcId="{1388BFDB-1876-43BF-AEEE-3D287A35E4F1}" destId="{09309397-BB7B-45D1-B9B2-3845C7B5C5EC}" srcOrd="1" destOrd="0" presId="urn:microsoft.com/office/officeart/2008/layout/NameandTitleOrganizationalChart"/>
    <dgm:cxn modelId="{3EE25392-92B5-4685-8673-1793F94B48A6}" type="presParOf" srcId="{1388BFDB-1876-43BF-AEEE-3D287A35E4F1}" destId="{6B9CCF1F-0829-42FB-9E8A-4CA85C2CCE94}" srcOrd="2" destOrd="0" presId="urn:microsoft.com/office/officeart/2008/layout/NameandTitleOrganizationalChart"/>
    <dgm:cxn modelId="{052A5950-CFCF-4483-8450-533067526C9C}" type="presParOf" srcId="{459FD92E-E815-4EC4-9C18-FB23886AED24}" destId="{4D0909B9-2A1C-4737-9D58-0E5F198D2DA4}" srcOrd="1" destOrd="0" presId="urn:microsoft.com/office/officeart/2008/layout/NameandTitleOrganizationalChart"/>
    <dgm:cxn modelId="{047909DD-7F87-4AEA-BF14-31604AB0E000}" type="presParOf" srcId="{4D0909B9-2A1C-4737-9D58-0E5F198D2DA4}" destId="{D8968E40-52C3-4977-AC43-B1BD4D59D4D4}" srcOrd="0" destOrd="0" presId="urn:microsoft.com/office/officeart/2008/layout/NameandTitleOrganizationalChart"/>
    <dgm:cxn modelId="{2CBA7067-5DB7-4360-8A18-81CA5181C938}" type="presParOf" srcId="{4D0909B9-2A1C-4737-9D58-0E5F198D2DA4}" destId="{038BE787-FE17-4D8B-98B3-FFF5A8BBA022}" srcOrd="1" destOrd="0" presId="urn:microsoft.com/office/officeart/2008/layout/NameandTitleOrganizationalChart"/>
    <dgm:cxn modelId="{C1B879CB-B26E-4C1D-8281-69CD030BD7AE}" type="presParOf" srcId="{038BE787-FE17-4D8B-98B3-FFF5A8BBA022}" destId="{C14D1A98-AC48-4AF7-81EF-D9CDF3FFEAD9}" srcOrd="0" destOrd="0" presId="urn:microsoft.com/office/officeart/2008/layout/NameandTitleOrganizationalChart"/>
    <dgm:cxn modelId="{9465A8CA-75FF-4C24-BCFE-5CE364F57ED9}" type="presParOf" srcId="{C14D1A98-AC48-4AF7-81EF-D9CDF3FFEAD9}" destId="{AB6EB0CA-B427-4323-BA21-247E6AA0A840}" srcOrd="0" destOrd="0" presId="urn:microsoft.com/office/officeart/2008/layout/NameandTitleOrganizationalChart"/>
    <dgm:cxn modelId="{2EBD29EA-29FF-480C-9AC6-652E971B51D0}" type="presParOf" srcId="{C14D1A98-AC48-4AF7-81EF-D9CDF3FFEAD9}" destId="{0DC617EC-7F65-494F-A7EE-C9D6DAEA4FC2}" srcOrd="1" destOrd="0" presId="urn:microsoft.com/office/officeart/2008/layout/NameandTitleOrganizationalChart"/>
    <dgm:cxn modelId="{992E0630-EC15-427D-8E95-004D29E84C1C}" type="presParOf" srcId="{C14D1A98-AC48-4AF7-81EF-D9CDF3FFEAD9}" destId="{A94E054C-CE89-4F7F-AB12-95EB9B22F12A}" srcOrd="2" destOrd="0" presId="urn:microsoft.com/office/officeart/2008/layout/NameandTitleOrganizationalChart"/>
    <dgm:cxn modelId="{228C2D68-7A8C-408D-808E-390CE655FE94}" type="presParOf" srcId="{038BE787-FE17-4D8B-98B3-FFF5A8BBA022}" destId="{3910C53C-3FFE-47AB-BF6D-D94BB23C1F18}" srcOrd="1" destOrd="0" presId="urn:microsoft.com/office/officeart/2008/layout/NameandTitleOrganizationalChart"/>
    <dgm:cxn modelId="{6EE27A64-E983-4387-8417-5D9F6759CB1A}" type="presParOf" srcId="{038BE787-FE17-4D8B-98B3-FFF5A8BBA022}" destId="{1FEDEE27-C8DA-470F-A7BA-AD07642F96F5}" srcOrd="2" destOrd="0" presId="urn:microsoft.com/office/officeart/2008/layout/NameandTitleOrganizationalChart"/>
    <dgm:cxn modelId="{E110EC4C-7161-431B-8415-1FB100B3D475}" type="presParOf" srcId="{4D0909B9-2A1C-4737-9D58-0E5F198D2DA4}" destId="{E505EA05-3A58-4A6C-9629-507CC24324C3}" srcOrd="2" destOrd="0" presId="urn:microsoft.com/office/officeart/2008/layout/NameandTitleOrganizationalChart"/>
    <dgm:cxn modelId="{37FF429E-4E59-4332-A58F-DD60DBCD6036}" type="presParOf" srcId="{4D0909B9-2A1C-4737-9D58-0E5F198D2DA4}" destId="{5C73527E-3F58-471A-ACF9-576CF4DA448D}" srcOrd="3" destOrd="0" presId="urn:microsoft.com/office/officeart/2008/layout/NameandTitleOrganizationalChart"/>
    <dgm:cxn modelId="{24A1A0AD-8006-40C7-904A-8A6EA5556D7F}" type="presParOf" srcId="{5C73527E-3F58-471A-ACF9-576CF4DA448D}" destId="{DBFE0E9D-8B4F-4F86-BBD3-4B3D29735939}" srcOrd="0" destOrd="0" presId="urn:microsoft.com/office/officeart/2008/layout/NameandTitleOrganizationalChart"/>
    <dgm:cxn modelId="{550B154D-30AD-4FE1-BB78-92D89BFF3414}" type="presParOf" srcId="{DBFE0E9D-8B4F-4F86-BBD3-4B3D29735939}" destId="{39068DD9-4878-4746-98AD-C2F3338BA8FB}" srcOrd="0" destOrd="0" presId="urn:microsoft.com/office/officeart/2008/layout/NameandTitleOrganizationalChart"/>
    <dgm:cxn modelId="{A90E1464-6773-480B-A450-B4940B088C59}" type="presParOf" srcId="{DBFE0E9D-8B4F-4F86-BBD3-4B3D29735939}" destId="{5344E2AF-F67E-470C-BEE1-E70E0D064AA2}" srcOrd="1" destOrd="0" presId="urn:microsoft.com/office/officeart/2008/layout/NameandTitleOrganizationalChart"/>
    <dgm:cxn modelId="{92158A44-585B-4DE0-87CA-5BDA4B53B231}" type="presParOf" srcId="{DBFE0E9D-8B4F-4F86-BBD3-4B3D29735939}" destId="{D1BB68C9-8494-4692-8666-7433AB91A267}" srcOrd="2" destOrd="0" presId="urn:microsoft.com/office/officeart/2008/layout/NameandTitleOrganizationalChart"/>
    <dgm:cxn modelId="{412073C5-D0E9-4E6C-8D33-EC7A27D820E2}" type="presParOf" srcId="{5C73527E-3F58-471A-ACF9-576CF4DA448D}" destId="{695087F0-2F73-4278-A971-27491786EA34}" srcOrd="1" destOrd="0" presId="urn:microsoft.com/office/officeart/2008/layout/NameandTitleOrganizationalChart"/>
    <dgm:cxn modelId="{01ECB761-FF6E-4B63-922C-FAA0EBA9E34D}" type="presParOf" srcId="{5C73527E-3F58-471A-ACF9-576CF4DA448D}" destId="{2F284434-0F06-4F1B-A55F-2B0C2DC3FBB9}" srcOrd="2" destOrd="0" presId="urn:microsoft.com/office/officeart/2008/layout/NameandTitleOrganizationalChart"/>
    <dgm:cxn modelId="{CD4E3FDF-3732-4EDE-8C8C-4ABABF8FA4A0}" type="presParOf" srcId="{4D0909B9-2A1C-4737-9D58-0E5F198D2DA4}" destId="{A53FEAC4-4D4A-4C29-8EB8-391083E9771F}" srcOrd="4" destOrd="0" presId="urn:microsoft.com/office/officeart/2008/layout/NameandTitleOrganizationalChart"/>
    <dgm:cxn modelId="{C9AA742E-D550-4EB0-83A3-8E40F0918D03}" type="presParOf" srcId="{4D0909B9-2A1C-4737-9D58-0E5F198D2DA4}" destId="{2ED3C874-2A95-4C51-A60E-C6FA3B97215E}" srcOrd="5" destOrd="0" presId="urn:microsoft.com/office/officeart/2008/layout/NameandTitleOrganizationalChart"/>
    <dgm:cxn modelId="{AC2CEBDF-7046-4311-99A6-7A5E3E6E2739}" type="presParOf" srcId="{2ED3C874-2A95-4C51-A60E-C6FA3B97215E}" destId="{51BDD0A9-0706-4ED5-B499-DE4FD91568D9}" srcOrd="0" destOrd="0" presId="urn:microsoft.com/office/officeart/2008/layout/NameandTitleOrganizationalChart"/>
    <dgm:cxn modelId="{F3F4D5D2-3F79-439E-A695-59836299EB1E}" type="presParOf" srcId="{51BDD0A9-0706-4ED5-B499-DE4FD91568D9}" destId="{1A74E30D-1A0A-4DEB-8463-7AFAE731C390}" srcOrd="0" destOrd="0" presId="urn:microsoft.com/office/officeart/2008/layout/NameandTitleOrganizationalChart"/>
    <dgm:cxn modelId="{67CD5F10-FD0E-40C0-BC88-042B1EEDE35B}" type="presParOf" srcId="{51BDD0A9-0706-4ED5-B499-DE4FD91568D9}" destId="{EE60CD07-85CE-42CC-835C-744FD658ACF0}" srcOrd="1" destOrd="0" presId="urn:microsoft.com/office/officeart/2008/layout/NameandTitleOrganizationalChart"/>
    <dgm:cxn modelId="{B5356AC5-D890-436C-A53E-7E0924FF5B23}" type="presParOf" srcId="{51BDD0A9-0706-4ED5-B499-DE4FD91568D9}" destId="{102B0F43-3532-4CCB-9A9B-6122CC359A73}" srcOrd="2" destOrd="0" presId="urn:microsoft.com/office/officeart/2008/layout/NameandTitleOrganizationalChart"/>
    <dgm:cxn modelId="{D23E0BD3-08E4-4169-9331-BC45A5D91829}" type="presParOf" srcId="{2ED3C874-2A95-4C51-A60E-C6FA3B97215E}" destId="{FD3FDB4A-3033-4417-9E03-B52ACD610A22}" srcOrd="1" destOrd="0" presId="urn:microsoft.com/office/officeart/2008/layout/NameandTitleOrganizationalChart"/>
    <dgm:cxn modelId="{B047AC92-AE5F-4875-9D2C-65C8B3A913C5}" type="presParOf" srcId="{2ED3C874-2A95-4C51-A60E-C6FA3B97215E}" destId="{62C1B558-835C-43EE-99F4-0E0D13D05709}" srcOrd="2" destOrd="0" presId="urn:microsoft.com/office/officeart/2008/layout/NameandTitleOrganizationalChart"/>
    <dgm:cxn modelId="{D04BA939-C8EB-4CEF-9ED4-AA9324978613}" type="presParOf" srcId="{459FD92E-E815-4EC4-9C18-FB23886AED24}" destId="{8F1AD29E-1FF6-429C-943A-191D36FABB32}" srcOrd="2" destOrd="0" presId="urn:microsoft.com/office/officeart/2008/layout/NameandTitleOrganizationalChart"/>
    <dgm:cxn modelId="{5A013A89-5F1C-4E3D-8F76-B3274D7FC52B}" type="presParOf" srcId="{EA455B02-9560-4AF9-BCC5-5D36FB225B2A}" destId="{B09A98AB-E562-438C-B1E2-92BDE34D517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250247" cy="3575693"/>
        <a:chOff x="0" y="0"/>
        <a:chExt cx="4250247" cy="3575693"/>
      </a:xfrm>
    </dsp:grpSpPr>
    <dsp:sp modelId="{BEB95201-B08E-4A4E-B8EA-6AC813366157}">
      <dsp:nvSpPr>
        <dsp:cNvPr id="6" name="任意多边形 5"/>
        <dsp:cNvSpPr/>
      </dsp:nvSpPr>
      <dsp:spPr bwMode="white">
        <a:xfrm>
          <a:off x="564892" y="1172794"/>
          <a:ext cx="751871" cy="304429"/>
        </a:xfrm>
        <a:custGeom>
          <a:avLst/>
          <a:gdLst/>
          <a:ahLst/>
          <a:cxnLst/>
          <a:pathLst>
            <a:path w="1184" h="479">
              <a:moveTo>
                <a:pt x="1184" y="0"/>
              </a:moveTo>
              <a:lnTo>
                <a:pt x="1184" y="274"/>
              </a:lnTo>
              <a:lnTo>
                <a:pt x="0" y="274"/>
              </a:lnTo>
              <a:lnTo>
                <a:pt x="0" y="47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64892" y="1172794"/>
        <a:ext cx="751871" cy="304429"/>
      </dsp:txXfrm>
    </dsp:sp>
    <dsp:sp modelId="{7B1E259E-5162-4BF9-ADCE-C38E870F2C13}">
      <dsp:nvSpPr>
        <dsp:cNvPr id="10" name="任意多边形 9"/>
        <dsp:cNvSpPr/>
      </dsp:nvSpPr>
      <dsp:spPr bwMode="white">
        <a:xfrm>
          <a:off x="1316763" y="1172794"/>
          <a:ext cx="751871" cy="304429"/>
        </a:xfrm>
        <a:custGeom>
          <a:avLst/>
          <a:gdLst/>
          <a:ahLst/>
          <a:cxnLst/>
          <a:pathLst>
            <a:path w="1184" h="479">
              <a:moveTo>
                <a:pt x="0" y="0"/>
              </a:moveTo>
              <a:lnTo>
                <a:pt x="0" y="274"/>
              </a:lnTo>
              <a:lnTo>
                <a:pt x="1184" y="274"/>
              </a:lnTo>
              <a:lnTo>
                <a:pt x="1184" y="47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316763" y="1172794"/>
        <a:ext cx="751871" cy="304429"/>
      </dsp:txXfrm>
    </dsp:sp>
    <dsp:sp modelId="{D8968E40-52C3-4977-AC43-B1BD4D59D4D4}">
      <dsp:nvSpPr>
        <dsp:cNvPr id="14" name="任意多边形 13"/>
        <dsp:cNvSpPr/>
      </dsp:nvSpPr>
      <dsp:spPr bwMode="white">
        <a:xfrm>
          <a:off x="564892" y="2036466"/>
          <a:ext cx="1503742" cy="304295"/>
        </a:xfrm>
        <a:custGeom>
          <a:avLst/>
          <a:gdLst/>
          <a:ahLst/>
          <a:cxnLst/>
          <a:pathLst>
            <a:path w="2368" h="479">
              <a:moveTo>
                <a:pt x="2368" y="0"/>
              </a:moveTo>
              <a:lnTo>
                <a:pt x="2368" y="274"/>
              </a:lnTo>
              <a:lnTo>
                <a:pt x="0" y="274"/>
              </a:lnTo>
              <a:lnTo>
                <a:pt x="0" y="479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64892" y="2036466"/>
        <a:ext cx="1503742" cy="304295"/>
      </dsp:txXfrm>
    </dsp:sp>
    <dsp:sp modelId="{E505EA05-3A58-4A6C-9629-507CC24324C3}">
      <dsp:nvSpPr>
        <dsp:cNvPr id="18" name="任意多边形 17"/>
        <dsp:cNvSpPr/>
      </dsp:nvSpPr>
      <dsp:spPr bwMode="white">
        <a:xfrm>
          <a:off x="2068634" y="2036466"/>
          <a:ext cx="0" cy="304295"/>
        </a:xfrm>
        <a:custGeom>
          <a:avLst/>
          <a:gdLst/>
          <a:ahLst/>
          <a:cxnLst/>
          <a:pathLst>
            <a:path h="479">
              <a:moveTo>
                <a:pt x="0" y="0"/>
              </a:moveTo>
              <a:lnTo>
                <a:pt x="0" y="274"/>
              </a:lnTo>
              <a:lnTo>
                <a:pt x="0" y="274"/>
              </a:lnTo>
              <a:lnTo>
                <a:pt x="0" y="479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068634" y="2036466"/>
        <a:ext cx="0" cy="304295"/>
      </dsp:txXfrm>
    </dsp:sp>
    <dsp:sp modelId="{A53FEAC4-4D4A-4C29-8EB8-391083E9771F}">
      <dsp:nvSpPr>
        <dsp:cNvPr id="22" name="任意多边形 21"/>
        <dsp:cNvSpPr/>
      </dsp:nvSpPr>
      <dsp:spPr bwMode="white">
        <a:xfrm>
          <a:off x="2068634" y="2036466"/>
          <a:ext cx="1503742" cy="304295"/>
        </a:xfrm>
        <a:custGeom>
          <a:avLst/>
          <a:gdLst/>
          <a:ahLst/>
          <a:cxnLst/>
          <a:pathLst>
            <a:path w="2368" h="479">
              <a:moveTo>
                <a:pt x="0" y="0"/>
              </a:moveTo>
              <a:lnTo>
                <a:pt x="0" y="274"/>
              </a:lnTo>
              <a:lnTo>
                <a:pt x="2368" y="274"/>
              </a:lnTo>
              <a:lnTo>
                <a:pt x="2368" y="479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068634" y="2036466"/>
        <a:ext cx="1503742" cy="304295"/>
      </dsp:txXfrm>
    </dsp:sp>
    <dsp:sp modelId="{DB233929-0DC9-4A24-B74C-1FF77ED197C0}">
      <dsp:nvSpPr>
        <dsp:cNvPr id="3" name="矩形 2"/>
        <dsp:cNvSpPr/>
      </dsp:nvSpPr>
      <dsp:spPr bwMode="white">
        <a:xfrm>
          <a:off x="751871" y="613551"/>
          <a:ext cx="1129784" cy="559243"/>
        </a:xfrm>
        <a:prstGeom prst="rect">
          <a:avLst/>
        </a:prstGeom>
        <a:solidFill>
          <a:prstClr val="white"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929F69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" tIns="7620" rIns="7620" bIns="8047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销售金额：</a:t>
          </a:r>
          <a:r>
            <a:rPr lang="en-US" altLang="zh-CN" sz="1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85,488,872</a:t>
          </a:r>
          <a:endParaRPr lang="zh-CN" altLang="en-US" sz="12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751871" y="613551"/>
        <a:ext cx="1129784" cy="559243"/>
      </dsp:txXfrm>
    </dsp:sp>
    <dsp:sp modelId="{FA7C0E56-FC80-43B8-A33F-A06108629357}">
      <dsp:nvSpPr>
        <dsp:cNvPr id="4" name="矩形 3"/>
        <dsp:cNvSpPr/>
      </dsp:nvSpPr>
      <dsp:spPr bwMode="white">
        <a:xfrm>
          <a:off x="977828" y="1067207"/>
          <a:ext cx="1016805" cy="149036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2860" tIns="5715" rIns="22860" bIns="5715" anchor="ctr"/>
        <a:lstStyle>
          <a:lvl1pPr algn="r">
            <a:defRPr sz="6500"/>
          </a:lvl1pPr>
          <a:lvl2pPr marL="285750" indent="-285750" algn="r">
            <a:defRPr sz="5000"/>
          </a:lvl2pPr>
          <a:lvl3pPr marL="571500" indent="-285750" algn="r">
            <a:defRPr sz="5000"/>
          </a:lvl3pPr>
          <a:lvl4pPr marL="857250" indent="-285750" algn="r">
            <a:defRPr sz="5000"/>
          </a:lvl4pPr>
          <a:lvl5pPr marL="1143000" indent="-285750" algn="r">
            <a:defRPr sz="5000"/>
          </a:lvl5pPr>
          <a:lvl6pPr marL="1428750" indent="-285750" algn="r">
            <a:defRPr sz="5000"/>
          </a:lvl6pPr>
          <a:lvl7pPr marL="1714500" indent="-285750" algn="r">
            <a:defRPr sz="5000"/>
          </a:lvl7pPr>
          <a:lvl8pPr marL="2000250" indent="-285750" algn="r">
            <a:defRPr sz="5000"/>
          </a:lvl8pPr>
          <a:lvl9pPr marL="2286000" indent="-285750" algn="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9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环比：</a:t>
          </a:r>
          <a:r>
            <a:rPr lang="en-US" altLang="zh-CN" sz="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4.45</a:t>
          </a:r>
          <a:r>
            <a:rPr lang="en-US" altLang="zh-CN" sz="900" b="0" i="0" u="none" strike="noStrik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%</a:t>
          </a:r>
          <a:endParaRPr lang="zh-CN" altLang="en-US" sz="900" b="0" i="0" u="none" strike="noStrike" kern="1200" dirty="0">
            <a:solidFill>
              <a:srgbClr val="FF0000"/>
            </a:solidFill>
            <a:effectLst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977828" y="1067207"/>
        <a:ext cx="1016805" cy="149036"/>
      </dsp:txXfrm>
    </dsp:sp>
    <dsp:sp modelId="{BF0E3C4A-3EA9-4F1D-8EC0-013E979CBA7D}">
      <dsp:nvSpPr>
        <dsp:cNvPr id="7" name="矩形 6"/>
        <dsp:cNvSpPr/>
      </dsp:nvSpPr>
      <dsp:spPr bwMode="white">
        <a:xfrm>
          <a:off x="0" y="1477223"/>
          <a:ext cx="1129784" cy="559243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7620" tIns="7620" rIns="7620" bIns="78915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平均价格：</a:t>
          </a:r>
          <a:endParaRPr lang="en-US" altLang="zh-CN" sz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i="0" dirty="0">
              <a:solidFill>
                <a:schemeClr val="dk1"/>
              </a:solidFill>
            </a:rPr>
            <a:t>72.15</a:t>
          </a:r>
          <a:endParaRPr lang="zh-CN" altLang="zh-CN" sz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477223"/>
        <a:ext cx="1129784" cy="559243"/>
      </dsp:txXfrm>
    </dsp:sp>
    <dsp:sp modelId="{0ED584D8-F454-4D54-BBB0-B418F45A9AC3}">
      <dsp:nvSpPr>
        <dsp:cNvPr id="8" name="矩形 7"/>
        <dsp:cNvSpPr/>
      </dsp:nvSpPr>
      <dsp:spPr bwMode="white">
        <a:xfrm>
          <a:off x="225957" y="1930879"/>
          <a:ext cx="1016805" cy="149036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2860" tIns="5715" rIns="22860" bIns="5715" anchor="ctr"/>
        <a:lstStyle>
          <a:lvl1pPr algn="r">
            <a:defRPr sz="6500"/>
          </a:lvl1pPr>
          <a:lvl2pPr marL="285750" indent="-285750" algn="r">
            <a:defRPr sz="5000"/>
          </a:lvl2pPr>
          <a:lvl3pPr marL="571500" indent="-285750" algn="r">
            <a:defRPr sz="5000"/>
          </a:lvl3pPr>
          <a:lvl4pPr marL="857250" indent="-285750" algn="r">
            <a:defRPr sz="5000"/>
          </a:lvl4pPr>
          <a:lvl5pPr marL="1143000" indent="-285750" algn="r">
            <a:defRPr sz="5000"/>
          </a:lvl5pPr>
          <a:lvl6pPr marL="1428750" indent="-285750" algn="r">
            <a:defRPr sz="5000"/>
          </a:lvl6pPr>
          <a:lvl7pPr marL="1714500" indent="-285750" algn="r">
            <a:defRPr sz="5000"/>
          </a:lvl7pPr>
          <a:lvl8pPr marL="2000250" indent="-285750" algn="r">
            <a:defRPr sz="5000"/>
          </a:lvl8pPr>
          <a:lvl9pPr marL="2286000" indent="-285750" algn="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9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同比：</a:t>
          </a:r>
          <a:r>
            <a:rPr lang="en-US" altLang="zh-CN" sz="900" kern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-1.74</a:t>
          </a:r>
          <a:r>
            <a:rPr lang="en-US" altLang="zh-CN" sz="900" kern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%</a:t>
          </a:r>
          <a:endParaRPr lang="zh-CN" altLang="en-US" sz="900" kern="1200" dirty="0">
            <a:solidFill>
              <a:srgbClr val="00B05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5957" y="1930879"/>
        <a:ext cx="1016805" cy="149036"/>
      </dsp:txXfrm>
    </dsp:sp>
    <dsp:sp modelId="{D0BB05D2-5FFB-465A-AC54-A9DC28D86E12}">
      <dsp:nvSpPr>
        <dsp:cNvPr id="11" name="矩形 10"/>
        <dsp:cNvSpPr/>
      </dsp:nvSpPr>
      <dsp:spPr bwMode="white">
        <a:xfrm>
          <a:off x="1503742" y="1477223"/>
          <a:ext cx="1129784" cy="559243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7620" tIns="7620" rIns="7620" bIns="78915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销量：</a:t>
          </a:r>
          <a:endParaRPr lang="en-US" altLang="zh-CN" sz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200" b="1" i="0" dirty="0">
              <a:solidFill>
                <a:schemeClr val="dk1"/>
              </a:solidFill>
            </a:rPr>
            <a:t>1,184,869</a:t>
          </a:r>
          <a:endParaRPr lang="zh-CN" altLang="en-US" sz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3742" y="1477223"/>
        <a:ext cx="1129784" cy="559243"/>
      </dsp:txXfrm>
    </dsp:sp>
    <dsp:sp modelId="{09309397-BB7B-45D1-B9B2-3845C7B5C5EC}">
      <dsp:nvSpPr>
        <dsp:cNvPr id="12" name="矩形 11"/>
        <dsp:cNvSpPr/>
      </dsp:nvSpPr>
      <dsp:spPr bwMode="white">
        <a:xfrm>
          <a:off x="1729699" y="1931013"/>
          <a:ext cx="1016805" cy="148768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2860" tIns="5715" rIns="22860" bIns="5715" anchor="ctr"/>
        <a:lstStyle>
          <a:lvl1pPr algn="r">
            <a:defRPr sz="6500"/>
          </a:lvl1pPr>
          <a:lvl2pPr marL="285750" indent="-285750" algn="r">
            <a:defRPr sz="5000"/>
          </a:lvl2pPr>
          <a:lvl3pPr marL="571500" indent="-285750" algn="r">
            <a:defRPr sz="5000"/>
          </a:lvl3pPr>
          <a:lvl4pPr marL="857250" indent="-285750" algn="r">
            <a:defRPr sz="5000"/>
          </a:lvl4pPr>
          <a:lvl5pPr marL="1143000" indent="-285750" algn="r">
            <a:defRPr sz="5000"/>
          </a:lvl5pPr>
          <a:lvl6pPr marL="1428750" indent="-285750" algn="r">
            <a:defRPr sz="5000"/>
          </a:lvl6pPr>
          <a:lvl7pPr marL="1714500" indent="-285750" algn="r">
            <a:defRPr sz="5000"/>
          </a:lvl7pPr>
          <a:lvl8pPr marL="2000250" indent="-285750" algn="r">
            <a:defRPr sz="5000"/>
          </a:lvl8pPr>
          <a:lvl9pPr marL="2286000" indent="-285750" algn="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9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同比：</a:t>
          </a:r>
          <a:r>
            <a:rPr lang="en-US" altLang="zh-CN" sz="9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6.31%</a:t>
          </a:r>
          <a:endParaRPr lang="zh-CN" altLang="en-US" sz="9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729699" y="1931013"/>
        <a:ext cx="1016805" cy="148768"/>
      </dsp:txXfrm>
    </dsp:sp>
    <dsp:sp modelId="{AB6EB0CA-B427-4323-BA21-247E6AA0A840}">
      <dsp:nvSpPr>
        <dsp:cNvPr id="15" name="矩形 14"/>
        <dsp:cNvSpPr/>
      </dsp:nvSpPr>
      <dsp:spPr bwMode="white">
        <a:xfrm>
          <a:off x="0" y="2340761"/>
          <a:ext cx="1129784" cy="559243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7620" tIns="7620" rIns="7620" bIns="78915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人均购买量</a:t>
          </a:r>
          <a:endParaRPr lang="en-US" altLang="zh-CN" sz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200" b="1" i="0" dirty="0">
              <a:solidFill>
                <a:schemeClr val="dk1"/>
              </a:solidFill>
            </a:rPr>
            <a:t>2.15</a:t>
          </a:r>
          <a:endParaRPr lang="zh-CN" altLang="en-US" sz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340761"/>
        <a:ext cx="1129784" cy="559243"/>
      </dsp:txXfrm>
    </dsp:sp>
    <dsp:sp modelId="{0DC617EC-7F65-494F-A7EE-C9D6DAEA4FC2}">
      <dsp:nvSpPr>
        <dsp:cNvPr id="16" name="矩形 15"/>
        <dsp:cNvSpPr/>
      </dsp:nvSpPr>
      <dsp:spPr bwMode="white">
        <a:xfrm>
          <a:off x="225957" y="2794417"/>
          <a:ext cx="1016805" cy="149036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2860" tIns="5715" rIns="22860" bIns="5715" anchor="ctr"/>
        <a:lstStyle>
          <a:lvl1pPr algn="r">
            <a:defRPr sz="6500"/>
          </a:lvl1pPr>
          <a:lvl2pPr marL="285750" indent="-285750" algn="r">
            <a:defRPr sz="5000"/>
          </a:lvl2pPr>
          <a:lvl3pPr marL="571500" indent="-285750" algn="r">
            <a:defRPr sz="5000"/>
          </a:lvl3pPr>
          <a:lvl4pPr marL="857250" indent="-285750" algn="r">
            <a:defRPr sz="5000"/>
          </a:lvl4pPr>
          <a:lvl5pPr marL="1143000" indent="-285750" algn="r">
            <a:defRPr sz="5000"/>
          </a:lvl5pPr>
          <a:lvl6pPr marL="1428750" indent="-285750" algn="r">
            <a:defRPr sz="5000"/>
          </a:lvl6pPr>
          <a:lvl7pPr marL="1714500" indent="-285750" algn="r">
            <a:defRPr sz="5000"/>
          </a:lvl7pPr>
          <a:lvl8pPr marL="2000250" indent="-285750" algn="r">
            <a:defRPr sz="5000"/>
          </a:lvl8pPr>
          <a:lvl9pPr marL="2286000" indent="-285750" algn="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9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同比：</a:t>
          </a:r>
          <a:r>
            <a:rPr lang="en-US" altLang="zh-CN" sz="900" kern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-3.79%</a:t>
          </a:r>
          <a:endParaRPr lang="zh-CN" altLang="en-US" sz="900" kern="1200" dirty="0">
            <a:solidFill>
              <a:srgbClr val="00B050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225957" y="2794417"/>
        <a:ext cx="1016805" cy="149036"/>
      </dsp:txXfrm>
    </dsp:sp>
    <dsp:sp modelId="{39068DD9-4878-4746-98AD-C2F3338BA8FB}">
      <dsp:nvSpPr>
        <dsp:cNvPr id="19" name="矩形 18"/>
        <dsp:cNvSpPr/>
      </dsp:nvSpPr>
      <dsp:spPr bwMode="white">
        <a:xfrm>
          <a:off x="1503742" y="2340761"/>
          <a:ext cx="1129784" cy="559243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7620" tIns="7620" rIns="7620" bIns="78915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购买人数：</a:t>
          </a:r>
          <a:endParaRPr lang="en-US" altLang="zh-CN" sz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200" b="1" i="0" dirty="0">
              <a:solidFill>
                <a:schemeClr val="dk1"/>
              </a:solidFill>
            </a:rPr>
            <a:t>551,023</a:t>
          </a:r>
          <a:endParaRPr lang="zh-CN" altLang="en-US" sz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3742" y="2340761"/>
        <a:ext cx="1129784" cy="559243"/>
      </dsp:txXfrm>
    </dsp:sp>
    <dsp:sp modelId="{5344E2AF-F67E-470C-BEE1-E70E0D064AA2}">
      <dsp:nvSpPr>
        <dsp:cNvPr id="20" name="矩形 19"/>
        <dsp:cNvSpPr/>
      </dsp:nvSpPr>
      <dsp:spPr bwMode="white">
        <a:xfrm>
          <a:off x="1729699" y="2794014"/>
          <a:ext cx="1016805" cy="149842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</a:schemeClr>
        </a:solidFill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2860" tIns="5715" rIns="22860" bIns="5715" anchor="ctr"/>
        <a:lstStyle>
          <a:lvl1pPr algn="r">
            <a:defRPr sz="6500"/>
          </a:lvl1pPr>
          <a:lvl2pPr marL="285750" indent="-285750" algn="r">
            <a:defRPr sz="5000"/>
          </a:lvl2pPr>
          <a:lvl3pPr marL="571500" indent="-285750" algn="r">
            <a:defRPr sz="5000"/>
          </a:lvl3pPr>
          <a:lvl4pPr marL="857250" indent="-285750" algn="r">
            <a:defRPr sz="5000"/>
          </a:lvl4pPr>
          <a:lvl5pPr marL="1143000" indent="-285750" algn="r">
            <a:defRPr sz="5000"/>
          </a:lvl5pPr>
          <a:lvl6pPr marL="1428750" indent="-285750" algn="r">
            <a:defRPr sz="5000"/>
          </a:lvl6pPr>
          <a:lvl7pPr marL="1714500" indent="-285750" algn="r">
            <a:defRPr sz="5000"/>
          </a:lvl7pPr>
          <a:lvl8pPr marL="2000250" indent="-285750" algn="r">
            <a:defRPr sz="5000"/>
          </a:lvl8pPr>
          <a:lvl9pPr marL="2286000" indent="-285750" algn="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9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同比：</a:t>
          </a:r>
          <a:r>
            <a:rPr lang="en-US" altLang="zh-CN" sz="9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10.49%</a:t>
          </a:r>
          <a:endParaRPr lang="zh-CN" altLang="en-US" sz="9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729699" y="2794014"/>
        <a:ext cx="1016805" cy="149842"/>
      </dsp:txXfrm>
    </dsp:sp>
    <dsp:sp modelId="{1A74E30D-1A0A-4DEB-8463-7AFAE731C390}">
      <dsp:nvSpPr>
        <dsp:cNvPr id="23" name="矩形 22"/>
        <dsp:cNvSpPr/>
      </dsp:nvSpPr>
      <dsp:spPr bwMode="white">
        <a:xfrm>
          <a:off x="3007484" y="2340761"/>
          <a:ext cx="1129784" cy="559243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7620" tIns="7620" rIns="7620" bIns="78915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购买频次：</a:t>
          </a:r>
          <a:endParaRPr lang="en-US" altLang="zh-CN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200" b="1" i="0">
              <a:solidFill>
                <a:schemeClr val="dk1"/>
              </a:solidFill>
            </a:rPr>
            <a:t>1.92</a:t>
          </a:r>
          <a:endParaRPr lang="zh-CN" altLang="en-US" sz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007484" y="2340761"/>
        <a:ext cx="1129784" cy="559243"/>
      </dsp:txXfrm>
    </dsp:sp>
    <dsp:sp modelId="{EE60CD07-85CE-42CC-835C-744FD658ACF0}">
      <dsp:nvSpPr>
        <dsp:cNvPr id="24" name="矩形 23"/>
        <dsp:cNvSpPr/>
      </dsp:nvSpPr>
      <dsp:spPr bwMode="white">
        <a:xfrm>
          <a:off x="3233441" y="2775728"/>
          <a:ext cx="1016805" cy="186414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2860" tIns="5715" rIns="22860" bIns="5715" anchor="ctr"/>
        <a:lstStyle>
          <a:lvl1pPr algn="r">
            <a:defRPr sz="6500"/>
          </a:lvl1pPr>
          <a:lvl2pPr marL="285750" indent="-285750" algn="r">
            <a:defRPr sz="5000"/>
          </a:lvl2pPr>
          <a:lvl3pPr marL="571500" indent="-285750" algn="r">
            <a:defRPr sz="5000"/>
          </a:lvl3pPr>
          <a:lvl4pPr marL="857250" indent="-285750" algn="r">
            <a:defRPr sz="5000"/>
          </a:lvl4pPr>
          <a:lvl5pPr marL="1143000" indent="-285750" algn="r">
            <a:defRPr sz="5000"/>
          </a:lvl5pPr>
          <a:lvl6pPr marL="1428750" indent="-285750" algn="r">
            <a:defRPr sz="5000"/>
          </a:lvl6pPr>
          <a:lvl7pPr marL="1714500" indent="-285750" algn="r">
            <a:defRPr sz="5000"/>
          </a:lvl7pPr>
          <a:lvl8pPr marL="2000250" indent="-285750" algn="r">
            <a:defRPr sz="5000"/>
          </a:lvl8pPr>
          <a:lvl9pPr marL="2286000" indent="-285750" algn="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同比：</a:t>
          </a:r>
          <a:r>
            <a:rPr lang="en-US" altLang="zh-CN" sz="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10.49%</a:t>
          </a:r>
          <a:endParaRPr lang="zh-CN" altLang="en-US" sz="9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233441" y="2775728"/>
        <a:ext cx="1016805" cy="186414"/>
      </dsp:txXfrm>
    </dsp:sp>
    <dsp:sp modelId="{D9FE94E4-A379-4500-BD1C-A57A73DD3CFA}">
      <dsp:nvSpPr>
        <dsp:cNvPr id="5" name="矩形 4" hidden="1"/>
        <dsp:cNvSpPr/>
      </dsp:nvSpPr>
      <dsp:spPr>
        <a:xfrm>
          <a:off x="751871" y="613551"/>
          <a:ext cx="225957" cy="559243"/>
        </a:xfrm>
        <a:prstGeom prst="rect">
          <a:avLst/>
        </a:prstGeom>
      </dsp:spPr>
      <dsp:txXfrm>
        <a:off x="751871" y="613551"/>
        <a:ext cx="225957" cy="559243"/>
      </dsp:txXfrm>
    </dsp:sp>
    <dsp:sp modelId="{6D2B44AA-1DAA-4B86-B91A-D39B0AEAC06B}">
      <dsp:nvSpPr>
        <dsp:cNvPr id="9" name="矩形 8" hidden="1"/>
        <dsp:cNvSpPr/>
      </dsp:nvSpPr>
      <dsp:spPr>
        <a:xfrm>
          <a:off x="0" y="1477223"/>
          <a:ext cx="225957" cy="559243"/>
        </a:xfrm>
        <a:prstGeom prst="rect">
          <a:avLst/>
        </a:prstGeom>
      </dsp:spPr>
      <dsp:txXfrm>
        <a:off x="0" y="1477223"/>
        <a:ext cx="225957" cy="559243"/>
      </dsp:txXfrm>
    </dsp:sp>
    <dsp:sp modelId="{6B9CCF1F-0829-42FB-9E8A-4CA85C2CCE94}">
      <dsp:nvSpPr>
        <dsp:cNvPr id="13" name="矩形 12" hidden="1"/>
        <dsp:cNvSpPr/>
      </dsp:nvSpPr>
      <dsp:spPr>
        <a:xfrm>
          <a:off x="1503742" y="1477223"/>
          <a:ext cx="225957" cy="559243"/>
        </a:xfrm>
        <a:prstGeom prst="rect">
          <a:avLst/>
        </a:prstGeom>
      </dsp:spPr>
      <dsp:txXfrm>
        <a:off x="1503742" y="1477223"/>
        <a:ext cx="225957" cy="559243"/>
      </dsp:txXfrm>
    </dsp:sp>
    <dsp:sp modelId="{A94E054C-CE89-4F7F-AB12-95EB9B22F12A}">
      <dsp:nvSpPr>
        <dsp:cNvPr id="17" name="矩形 16" hidden="1"/>
        <dsp:cNvSpPr/>
      </dsp:nvSpPr>
      <dsp:spPr>
        <a:xfrm>
          <a:off x="0" y="2340761"/>
          <a:ext cx="225957" cy="559243"/>
        </a:xfrm>
        <a:prstGeom prst="rect">
          <a:avLst/>
        </a:prstGeom>
      </dsp:spPr>
      <dsp:txXfrm>
        <a:off x="0" y="2340761"/>
        <a:ext cx="225957" cy="559243"/>
      </dsp:txXfrm>
    </dsp:sp>
    <dsp:sp modelId="{D1BB68C9-8494-4692-8666-7433AB91A267}">
      <dsp:nvSpPr>
        <dsp:cNvPr id="21" name="矩形 20" hidden="1"/>
        <dsp:cNvSpPr/>
      </dsp:nvSpPr>
      <dsp:spPr>
        <a:xfrm>
          <a:off x="1503742" y="2340761"/>
          <a:ext cx="225957" cy="559243"/>
        </a:xfrm>
        <a:prstGeom prst="rect">
          <a:avLst/>
        </a:prstGeom>
      </dsp:spPr>
      <dsp:txXfrm>
        <a:off x="1503742" y="2340761"/>
        <a:ext cx="225957" cy="559243"/>
      </dsp:txXfrm>
    </dsp:sp>
    <dsp:sp modelId="{102B0F43-3532-4CCB-9A9B-6122CC359A73}">
      <dsp:nvSpPr>
        <dsp:cNvPr id="25" name="矩形 24" hidden="1"/>
        <dsp:cNvSpPr/>
      </dsp:nvSpPr>
      <dsp:spPr>
        <a:xfrm>
          <a:off x="3007484" y="2340761"/>
          <a:ext cx="225957" cy="559243"/>
        </a:xfrm>
        <a:prstGeom prst="rect">
          <a:avLst/>
        </a:prstGeom>
      </dsp:spPr>
      <dsp:txXfrm>
        <a:off x="3007484" y="2340761"/>
        <a:ext cx="225957" cy="559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73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77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90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94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11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15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2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1AAE9-9DBE-4289-AAAF-95118310B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51AFD-473D-488B-85D6-9A7D630D9B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934" y="2197100"/>
            <a:ext cx="3262229" cy="3251498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1918468" y="-492101"/>
            <a:ext cx="426720" cy="42672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2" name="矩形 11"/>
          <p:cNvSpPr/>
          <p:nvPr userDrawn="1"/>
        </p:nvSpPr>
        <p:spPr>
          <a:xfrm>
            <a:off x="959234" y="-492101"/>
            <a:ext cx="426720" cy="426720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0" y="-492101"/>
            <a:ext cx="426720" cy="426720"/>
          </a:xfrm>
          <a:prstGeom prst="rect">
            <a:avLst/>
          </a:prstGeom>
          <a:solidFill>
            <a:srgbClr val="929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b="1" dirty="0"/>
          </a:p>
        </p:txBody>
      </p:sp>
      <p:sp>
        <p:nvSpPr>
          <p:cNvPr id="14" name="矩形 13"/>
          <p:cNvSpPr/>
          <p:nvPr userDrawn="1"/>
        </p:nvSpPr>
        <p:spPr>
          <a:xfrm>
            <a:off x="2398085" y="-492101"/>
            <a:ext cx="426720" cy="42672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1438851" y="-492101"/>
            <a:ext cx="426720" cy="426720"/>
          </a:xfrm>
          <a:prstGeom prst="rect">
            <a:avLst/>
          </a:prstGeom>
          <a:solidFill>
            <a:srgbClr val="929F6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79617" y="-492101"/>
            <a:ext cx="426720" cy="426720"/>
          </a:xfrm>
          <a:prstGeom prst="rect">
            <a:avLst/>
          </a:prstGeom>
          <a:solidFill>
            <a:srgbClr val="C5D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426582" y="100179"/>
            <a:ext cx="1545612" cy="952108"/>
            <a:chOff x="6750236" y="600140"/>
            <a:chExt cx="2564217" cy="1579576"/>
          </a:xfrm>
        </p:grpSpPr>
        <p:grpSp>
          <p:nvGrpSpPr>
            <p:cNvPr id="26" name="组合 25"/>
            <p:cNvGrpSpPr/>
            <p:nvPr/>
          </p:nvGrpSpPr>
          <p:grpSpPr>
            <a:xfrm>
              <a:off x="6750236" y="600140"/>
              <a:ext cx="2564217" cy="1579576"/>
              <a:chOff x="10300773" y="811026"/>
              <a:chExt cx="1025040" cy="631432"/>
            </a:xfrm>
          </p:grpSpPr>
          <p:pic>
            <p:nvPicPr>
              <p:cNvPr id="30" name="图片 29"/>
              <p:cNvPicPr>
                <a:picLocks noChangeAspect="1"/>
              </p:cNvPicPr>
              <p:nvPr userDrawn="1"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57" t="41135" r="78545" b="41090"/>
              <a:stretch>
                <a:fillRect/>
              </a:stretch>
            </p:blipFill>
            <p:spPr>
              <a:xfrm>
                <a:off x="10300773" y="811026"/>
                <a:ext cx="460133" cy="552692"/>
              </a:xfrm>
              <a:prstGeom prst="rect">
                <a:avLst/>
              </a:prstGeom>
            </p:spPr>
          </p:pic>
          <p:pic>
            <p:nvPicPr>
              <p:cNvPr id="31" name="图片 30"/>
              <p:cNvPicPr>
                <a:picLocks noChangeAspect="1"/>
              </p:cNvPicPr>
              <p:nvPr userDrawn="1"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011" t="41135" r="5821" b="41090"/>
              <a:stretch>
                <a:fillRect/>
              </a:stretch>
            </p:blipFill>
            <p:spPr>
              <a:xfrm>
                <a:off x="10760906" y="889766"/>
                <a:ext cx="564907" cy="552692"/>
              </a:xfrm>
              <a:prstGeom prst="rect">
                <a:avLst/>
              </a:prstGeom>
            </p:spPr>
          </p:pic>
        </p:grp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7121" y="1193781"/>
              <a:ext cx="2406196" cy="508526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 userDrawn="1"/>
        </p:nvGrpSpPr>
        <p:grpSpPr>
          <a:xfrm>
            <a:off x="551385" y="163035"/>
            <a:ext cx="1595309" cy="261610"/>
            <a:chOff x="551385" y="163035"/>
            <a:chExt cx="1595309" cy="261610"/>
          </a:xfrm>
        </p:grpSpPr>
        <p:sp>
          <p:nvSpPr>
            <p:cNvPr id="27" name="文本框 26"/>
            <p:cNvSpPr txBox="1"/>
            <p:nvPr userDrawn="1"/>
          </p:nvSpPr>
          <p:spPr>
            <a:xfrm>
              <a:off x="551385" y="163035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0" i="0" dirty="0">
                  <a:solidFill>
                    <a:srgbClr val="B3ADB5"/>
                  </a:solidFill>
                  <a:latin typeface="+mj-lt"/>
                  <a:ea typeface="阿里巴巴普惠体 R" panose="00020600040101010101" pitchFamily="18" charset="-122"/>
                </a:rPr>
                <a:t>儿童食养脾胃市场分析</a:t>
              </a:r>
              <a:endParaRPr lang="zh-CN" altLang="en-US" sz="1100" b="0" i="0" dirty="0">
                <a:solidFill>
                  <a:srgbClr val="B3ADB5"/>
                </a:solidFill>
                <a:latin typeface="+mj-lt"/>
                <a:ea typeface="阿里巴巴普惠体 R" panose="00020600040101010101" pitchFamily="18" charset="-122"/>
              </a:endParaRPr>
            </a:p>
          </p:txBody>
        </p:sp>
        <p:sp>
          <p:nvSpPr>
            <p:cNvPr id="28" name="矩形 27"/>
            <p:cNvSpPr/>
            <p:nvPr userDrawn="1"/>
          </p:nvSpPr>
          <p:spPr>
            <a:xfrm>
              <a:off x="551385" y="257498"/>
              <a:ext cx="72684" cy="72684"/>
            </a:xfrm>
            <a:prstGeom prst="rect">
              <a:avLst/>
            </a:prstGeom>
            <a:solidFill>
              <a:srgbClr val="B3AD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solidFill>
                  <a:schemeClr val="bg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16" name="矩形 15"/>
          <p:cNvSpPr/>
          <p:nvPr userDrawn="1"/>
        </p:nvSpPr>
        <p:spPr>
          <a:xfrm>
            <a:off x="1918468" y="-492101"/>
            <a:ext cx="426720" cy="42672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7" name="矩形 16"/>
          <p:cNvSpPr/>
          <p:nvPr userDrawn="1"/>
        </p:nvSpPr>
        <p:spPr>
          <a:xfrm>
            <a:off x="959234" y="-492101"/>
            <a:ext cx="426720" cy="426720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0" y="-492101"/>
            <a:ext cx="426720" cy="426720"/>
          </a:xfrm>
          <a:prstGeom prst="rect">
            <a:avLst/>
          </a:prstGeom>
          <a:solidFill>
            <a:srgbClr val="929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b="1" dirty="0"/>
          </a:p>
        </p:txBody>
      </p:sp>
      <p:sp>
        <p:nvSpPr>
          <p:cNvPr id="19" name="矩形 18"/>
          <p:cNvSpPr/>
          <p:nvPr userDrawn="1"/>
        </p:nvSpPr>
        <p:spPr>
          <a:xfrm>
            <a:off x="2398085" y="-492101"/>
            <a:ext cx="426720" cy="42672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438851" y="-492101"/>
            <a:ext cx="426720" cy="426720"/>
          </a:xfrm>
          <a:prstGeom prst="rect">
            <a:avLst/>
          </a:prstGeom>
          <a:solidFill>
            <a:srgbClr val="929F6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479617" y="-492101"/>
            <a:ext cx="426720" cy="426720"/>
          </a:xfrm>
          <a:prstGeom prst="rect">
            <a:avLst/>
          </a:prstGeom>
          <a:solidFill>
            <a:srgbClr val="C5D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pic>
        <p:nvPicPr>
          <p:cNvPr id="23" name="Picture 2" descr="http://www.ytpp.com.cn/public/brandInfo/images/house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4713287"/>
            <a:ext cx="4762500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 userDrawn="1">
            <p:custDataLst>
              <p:tags r:id="rId3"/>
            </p:custDataLst>
          </p:nvPr>
        </p:nvSpPr>
        <p:spPr>
          <a:xfrm>
            <a:off x="0" y="6576060"/>
            <a:ext cx="12192000" cy="2844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 userDrawn="1"/>
        </p:nvGrpSpPr>
        <p:grpSpPr>
          <a:xfrm>
            <a:off x="10602544" y="5645"/>
            <a:ext cx="1319632" cy="812903"/>
            <a:chOff x="10300773" y="811026"/>
            <a:chExt cx="1025040" cy="631432"/>
          </a:xfrm>
        </p:grpSpPr>
        <p:pic>
          <p:nvPicPr>
            <p:cNvPr id="24" name="图片 23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57" t="41135" r="78545" b="41090"/>
            <a:stretch>
              <a:fillRect/>
            </a:stretch>
          </p:blipFill>
          <p:spPr>
            <a:xfrm>
              <a:off x="10300773" y="811026"/>
              <a:ext cx="460133" cy="55269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11" t="41135" r="5821" b="41090"/>
            <a:stretch>
              <a:fillRect/>
            </a:stretch>
          </p:blipFill>
          <p:spPr>
            <a:xfrm>
              <a:off x="10760906" y="889766"/>
              <a:ext cx="564907" cy="552692"/>
            </a:xfrm>
            <a:prstGeom prst="rect">
              <a:avLst/>
            </a:prstGeom>
          </p:spPr>
        </p:pic>
      </p:grp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840" y="257498"/>
            <a:ext cx="1463040" cy="3091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10602544" y="5645"/>
            <a:ext cx="1319632" cy="812903"/>
            <a:chOff x="10300773" y="811026"/>
            <a:chExt cx="1025040" cy="631432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57" t="41135" r="78545" b="41090"/>
            <a:stretch>
              <a:fillRect/>
            </a:stretch>
          </p:blipFill>
          <p:spPr>
            <a:xfrm>
              <a:off x="10300773" y="811026"/>
              <a:ext cx="460133" cy="552692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11" t="41135" r="5821" b="41090"/>
            <a:stretch>
              <a:fillRect/>
            </a:stretch>
          </p:blipFill>
          <p:spPr>
            <a:xfrm>
              <a:off x="10760906" y="889766"/>
              <a:ext cx="564907" cy="552692"/>
            </a:xfrm>
            <a:prstGeom prst="rect">
              <a:avLst/>
            </a:prstGeom>
          </p:spPr>
        </p:pic>
      </p:grp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69" y="602833"/>
            <a:ext cx="363931" cy="362734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52852" y="455294"/>
            <a:ext cx="10500948" cy="510273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lnSpc>
                <a:spcPct val="130000"/>
              </a:lnSpc>
              <a:defRPr sz="24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52852" y="1825625"/>
            <a:ext cx="10500948" cy="4375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852852" y="995259"/>
            <a:ext cx="10500948" cy="812904"/>
          </a:xfrm>
          <a:prstGeom prst="rect">
            <a:avLst/>
          </a:prstGeom>
        </p:spPr>
        <p:txBody>
          <a:bodyPr>
            <a:normAutofit/>
          </a:bodyPr>
          <a:lstStyle>
            <a:lvl1pPr marL="252095">
              <a:lnSpc>
                <a:spcPts val="2000"/>
              </a:lnSpc>
              <a:spcBef>
                <a:spcPts val="0"/>
              </a:spcBef>
              <a:defRPr sz="12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6215063"/>
            <a:ext cx="10512425" cy="3460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None/>
              <a:defRPr lang="zh-CN" altLang="en-US" sz="800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551385" y="163035"/>
            <a:ext cx="1595309" cy="261610"/>
            <a:chOff x="551385" y="163035"/>
            <a:chExt cx="1595309" cy="261610"/>
          </a:xfrm>
        </p:grpSpPr>
        <p:sp>
          <p:nvSpPr>
            <p:cNvPr id="24" name="文本框 23"/>
            <p:cNvSpPr txBox="1"/>
            <p:nvPr userDrawn="1"/>
          </p:nvSpPr>
          <p:spPr>
            <a:xfrm>
              <a:off x="551385" y="163035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0" i="0" dirty="0">
                  <a:solidFill>
                    <a:srgbClr val="B3ADB5"/>
                  </a:solidFill>
                  <a:latin typeface="+mj-lt"/>
                  <a:ea typeface="阿里巴巴普惠体 R" panose="00020600040101010101" pitchFamily="18" charset="-122"/>
                </a:rPr>
                <a:t>儿童食养脾胃市场分析</a:t>
              </a:r>
              <a:endParaRPr lang="zh-CN" altLang="en-US" sz="1100" b="0" i="0" dirty="0">
                <a:solidFill>
                  <a:srgbClr val="B3ADB5"/>
                </a:solidFill>
                <a:latin typeface="+mj-lt"/>
                <a:ea typeface="阿里巴巴普惠体 R" panose="00020600040101010101" pitchFamily="18" charset="-122"/>
              </a:endParaRPr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551385" y="257498"/>
              <a:ext cx="72684" cy="72684"/>
            </a:xfrm>
            <a:prstGeom prst="rect">
              <a:avLst/>
            </a:prstGeom>
            <a:solidFill>
              <a:srgbClr val="B3AD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solidFill>
                  <a:schemeClr val="bg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</p:grpSp>
      <p:pic>
        <p:nvPicPr>
          <p:cNvPr id="32" name="Picture 2" descr="http://www.ytpp.com.cn/public/brandInfo/images/house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4713287"/>
            <a:ext cx="4762500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矩形 32"/>
          <p:cNvSpPr/>
          <p:nvPr userDrawn="1"/>
        </p:nvSpPr>
        <p:spPr>
          <a:xfrm>
            <a:off x="1918468" y="-492101"/>
            <a:ext cx="426720" cy="42672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34" name="矩形 33"/>
          <p:cNvSpPr/>
          <p:nvPr userDrawn="1"/>
        </p:nvSpPr>
        <p:spPr>
          <a:xfrm>
            <a:off x="959234" y="-492101"/>
            <a:ext cx="426720" cy="426720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0" y="-492101"/>
            <a:ext cx="426720" cy="426720"/>
          </a:xfrm>
          <a:prstGeom prst="rect">
            <a:avLst/>
          </a:prstGeom>
          <a:solidFill>
            <a:srgbClr val="929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b="1" dirty="0"/>
          </a:p>
        </p:txBody>
      </p:sp>
      <p:sp>
        <p:nvSpPr>
          <p:cNvPr id="36" name="矩形 35"/>
          <p:cNvSpPr/>
          <p:nvPr userDrawn="1"/>
        </p:nvSpPr>
        <p:spPr>
          <a:xfrm>
            <a:off x="2398085" y="-492101"/>
            <a:ext cx="426720" cy="42672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438851" y="-492101"/>
            <a:ext cx="426720" cy="426720"/>
          </a:xfrm>
          <a:prstGeom prst="rect">
            <a:avLst/>
          </a:prstGeom>
          <a:solidFill>
            <a:srgbClr val="929F6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479617" y="-492101"/>
            <a:ext cx="426720" cy="426720"/>
          </a:xfrm>
          <a:prstGeom prst="rect">
            <a:avLst/>
          </a:prstGeom>
          <a:solidFill>
            <a:srgbClr val="C5D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576060"/>
            <a:ext cx="12192000" cy="2844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840" y="257498"/>
            <a:ext cx="1463040" cy="3091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chart" Target="../charts/chart10.xml"/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21.jpeg"/><Relationship Id="rId2" Type="http://schemas.openxmlformats.org/officeDocument/2006/relationships/image" Target="../media/image13.jpeg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243342" y="1558691"/>
            <a:ext cx="6340198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儿童脾胃食养市场分析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13754" y="626646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中式品质健康育儿品牌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5" t="35302" r="5960" b="9616"/>
          <a:stretch>
            <a:fillRect/>
          </a:stretch>
        </p:blipFill>
        <p:spPr>
          <a:xfrm>
            <a:off x="8019322" y="5260286"/>
            <a:ext cx="3937000" cy="100557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322" y="4520413"/>
            <a:ext cx="2564218" cy="365060"/>
          </a:xfrm>
          <a:prstGeom prst="rect">
            <a:avLst/>
          </a:prstGeom>
          <a:noFill/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540" y="2369461"/>
            <a:ext cx="810807" cy="207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096"/>
            <a:ext cx="3909221" cy="687009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-1"/>
            <a:ext cx="3909221" cy="685800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551385" y="163035"/>
            <a:ext cx="1689886" cy="261610"/>
            <a:chOff x="551385" y="163035"/>
            <a:chExt cx="1689886" cy="261610"/>
          </a:xfrm>
        </p:grpSpPr>
        <p:sp>
          <p:nvSpPr>
            <p:cNvPr id="11" name="文本框 10"/>
            <p:cNvSpPr txBox="1"/>
            <p:nvPr userDrawn="1"/>
          </p:nvSpPr>
          <p:spPr>
            <a:xfrm>
              <a:off x="551385" y="16303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0" i="0" dirty="0">
                  <a:latin typeface="+mj-lt"/>
                  <a:ea typeface="阿里巴巴普惠体 R" panose="00020600040101010101" pitchFamily="18" charset="-122"/>
                </a:rPr>
                <a:t>小羊森林品牌</a:t>
              </a:r>
              <a:r>
                <a:rPr lang="en-US" altLang="zh-CN" sz="1100" b="0" i="0" dirty="0">
                  <a:latin typeface="+mj-lt"/>
                  <a:ea typeface="阿里巴巴普惠体 R" panose="00020600040101010101" pitchFamily="18" charset="-122"/>
                </a:rPr>
                <a:t>&amp;</a:t>
              </a:r>
              <a:r>
                <a:rPr lang="zh-CN" altLang="en-US" sz="1100" b="0" i="0" dirty="0">
                  <a:latin typeface="+mj-lt"/>
                  <a:ea typeface="阿里巴巴普惠体 R" panose="00020600040101010101" pitchFamily="18" charset="-122"/>
                </a:rPr>
                <a:t>商品介绍</a:t>
              </a:r>
              <a:endParaRPr lang="zh-CN" altLang="en-US" sz="1100" b="0" i="0" dirty="0">
                <a:latin typeface="+mj-lt"/>
                <a:ea typeface="阿里巴巴普惠体 R" panose="00020600040101010101" pitchFamily="18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551385" y="257498"/>
              <a:ext cx="72684" cy="726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solidFill>
                  <a:schemeClr val="bg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0602544" y="5645"/>
            <a:ext cx="1319632" cy="812903"/>
            <a:chOff x="10300773" y="811026"/>
            <a:chExt cx="1025040" cy="631432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57" t="41135" r="78545" b="41090"/>
            <a:stretch>
              <a:fillRect/>
            </a:stretch>
          </p:blipFill>
          <p:spPr>
            <a:xfrm>
              <a:off x="10300773" y="811026"/>
              <a:ext cx="460133" cy="552692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11" t="41135" r="5821" b="41090"/>
            <a:stretch>
              <a:fillRect/>
            </a:stretch>
          </p:blipFill>
          <p:spPr>
            <a:xfrm>
              <a:off x="10760906" y="889766"/>
              <a:ext cx="564907" cy="552692"/>
            </a:xfrm>
            <a:prstGeom prst="rect">
              <a:avLst/>
            </a:prstGeom>
          </p:spPr>
        </p:pic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840" y="257498"/>
            <a:ext cx="1463040" cy="3091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3909221" y="519628"/>
            <a:ext cx="4109922" cy="1102446"/>
            <a:chOff x="-635" y="1390957"/>
            <a:chExt cx="4109922" cy="1102446"/>
          </a:xfrm>
        </p:grpSpPr>
        <p:sp>
          <p:nvSpPr>
            <p:cNvPr id="3" name="矩形 2"/>
            <p:cNvSpPr/>
            <p:nvPr/>
          </p:nvSpPr>
          <p:spPr>
            <a:xfrm>
              <a:off x="-635" y="1390957"/>
              <a:ext cx="4109922" cy="1102446"/>
            </a:xfrm>
            <a:prstGeom prst="rect">
              <a:avLst/>
            </a:prstGeom>
            <a:pattFill prst="pct75">
              <a:fgClr>
                <a:schemeClr val="accent2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 bwMode="auto">
            <a:xfrm>
              <a:off x="-635" y="1568581"/>
              <a:ext cx="3027133" cy="728051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spcBef>
                  <a:spcPct val="0"/>
                </a:spcBef>
              </a:pP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CONTENTS</a:t>
              </a:r>
              <a:endParaRPr lang="en-US" altLang="zh-CN" sz="2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接连接符 99"/>
            <p:cNvCxnSpPr/>
            <p:nvPr/>
          </p:nvCxnSpPr>
          <p:spPr>
            <a:xfrm>
              <a:off x="-635" y="2363546"/>
              <a:ext cx="3206724" cy="0"/>
            </a:xfrm>
            <a:prstGeom prst="line">
              <a:avLst/>
            </a:prstGeom>
            <a:ln w="9525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00"/>
            <p:cNvCxnSpPr/>
            <p:nvPr/>
          </p:nvCxnSpPr>
          <p:spPr>
            <a:xfrm>
              <a:off x="-635" y="1503122"/>
              <a:ext cx="2138027" cy="0"/>
            </a:xfrm>
            <a:prstGeom prst="line">
              <a:avLst/>
            </a:prstGeom>
            <a:ln w="9525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 bwMode="auto">
          <a:xfrm>
            <a:off x="8538367" y="3963763"/>
            <a:ext cx="1992473" cy="429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cs typeface="+mn-ea"/>
                <a:sym typeface="+mn-lt"/>
              </a:rPr>
              <a:t>品牌人群分析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 bwMode="auto">
          <a:xfrm>
            <a:off x="7731088" y="2499622"/>
            <a:ext cx="2799752" cy="429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cs typeface="+mn-ea"/>
                <a:sym typeface="+mn-lt"/>
              </a:rPr>
              <a:t>儿童脾胃食养市场分析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 bwMode="auto">
          <a:xfrm>
            <a:off x="8167846" y="5352819"/>
            <a:ext cx="2362994" cy="429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cs typeface="+mn-ea"/>
                <a:sym typeface="+mn-lt"/>
              </a:rPr>
              <a:t>品牌内容种草分析</a:t>
            </a:r>
            <a:endParaRPr lang="en-US" altLang="zh-CN" sz="2000" b="1" dirty="0">
              <a:cs typeface="+mn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5925922" y="2162943"/>
            <a:ext cx="962123" cy="927448"/>
            <a:chOff x="9056902" y="2162943"/>
            <a:chExt cx="962123" cy="927448"/>
          </a:xfrm>
        </p:grpSpPr>
        <p:sp>
          <p:nvSpPr>
            <p:cNvPr id="19" name="任意多边形: 形状 18"/>
            <p:cNvSpPr/>
            <p:nvPr/>
          </p:nvSpPr>
          <p:spPr>
            <a:xfrm rot="1417689">
              <a:off x="9358463" y="2162943"/>
              <a:ext cx="591374" cy="927448"/>
            </a:xfrm>
            <a:custGeom>
              <a:avLst/>
              <a:gdLst>
                <a:gd name="connsiteX0" fmla="*/ 0 w 591374"/>
                <a:gd name="connsiteY0" fmla="*/ 0 h 927448"/>
                <a:gd name="connsiteX1" fmla="*/ 591374 w 591374"/>
                <a:gd name="connsiteY1" fmla="*/ 0 h 927448"/>
                <a:gd name="connsiteX2" fmla="*/ 591374 w 591374"/>
                <a:gd name="connsiteY2" fmla="*/ 673509 h 927448"/>
                <a:gd name="connsiteX3" fmla="*/ 10908 w 591374"/>
                <a:gd name="connsiteY3" fmla="*/ 927448 h 927448"/>
                <a:gd name="connsiteX4" fmla="*/ 0 w 591374"/>
                <a:gd name="connsiteY4" fmla="*/ 927448 h 927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1374" h="927448">
                  <a:moveTo>
                    <a:pt x="0" y="0"/>
                  </a:moveTo>
                  <a:lnTo>
                    <a:pt x="591374" y="0"/>
                  </a:lnTo>
                  <a:lnTo>
                    <a:pt x="591374" y="673509"/>
                  </a:lnTo>
                  <a:lnTo>
                    <a:pt x="10908" y="927448"/>
                  </a:lnTo>
                  <a:lnTo>
                    <a:pt x="0" y="927448"/>
                  </a:lnTo>
                  <a:close/>
                </a:path>
              </a:pathLst>
            </a:custGeom>
            <a:solidFill>
              <a:srgbClr val="C5DB8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056902" y="2220768"/>
              <a:ext cx="9621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01.</a:t>
              </a:r>
              <a:endParaRPr kumimoji="1" lang="zh-CN" altLang="en-US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565823" y="3714555"/>
            <a:ext cx="962123" cy="927448"/>
            <a:chOff x="9056902" y="2162943"/>
            <a:chExt cx="962123" cy="927448"/>
          </a:xfrm>
        </p:grpSpPr>
        <p:sp>
          <p:nvSpPr>
            <p:cNvPr id="35" name="任意多边形: 形状 34"/>
            <p:cNvSpPr/>
            <p:nvPr/>
          </p:nvSpPr>
          <p:spPr>
            <a:xfrm rot="1417689">
              <a:off x="9358463" y="2162943"/>
              <a:ext cx="591374" cy="927448"/>
            </a:xfrm>
            <a:custGeom>
              <a:avLst/>
              <a:gdLst>
                <a:gd name="connsiteX0" fmla="*/ 0 w 591374"/>
                <a:gd name="connsiteY0" fmla="*/ 0 h 927448"/>
                <a:gd name="connsiteX1" fmla="*/ 591374 w 591374"/>
                <a:gd name="connsiteY1" fmla="*/ 0 h 927448"/>
                <a:gd name="connsiteX2" fmla="*/ 591374 w 591374"/>
                <a:gd name="connsiteY2" fmla="*/ 673509 h 927448"/>
                <a:gd name="connsiteX3" fmla="*/ 10908 w 591374"/>
                <a:gd name="connsiteY3" fmla="*/ 927448 h 927448"/>
                <a:gd name="connsiteX4" fmla="*/ 0 w 591374"/>
                <a:gd name="connsiteY4" fmla="*/ 927448 h 927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1374" h="927448">
                  <a:moveTo>
                    <a:pt x="0" y="0"/>
                  </a:moveTo>
                  <a:lnTo>
                    <a:pt x="591374" y="0"/>
                  </a:lnTo>
                  <a:lnTo>
                    <a:pt x="591374" y="673509"/>
                  </a:lnTo>
                  <a:lnTo>
                    <a:pt x="10908" y="927448"/>
                  </a:lnTo>
                  <a:lnTo>
                    <a:pt x="0" y="927448"/>
                  </a:lnTo>
                  <a:close/>
                </a:path>
              </a:pathLst>
            </a:custGeom>
            <a:solidFill>
              <a:srgbClr val="C5DB8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056902" y="2220768"/>
              <a:ext cx="9621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02.</a:t>
              </a:r>
              <a:endParaRPr kumimoji="1" lang="zh-CN" altLang="en-US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205723" y="5103611"/>
            <a:ext cx="962123" cy="927448"/>
            <a:chOff x="9056902" y="2162943"/>
            <a:chExt cx="962123" cy="927448"/>
          </a:xfrm>
        </p:grpSpPr>
        <p:sp>
          <p:nvSpPr>
            <p:cNvPr id="38" name="任意多边形: 形状 37"/>
            <p:cNvSpPr/>
            <p:nvPr/>
          </p:nvSpPr>
          <p:spPr>
            <a:xfrm rot="1417689">
              <a:off x="9358463" y="2162943"/>
              <a:ext cx="591374" cy="927448"/>
            </a:xfrm>
            <a:custGeom>
              <a:avLst/>
              <a:gdLst>
                <a:gd name="connsiteX0" fmla="*/ 0 w 591374"/>
                <a:gd name="connsiteY0" fmla="*/ 0 h 927448"/>
                <a:gd name="connsiteX1" fmla="*/ 591374 w 591374"/>
                <a:gd name="connsiteY1" fmla="*/ 0 h 927448"/>
                <a:gd name="connsiteX2" fmla="*/ 591374 w 591374"/>
                <a:gd name="connsiteY2" fmla="*/ 673509 h 927448"/>
                <a:gd name="connsiteX3" fmla="*/ 10908 w 591374"/>
                <a:gd name="connsiteY3" fmla="*/ 927448 h 927448"/>
                <a:gd name="connsiteX4" fmla="*/ 0 w 591374"/>
                <a:gd name="connsiteY4" fmla="*/ 927448 h 927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1374" h="927448">
                  <a:moveTo>
                    <a:pt x="0" y="0"/>
                  </a:moveTo>
                  <a:lnTo>
                    <a:pt x="591374" y="0"/>
                  </a:lnTo>
                  <a:lnTo>
                    <a:pt x="591374" y="673509"/>
                  </a:lnTo>
                  <a:lnTo>
                    <a:pt x="10908" y="927448"/>
                  </a:lnTo>
                  <a:lnTo>
                    <a:pt x="0" y="927448"/>
                  </a:lnTo>
                  <a:close/>
                </a:path>
              </a:pathLst>
            </a:custGeom>
            <a:solidFill>
              <a:srgbClr val="C5DB8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056902" y="2220768"/>
              <a:ext cx="9621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03.</a:t>
              </a:r>
              <a:endParaRPr kumimoji="1" lang="zh-CN" altLang="en-US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儿童脾胃食养市场近半年概览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505048" y="2274664"/>
            <a:ext cx="4413558" cy="33633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市场驱动因子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4042" y="2133261"/>
            <a:ext cx="4413558" cy="4132602"/>
            <a:chOff x="393392" y="1762024"/>
            <a:chExt cx="4945866" cy="2930627"/>
          </a:xfrm>
        </p:grpSpPr>
        <p:graphicFrame>
          <p:nvGraphicFramePr>
            <p:cNvPr id="3" name="图示 2"/>
            <p:cNvGraphicFramePr/>
            <p:nvPr/>
          </p:nvGraphicFramePr>
          <p:xfrm>
            <a:off x="482240" y="2128882"/>
            <a:ext cx="4762858" cy="253569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393392" y="1762024"/>
              <a:ext cx="4945866" cy="2930627"/>
            </a:xfrm>
            <a:prstGeom prst="rect">
              <a:avLst/>
            </a:pr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aphicFrame>
        <p:nvGraphicFramePr>
          <p:cNvPr id="12" name="图表 11"/>
          <p:cNvGraphicFramePr/>
          <p:nvPr/>
        </p:nvGraphicFramePr>
        <p:xfrm>
          <a:off x="5015880" y="2133261"/>
          <a:ext cx="6768752" cy="2002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7" name="图表 16"/>
          <p:cNvGraphicFramePr/>
          <p:nvPr/>
        </p:nvGraphicFramePr>
        <p:xfrm>
          <a:off x="5015880" y="4253008"/>
          <a:ext cx="6768752" cy="2002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50875" y="995258"/>
            <a:ext cx="10882313" cy="1098415"/>
          </a:xfrm>
        </p:spPr>
        <p:txBody>
          <a:bodyPr>
            <a:noAutofit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月，整个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儿童脾胃食养市场规模达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2,100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，销售规模近半年持续增长，月复合增长率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10.0%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，买家数增长是市场规模增长的核心驱动因素，买家数月复合增长率达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14.6%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，新客拓展仍然是当前市场核心策略；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近半年商品数持续增长，从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7,700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个商品增长到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1.02w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，而商品的平均价格持续下跌，说明大量低客单商品涌入市场，市场处于商品导入期；一方面是可以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考虑低客单商品拉新策略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，另一方面则需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持续种草培育消费者建立品牌心智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，谨防劣币驱逐良币。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儿童脾胃食养市场品牌格局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046515" y="1035417"/>
          <a:ext cx="9929585" cy="5524074"/>
        </p:xfrm>
        <a:graphic>
          <a:graphicData uri="http://schemas.openxmlformats.org/drawingml/2006/table">
            <a:tbl>
              <a:tblPr/>
              <a:tblGrid>
                <a:gridCol w="346459"/>
                <a:gridCol w="548947"/>
                <a:gridCol w="1518685"/>
                <a:gridCol w="659566"/>
                <a:gridCol w="637839"/>
                <a:gridCol w="637839"/>
                <a:gridCol w="549861"/>
                <a:gridCol w="555360"/>
                <a:gridCol w="786301"/>
                <a:gridCol w="785174"/>
                <a:gridCol w="725111"/>
                <a:gridCol w="756231"/>
                <a:gridCol w="1422212"/>
              </a:tblGrid>
              <a:tr h="28810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排名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排名变化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品牌名称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销售金额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市占率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销售量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购买人数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商品数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商品平均价格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人均购买频次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人均购买量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主营类目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品牌特点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witsbb</a:t>
                      </a:r>
                      <a:r>
                        <a:rPr 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健敏思</a:t>
                      </a:r>
                      <a:endParaRPr lang="zh-CN" alt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13,242,644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15%</a:t>
                      </a:r>
                      <a:endParaRPr lang="en-US" altLang="zh-CN" sz="900" b="1" i="0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79,931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42,784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2,126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166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1.24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1.87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营养品</a:t>
                      </a:r>
                      <a:endParaRPr lang="zh-CN" alt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无敏液体钙、无敏维生素</a:t>
                      </a: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AD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2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—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施贝安</a:t>
                      </a:r>
                      <a:endParaRPr lang="zh-CN" altLang="en-US" sz="900" b="1" i="0" u="none" strike="noStrike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5,517,228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6.5%</a:t>
                      </a:r>
                      <a:endParaRPr lang="en-US" altLang="zh-CN" sz="900" b="1" i="0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30,654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24,847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2,221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180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1.2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1.23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营养品</a:t>
                      </a:r>
                      <a:endParaRPr lang="zh-CN" altLang="en-US" sz="900" b="1" i="0" u="none" strike="noStrike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中西医结合</a:t>
                      </a:r>
                      <a:endParaRPr lang="zh-CN" alt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Engnice/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英氏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5,159,817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6.0%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83,913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55,505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2,298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61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1.48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1.51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零辅食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—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秋田满满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5,075,226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5.9%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128,955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66,347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2,181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39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1.87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1.94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零辅食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婴童营养全餐：中餐食养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inne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4,323,763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5.1%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24,543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11,997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2,139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176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1.31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2.05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营养品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与施贝安同属一家公司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6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金豆芽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4,196,079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4.9%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105,498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78,322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2,049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40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1.26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1.35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药食同源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7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SINE/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信谊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3,514,251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4.1%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10,250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8,107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2,033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343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益生菌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宝宝馋了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2,478,019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2.9%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41,841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32,448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2,201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59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零辅食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中国科学喂养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9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不二宝贝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2,200,141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2.6%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111,888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51,820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2,359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20 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1.79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2.16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零辅食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Deer Blue/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小鹿蓝蓝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2,138,579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2.5%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163,727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51,298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2,293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2.69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3.19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零辅食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一站式科学喂养方案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Grandpa s Farm/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爷爷的农场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2,125,806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2.5%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32,605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20,979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2,130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65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1.45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1.55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零辅食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欧洲农场食品质量安全体系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D-Cal/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迪巧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1,966,837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2.3%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6,671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5,460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2,065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295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营养品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钙片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Ddrops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1,777,961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2.1%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10,168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8,497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2,103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175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1.19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营养品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芯亦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1,734,115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2.0%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4,360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3,827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2,028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398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1.13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1.14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营养品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DHA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15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—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BEINGMATE/</a:t>
                      </a:r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贝因美</a:t>
                      </a:r>
                      <a:endParaRPr lang="zh-CN" alt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1,654,246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1.9%</a:t>
                      </a:r>
                      <a:endParaRPr lang="en-US" altLang="zh-CN" sz="900" b="1" i="0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11,299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9,283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2,127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146 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1.14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1.22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奶粉</a:t>
                      </a:r>
                      <a:endParaRPr lang="zh-CN" alt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特敏奶粉</a:t>
                      </a:r>
                      <a:endParaRPr lang="zh-CN" alt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BioGaia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拜奥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1,578,755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1.8%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4,779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4,418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2,032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330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1.07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1.08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益生菌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Little Freddie/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小皮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1,538,891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1.8%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11,673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9,436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2,044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132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零辅食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有机婴童食品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Little Umbrella/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小小伞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1,343,692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1.6%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6,920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5,596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2,054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194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营养品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ChildLife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914,725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1.1%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4,449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3,567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2,044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206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1.19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1.25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营养品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七小七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878,618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1.0%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33,374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28,910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2,027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1.14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1.15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零食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科学爱牙零食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95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28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小羊森林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525,740 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0.6%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11,028 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9,164 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2,031 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48 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1.19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1.2</a:t>
                      </a:r>
                      <a:endParaRPr lang="en-US" altLang="zh-C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药食同源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491" marR="2491" marT="2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50875" y="995258"/>
            <a:ext cx="1395639" cy="5535380"/>
          </a:xfrm>
        </p:spPr>
        <p:txBody>
          <a:bodyPr>
            <a:noAutofit/>
          </a:bodyPr>
          <a:lstStyle/>
          <a:p>
            <a:pPr marL="23495" indent="0">
              <a:buNone/>
            </a:pPr>
            <a:r>
              <a:rPr lang="en-US" altLang="zh-CN" dirty="0"/>
              <a:t>       7</a:t>
            </a:r>
            <a:r>
              <a:rPr lang="zh-CN" altLang="en-US" dirty="0"/>
              <a:t>月小羊森林在儿童脾胃食养市场中排名第</a:t>
            </a:r>
            <a:r>
              <a:rPr lang="en-US" altLang="zh-CN" dirty="0"/>
              <a:t>28</a:t>
            </a:r>
            <a:r>
              <a:rPr lang="zh-CN" altLang="en-US" dirty="0"/>
              <a:t>名，其中，</a:t>
            </a:r>
            <a:r>
              <a:rPr lang="zh-CN" altLang="en-US" b="1" dirty="0"/>
              <a:t>秋田满满</a:t>
            </a:r>
            <a:r>
              <a:rPr lang="zh-CN" altLang="en-US" dirty="0"/>
              <a:t>和</a:t>
            </a:r>
            <a:r>
              <a:rPr lang="zh-CN" altLang="en-US" b="1" dirty="0"/>
              <a:t>金豆芽</a:t>
            </a:r>
            <a:r>
              <a:rPr lang="zh-CN" altLang="en-US" dirty="0"/>
              <a:t>均属于第一梯队；</a:t>
            </a:r>
            <a:endParaRPr lang="en-US" altLang="zh-CN" dirty="0"/>
          </a:p>
          <a:p>
            <a:pPr marL="23495" indent="0">
              <a:buNone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以特敏奶粉为代表的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贝因美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以及无敏营养品为代表的</a:t>
            </a:r>
            <a:r>
              <a:rPr lang="zh-CN" altLang="en-US" sz="1200" b="1" i="0" u="none" strike="noStrike" dirty="0">
                <a:effectLst/>
                <a:latin typeface="+mj-ea"/>
                <a:ea typeface="+mj-ea"/>
              </a:rPr>
              <a:t>健敏思</a:t>
            </a:r>
            <a:r>
              <a:rPr lang="zh-CN" altLang="en-US" sz="1200" i="0" u="none" strike="noStrike" dirty="0">
                <a:effectLst/>
                <a:latin typeface="+mj-ea"/>
                <a:ea typeface="+mj-ea"/>
              </a:rPr>
              <a:t>与小羊森林在产品上具有很好的互补性，消费者品类心智成熟，认可度较高，可以尝试开拓贝因美、健敏思优质带货达人。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dirty="0"/>
              <a:t>主要竞品儿童食养脾胃人群渗透分析</a:t>
            </a:r>
            <a:endParaRPr lang="zh-CN" altLang="en-US" dirty="0"/>
          </a:p>
        </p:txBody>
      </p:sp>
      <p:graphicFrame>
        <p:nvGraphicFramePr>
          <p:cNvPr id="3" name="图表 2"/>
          <p:cNvGraphicFramePr/>
          <p:nvPr/>
        </p:nvGraphicFramePr>
        <p:xfrm>
          <a:off x="5462124" y="3727450"/>
          <a:ext cx="6071064" cy="2550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650874" y="3429001"/>
          <a:ext cx="4722237" cy="2792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5462124" y="1028061"/>
          <a:ext cx="6071064" cy="2550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 6"/>
          <p:cNvSpPr/>
          <p:nvPr/>
        </p:nvSpPr>
        <p:spPr>
          <a:xfrm>
            <a:off x="6712422" y="3013075"/>
            <a:ext cx="993756" cy="2159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50875" y="1128608"/>
            <a:ext cx="4811249" cy="2300392"/>
          </a:xfrm>
        </p:spPr>
        <p:txBody>
          <a:bodyPr>
            <a:noAutofit/>
          </a:bodyPr>
          <a:lstStyle/>
          <a:p>
            <a:pPr marL="23495" indent="0">
              <a:buNone/>
            </a:pPr>
            <a:r>
              <a:rPr lang="zh-CN" altLang="en-US" dirty="0"/>
              <a:t>        从人群触达来看，金豆芽和小鹿蓝蓝作为高费比头部玩家，其</a:t>
            </a:r>
            <a:r>
              <a:rPr lang="en-US" altLang="zh-CN" dirty="0"/>
              <a:t>7</a:t>
            </a:r>
            <a:r>
              <a:rPr lang="zh-CN" altLang="en-US" dirty="0"/>
              <a:t>月儿童食养脾胃人群的曝光人数达</a:t>
            </a:r>
            <a:r>
              <a:rPr lang="en-US" altLang="zh-CN" b="1" dirty="0">
                <a:solidFill>
                  <a:srgbClr val="FF0000"/>
                </a:solidFill>
              </a:rPr>
              <a:t>450w</a:t>
            </a:r>
            <a:r>
              <a:rPr lang="zh-CN" altLang="en-US" dirty="0"/>
              <a:t>左右，这一值可作为曝光上限，小羊森林目前儿童食养脾胃人群的曝光数为</a:t>
            </a:r>
            <a:r>
              <a:rPr lang="en-US" altLang="zh-CN" b="1" dirty="0">
                <a:solidFill>
                  <a:srgbClr val="FF0000"/>
                </a:solidFill>
              </a:rPr>
              <a:t>102w</a:t>
            </a:r>
            <a:r>
              <a:rPr lang="zh-CN" altLang="en-US" dirty="0"/>
              <a:t>，仍有较大的拓展空间（目标是</a:t>
            </a:r>
            <a:r>
              <a:rPr lang="zh-CN" altLang="en-US" b="1" dirty="0"/>
              <a:t>宝宝馋了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23495" indent="0">
              <a:buNone/>
            </a:pPr>
            <a:r>
              <a:rPr lang="zh-CN" altLang="en-US" dirty="0"/>
              <a:t>       从人群渗透及转化看，小鹿蓝蓝的儿童食养脾胃人群渗透体量最大；</a:t>
            </a:r>
            <a:r>
              <a:rPr lang="zh-CN" altLang="en-US" b="1" dirty="0"/>
              <a:t>不二宝贝</a:t>
            </a:r>
            <a:r>
              <a:rPr lang="zh-CN" altLang="en-US" dirty="0"/>
              <a:t>、</a:t>
            </a:r>
            <a:r>
              <a:rPr lang="zh-CN" altLang="en-US" b="1" dirty="0"/>
              <a:t>秋田满满</a:t>
            </a:r>
            <a:r>
              <a:rPr lang="zh-CN" altLang="en-US" dirty="0"/>
              <a:t>的渗透率最高，且</a:t>
            </a:r>
            <a:r>
              <a:rPr lang="en-US" altLang="zh-CN" dirty="0"/>
              <a:t>3</a:t>
            </a:r>
            <a:r>
              <a:rPr lang="zh-CN" altLang="en-US" dirty="0"/>
              <a:t>个品牌的点击转化率都达到了</a:t>
            </a:r>
            <a:r>
              <a:rPr lang="en-US" altLang="zh-CN" b="1" dirty="0">
                <a:solidFill>
                  <a:srgbClr val="FF0000"/>
                </a:solidFill>
              </a:rPr>
              <a:t>25%</a:t>
            </a:r>
            <a:r>
              <a:rPr lang="zh-CN" altLang="en-US" dirty="0"/>
              <a:t>以上，可以重点关注这些品牌的带货达人，投放时也可以适当增加这</a:t>
            </a:r>
            <a:r>
              <a:rPr lang="en-US" altLang="zh-CN" dirty="0"/>
              <a:t>3</a:t>
            </a:r>
            <a:r>
              <a:rPr lang="zh-CN" altLang="en-US" dirty="0"/>
              <a:t>个品牌的购买</a:t>
            </a:r>
            <a:r>
              <a:rPr lang="en-US" altLang="zh-CN" dirty="0"/>
              <a:t>&amp;</a:t>
            </a:r>
            <a:r>
              <a:rPr lang="zh-CN" altLang="en-US" dirty="0"/>
              <a:t>加购</a:t>
            </a:r>
            <a:r>
              <a:rPr lang="en-US" altLang="zh-CN" dirty="0"/>
              <a:t>&amp;</a:t>
            </a:r>
            <a:r>
              <a:rPr lang="zh-CN" altLang="en-US" dirty="0"/>
              <a:t>点击人群和对应的达人莱卡定向。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7286060" y="4225925"/>
            <a:ext cx="530789" cy="177202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657660" y="4225925"/>
            <a:ext cx="530789" cy="177202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050974" y="4225925"/>
            <a:ext cx="530789" cy="177202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dirty="0"/>
              <a:t>品牌核心人群画像对比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" y="1904653"/>
            <a:ext cx="11896725" cy="4575663"/>
          </a:xfrm>
          <a:prstGeom prst="rect">
            <a:avLst/>
          </a:prstGeom>
        </p:spPr>
      </p:pic>
      <p:sp>
        <p:nvSpPr>
          <p:cNvPr id="11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50875" y="995259"/>
            <a:ext cx="10882313" cy="879702"/>
          </a:xfrm>
        </p:spPr>
        <p:txBody>
          <a:bodyPr>
            <a:noAutofit/>
          </a:bodyPr>
          <a:lstStyle/>
          <a:p>
            <a:r>
              <a:rPr lang="zh-CN" altLang="en-US" dirty="0"/>
              <a:t>从年龄来看，</a:t>
            </a:r>
            <a:r>
              <a:rPr lang="en-US" altLang="zh-CN" dirty="0"/>
              <a:t>24-35</a:t>
            </a:r>
            <a:r>
              <a:rPr lang="zh-CN" altLang="en-US" dirty="0"/>
              <a:t>岁妈妈群体是主力核心人群，其中各品牌</a:t>
            </a:r>
            <a:r>
              <a:rPr lang="en-US" altLang="zh-CN" dirty="0"/>
              <a:t>24-30</a:t>
            </a:r>
            <a:r>
              <a:rPr lang="zh-CN" altLang="en-US" dirty="0"/>
              <a:t>岁群体占比均超过</a:t>
            </a:r>
            <a:r>
              <a:rPr lang="en-US" altLang="zh-CN" dirty="0"/>
              <a:t>40%</a:t>
            </a:r>
            <a:r>
              <a:rPr lang="zh-CN" altLang="en-US" dirty="0"/>
              <a:t>；</a:t>
            </a:r>
            <a:r>
              <a:rPr lang="en-US" altLang="zh-CN" dirty="0"/>
              <a:t>50</a:t>
            </a:r>
            <a:r>
              <a:rPr lang="zh-CN" altLang="en-US" dirty="0"/>
              <a:t>岁以上的奶奶群体市场占比接近</a:t>
            </a:r>
            <a:r>
              <a:rPr lang="en-US" altLang="zh-CN" dirty="0"/>
              <a:t>25%</a:t>
            </a:r>
            <a:r>
              <a:rPr lang="zh-CN" altLang="en-US" dirty="0"/>
              <a:t>，但各品牌占比不足</a:t>
            </a:r>
            <a:r>
              <a:rPr lang="en-US" altLang="zh-CN" dirty="0"/>
              <a:t>10%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从城市等级看，</a:t>
            </a:r>
            <a:r>
              <a:rPr lang="zh-CN" altLang="en-US" b="1" dirty="0"/>
              <a:t>小羊森林、金豆芽、七小七和光合星球</a:t>
            </a:r>
            <a:r>
              <a:rPr lang="zh-CN" altLang="en-US" dirty="0"/>
              <a:t>消费者集中在</a:t>
            </a:r>
            <a:r>
              <a:rPr lang="en-US" altLang="zh-CN" dirty="0"/>
              <a:t>1-3</a:t>
            </a:r>
            <a:r>
              <a:rPr lang="zh-CN" altLang="en-US" dirty="0"/>
              <a:t>线城市，而秋田满满、小鹿蓝蓝、宝贝馋了、不二宝贝则更偏下沉市场；</a:t>
            </a:r>
            <a:endParaRPr lang="en-US" altLang="zh-CN" dirty="0"/>
          </a:p>
          <a:p>
            <a:r>
              <a:rPr lang="zh-CN" altLang="en-US" dirty="0"/>
              <a:t>从消费人群看，整个市场的人群分布较为平均，主要为小镇青年、精致妈妈和银发族；而竞品则集中在精致妈妈和小镇青年两个群体。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32445" y="2754423"/>
            <a:ext cx="11896724" cy="34540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32445" y="4439231"/>
            <a:ext cx="11896724" cy="17813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32445" y="4103415"/>
            <a:ext cx="11896724" cy="17813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32445" y="5643406"/>
            <a:ext cx="11896724" cy="6651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3949" y="6443077"/>
            <a:ext cx="11128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占比             </a:t>
            </a:r>
            <a:r>
              <a:rPr lang="en-US" altLang="zh-CN" sz="1000" dirty="0"/>
              <a:t>TGI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dirty="0"/>
              <a:t>品牌流入分析</a:t>
            </a:r>
            <a:r>
              <a:rPr lang="en-US" altLang="zh-CN" dirty="0"/>
              <a:t>-</a:t>
            </a:r>
            <a:r>
              <a:rPr lang="zh-CN" altLang="en-US" dirty="0"/>
              <a:t>曝光人群分析</a:t>
            </a:r>
            <a:endParaRPr lang="zh-CN" altLang="en-US" dirty="0"/>
          </a:p>
        </p:txBody>
      </p:sp>
      <p:grpSp>
        <p:nvGrpSpPr>
          <p:cNvPr id="56" name="组合 55"/>
          <p:cNvGrpSpPr/>
          <p:nvPr/>
        </p:nvGrpSpPr>
        <p:grpSpPr>
          <a:xfrm>
            <a:off x="718384" y="2326685"/>
            <a:ext cx="4901365" cy="3842548"/>
            <a:chOff x="718384" y="1583891"/>
            <a:chExt cx="4901365" cy="3842548"/>
          </a:xfrm>
        </p:grpSpPr>
        <p:grpSp>
          <p:nvGrpSpPr>
            <p:cNvPr id="12" name="组合 11"/>
            <p:cNvGrpSpPr/>
            <p:nvPr/>
          </p:nvGrpSpPr>
          <p:grpSpPr>
            <a:xfrm>
              <a:off x="718384" y="1583891"/>
              <a:ext cx="990495" cy="3842548"/>
              <a:chOff x="5478238" y="1298051"/>
              <a:chExt cx="1147891" cy="3842548"/>
            </a:xfrm>
          </p:grpSpPr>
          <p:sp>
            <p:nvSpPr>
              <p:cNvPr id="13" name="矩形: 圆角 12"/>
              <p:cNvSpPr/>
              <p:nvPr/>
            </p:nvSpPr>
            <p:spPr>
              <a:xfrm>
                <a:off x="5478238" y="1298051"/>
                <a:ext cx="1147891" cy="384254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5563510" y="2623928"/>
                <a:ext cx="957688" cy="1292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120000"/>
                  </a:lnSpc>
                </a:pPr>
                <a:r>
                  <a:rPr lang="en-US" altLang="zh-CN" sz="14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+mj-ea"/>
                    <a:ea typeface="+mj-ea"/>
                  </a:rPr>
                  <a:t>7</a:t>
                </a:r>
                <a:r>
                  <a:rPr lang="zh-CN" altLang="en-US" sz="14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+mj-ea"/>
                    <a:ea typeface="+mj-ea"/>
                  </a:rPr>
                  <a:t>月</a:t>
                </a:r>
                <a:r>
                  <a:rPr lang="zh-C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ea"/>
                    <a:ea typeface="+mj-ea"/>
                  </a:rPr>
                  <a:t>品牌</a:t>
                </a:r>
                <a:r>
                  <a:rPr lang="zh-CN" altLang="en-US" sz="14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+mj-ea"/>
                    <a:ea typeface="+mj-ea"/>
                  </a:rPr>
                  <a:t>总曝光人数</a:t>
                </a:r>
                <a:endParaRPr lang="en-US" altLang="zh-CN" sz="1400" b="1" i="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en-US" altLang="zh-CN" sz="1200" b="1" i="0" dirty="0">
                    <a:effectLst/>
                    <a:latin typeface="+mj-ea"/>
                    <a:ea typeface="+mj-ea"/>
                  </a:rPr>
                  <a:t>4,372</a:t>
                </a:r>
                <a:r>
                  <a:rPr lang="en-US" altLang="zh-CN" sz="1200" b="1" dirty="0">
                    <a:latin typeface="+mj-ea"/>
                    <a:ea typeface="+mj-ea"/>
                  </a:rPr>
                  <a:t>,</a:t>
                </a:r>
                <a:r>
                  <a:rPr lang="en-US" altLang="zh-CN" sz="1200" b="1" i="0" dirty="0">
                    <a:effectLst/>
                    <a:latin typeface="+mj-ea"/>
                    <a:ea typeface="+mj-ea"/>
                  </a:rPr>
                  <a:t>765</a:t>
                </a:r>
                <a:endParaRPr lang="zh-CN" altLang="en-US" sz="1200" b="1" i="0" dirty="0">
                  <a:effectLst/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092903" y="1583891"/>
              <a:ext cx="1033679" cy="816409"/>
              <a:chOff x="5720906" y="1321163"/>
              <a:chExt cx="496630" cy="816409"/>
            </a:xfrm>
          </p:grpSpPr>
          <p:sp>
            <p:nvSpPr>
              <p:cNvPr id="16" name="矩形: 圆角 15"/>
              <p:cNvSpPr/>
              <p:nvPr/>
            </p:nvSpPr>
            <p:spPr>
              <a:xfrm>
                <a:off x="5720906" y="1321163"/>
                <a:ext cx="475883" cy="816409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720907" y="1341729"/>
                <a:ext cx="496629" cy="775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4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+mj-ea"/>
                    <a:ea typeface="+mj-ea"/>
                  </a:rPr>
                  <a:t>未购</a:t>
                </a:r>
                <a:endParaRPr lang="en-US" altLang="zh-CN" sz="1400" b="1" i="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en-US" altLang="zh-CN" sz="1200" b="1" dirty="0">
                    <a:latin typeface="+mj-ea"/>
                    <a:ea typeface="+mj-ea"/>
                  </a:rPr>
                  <a:t>4,027,965</a:t>
                </a:r>
                <a:endParaRPr lang="en-US" altLang="zh-CN" sz="1200" b="1" dirty="0"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200" dirty="0">
                    <a:latin typeface="+mj-ea"/>
                    <a:ea typeface="+mj-ea"/>
                  </a:rPr>
                  <a:t>占比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92%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 </a:t>
                </a:r>
                <a:endParaRPr lang="zh-CN" altLang="en-US" sz="1200" b="1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626428" y="2592604"/>
              <a:ext cx="1993321" cy="816409"/>
              <a:chOff x="5720906" y="1321163"/>
              <a:chExt cx="957689" cy="816409"/>
            </a:xfrm>
          </p:grpSpPr>
          <p:sp>
            <p:nvSpPr>
              <p:cNvPr id="28" name="矩形: 圆角 27"/>
              <p:cNvSpPr/>
              <p:nvPr/>
            </p:nvSpPr>
            <p:spPr>
              <a:xfrm>
                <a:off x="5720906" y="1321163"/>
                <a:ext cx="957689" cy="816409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720907" y="1341729"/>
                <a:ext cx="957688" cy="775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4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+mj-ea"/>
                    <a:ea typeface="+mj-ea"/>
                  </a:rPr>
                  <a:t>购买竞品未购本品</a:t>
                </a:r>
                <a:endParaRPr lang="en-US" altLang="zh-CN" sz="1400" b="1" i="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en-US" altLang="zh-CN" sz="1200" b="1" dirty="0">
                    <a:latin typeface="+mj-ea"/>
                    <a:ea typeface="+mj-ea"/>
                  </a:rPr>
                  <a:t>305,700</a:t>
                </a:r>
                <a:endParaRPr lang="en-US" altLang="zh-CN" sz="1200" b="1" dirty="0"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200" dirty="0">
                    <a:latin typeface="+mj-ea"/>
                    <a:ea typeface="+mj-ea"/>
                  </a:rPr>
                  <a:t>占比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89%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 </a:t>
                </a:r>
                <a:endParaRPr lang="zh-CN" altLang="en-US" sz="1200" b="1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626428" y="3601317"/>
              <a:ext cx="1993321" cy="832776"/>
              <a:chOff x="5720906" y="1321163"/>
              <a:chExt cx="957689" cy="832776"/>
            </a:xfrm>
          </p:grpSpPr>
          <p:sp>
            <p:nvSpPr>
              <p:cNvPr id="31" name="矩形: 圆角 30"/>
              <p:cNvSpPr/>
              <p:nvPr/>
            </p:nvSpPr>
            <p:spPr>
              <a:xfrm>
                <a:off x="5720906" y="1321163"/>
                <a:ext cx="957689" cy="816409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5720907" y="1341729"/>
                <a:ext cx="957688" cy="812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4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+mj-ea"/>
                    <a:ea typeface="+mj-ea"/>
                  </a:rPr>
                  <a:t>购买本品未购竞品</a:t>
                </a:r>
                <a:endParaRPr lang="en-US" altLang="zh-CN" sz="1400" b="1" i="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en-US" altLang="zh-CN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ea"/>
                    <a:ea typeface="+mj-ea"/>
                  </a:rPr>
                  <a:t>28,928</a:t>
                </a:r>
                <a:endParaRPr lang="en-US" altLang="zh-CN" sz="1400" b="1" i="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200" dirty="0">
                    <a:latin typeface="+mj-ea"/>
                    <a:ea typeface="+mj-ea"/>
                  </a:rPr>
                  <a:t>占比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8%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 </a:t>
                </a:r>
                <a:endParaRPr lang="zh-CN" altLang="en-US" sz="1200" b="1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626428" y="4610030"/>
              <a:ext cx="1993321" cy="816409"/>
              <a:chOff x="5720906" y="1321163"/>
              <a:chExt cx="957689" cy="816409"/>
            </a:xfrm>
          </p:grpSpPr>
          <p:sp>
            <p:nvSpPr>
              <p:cNvPr id="34" name="矩形: 圆角 33"/>
              <p:cNvSpPr/>
              <p:nvPr/>
            </p:nvSpPr>
            <p:spPr>
              <a:xfrm>
                <a:off x="5720906" y="1321163"/>
                <a:ext cx="957689" cy="816409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720907" y="1341729"/>
                <a:ext cx="957688" cy="775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4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+mj-ea"/>
                    <a:ea typeface="+mj-ea"/>
                  </a:rPr>
                  <a:t>既购买本品又购买竞品</a:t>
                </a:r>
                <a:r>
                  <a:rPr lang="en-US" altLang="zh-CN" sz="1200" b="1" dirty="0">
                    <a:latin typeface="+mj-ea"/>
                    <a:ea typeface="+mj-ea"/>
                  </a:rPr>
                  <a:t>9,300</a:t>
                </a:r>
                <a:endParaRPr lang="en-US" altLang="zh-CN" sz="1200" b="1" dirty="0"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200" dirty="0">
                    <a:latin typeface="+mj-ea"/>
                    <a:ea typeface="+mj-ea"/>
                  </a:rPr>
                  <a:t>占比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3%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 </a:t>
                </a:r>
                <a:endParaRPr lang="zh-CN" altLang="en-US" sz="1200" b="1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092904" y="2536391"/>
              <a:ext cx="1033677" cy="2890048"/>
              <a:chOff x="5720906" y="1321163"/>
              <a:chExt cx="496629" cy="816409"/>
            </a:xfrm>
          </p:grpSpPr>
          <p:sp>
            <p:nvSpPr>
              <p:cNvPr id="37" name="矩形: 圆角 36"/>
              <p:cNvSpPr/>
              <p:nvPr/>
            </p:nvSpPr>
            <p:spPr>
              <a:xfrm>
                <a:off x="5720906" y="1321163"/>
                <a:ext cx="475883" cy="816409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5720906" y="1619863"/>
                <a:ext cx="496629" cy="2190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4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+mj-ea"/>
                    <a:ea typeface="+mj-ea"/>
                  </a:rPr>
                  <a:t>已购</a:t>
                </a:r>
                <a:endParaRPr lang="en-US" altLang="zh-CN" sz="1400" b="1" i="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en-US" altLang="zh-CN" sz="1200" b="1" dirty="0">
                    <a:latin typeface="+mj-ea"/>
                    <a:ea typeface="+mj-ea"/>
                  </a:rPr>
                  <a:t>344,800</a:t>
                </a:r>
                <a:endParaRPr lang="en-US" altLang="zh-CN" sz="1200" b="1" dirty="0">
                  <a:latin typeface="+mj-ea"/>
                  <a:ea typeface="+mj-ea"/>
                </a:endParaRPr>
              </a:p>
              <a:p>
                <a:pPr algn="ctr" fontAlgn="base">
                  <a:lnSpc>
                    <a:spcPct val="120000"/>
                  </a:lnSpc>
                </a:pPr>
                <a:r>
                  <a:rPr lang="zh-CN" altLang="en-US" sz="1200" dirty="0">
                    <a:latin typeface="+mj-ea"/>
                    <a:ea typeface="+mj-ea"/>
                  </a:rPr>
                  <a:t>占比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8%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 </a:t>
                </a:r>
                <a:endParaRPr lang="zh-CN" altLang="en-US" sz="1200" b="1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</p:grpSp>
        <p:cxnSp>
          <p:nvCxnSpPr>
            <p:cNvPr id="39" name="连接符: 肘形 38"/>
            <p:cNvCxnSpPr>
              <a:stCxn id="13" idx="3"/>
              <a:endCxn id="17" idx="1"/>
            </p:cNvCxnSpPr>
            <p:nvPr/>
          </p:nvCxnSpPr>
          <p:spPr>
            <a:xfrm flipV="1">
              <a:off x="1708879" y="1992096"/>
              <a:ext cx="384026" cy="1513069"/>
            </a:xfrm>
            <a:prstGeom prst="bentConnector3">
              <a:avLst/>
            </a:prstGeom>
            <a:ln w="254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连接符: 肘形 41"/>
            <p:cNvCxnSpPr>
              <a:stCxn id="13" idx="3"/>
              <a:endCxn id="38" idx="1"/>
            </p:cNvCxnSpPr>
            <p:nvPr/>
          </p:nvCxnSpPr>
          <p:spPr>
            <a:xfrm>
              <a:off x="1708879" y="3505165"/>
              <a:ext cx="384025" cy="47624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符: 肘形 44"/>
            <p:cNvCxnSpPr>
              <a:stCxn id="38" idx="3"/>
              <a:endCxn id="29" idx="1"/>
            </p:cNvCxnSpPr>
            <p:nvPr/>
          </p:nvCxnSpPr>
          <p:spPr>
            <a:xfrm flipV="1">
              <a:off x="3126581" y="3000809"/>
              <a:ext cx="499849" cy="98060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连接符: 肘形 47"/>
            <p:cNvCxnSpPr>
              <a:stCxn id="38" idx="3"/>
              <a:endCxn id="32" idx="1"/>
            </p:cNvCxnSpPr>
            <p:nvPr/>
          </p:nvCxnSpPr>
          <p:spPr>
            <a:xfrm>
              <a:off x="3126581" y="3981413"/>
              <a:ext cx="499849" cy="4657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连接符: 肘形 50"/>
            <p:cNvCxnSpPr>
              <a:stCxn id="38" idx="3"/>
              <a:endCxn id="34" idx="1"/>
            </p:cNvCxnSpPr>
            <p:nvPr/>
          </p:nvCxnSpPr>
          <p:spPr>
            <a:xfrm>
              <a:off x="3126581" y="3981413"/>
              <a:ext cx="499847" cy="103682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图表 54"/>
          <p:cNvGraphicFramePr/>
          <p:nvPr/>
        </p:nvGraphicFramePr>
        <p:xfrm>
          <a:off x="6119597" y="2326685"/>
          <a:ext cx="5413592" cy="3842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7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50875" y="995258"/>
            <a:ext cx="10882313" cy="1098415"/>
          </a:xfrm>
        </p:spPr>
        <p:txBody>
          <a:bodyPr>
            <a:noAutofit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月，品牌总曝光人数</a:t>
            </a:r>
            <a:r>
              <a:rPr lang="en-US" altLang="zh-CN" dirty="0"/>
              <a:t>437w</a:t>
            </a:r>
            <a:r>
              <a:rPr lang="zh-CN" altLang="en-US" dirty="0"/>
              <a:t>人，曝光转化率</a:t>
            </a:r>
            <a:r>
              <a:rPr lang="en-US" altLang="zh-CN" b="1" dirty="0">
                <a:solidFill>
                  <a:srgbClr val="FF0000"/>
                </a:solidFill>
              </a:rPr>
              <a:t>0.9%</a:t>
            </a:r>
            <a:r>
              <a:rPr lang="zh-CN" altLang="en-US" dirty="0"/>
              <a:t>，竞品老客转化</a:t>
            </a:r>
            <a:r>
              <a:rPr lang="en-US" altLang="zh-CN" dirty="0"/>
              <a:t>9300</a:t>
            </a:r>
            <a:r>
              <a:rPr lang="zh-CN" altLang="en-US" dirty="0"/>
              <a:t>人，转化率</a:t>
            </a:r>
            <a:r>
              <a:rPr lang="en-US" altLang="zh-CN" b="1" dirty="0">
                <a:solidFill>
                  <a:srgbClr val="FF0000"/>
                </a:solidFill>
              </a:rPr>
              <a:t>3.0%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竞品老客触达及转化最多的品牌是</a:t>
            </a:r>
            <a:r>
              <a:rPr lang="zh-CN" altLang="en-US" b="1" dirty="0"/>
              <a:t>金豆芽</a:t>
            </a:r>
            <a:r>
              <a:rPr lang="zh-CN" altLang="en-US" dirty="0"/>
              <a:t>；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七小七</a:t>
            </a:r>
            <a:r>
              <a:rPr lang="zh-CN" altLang="en-US" dirty="0"/>
              <a:t>和</a:t>
            </a:r>
            <a:r>
              <a:rPr lang="zh-CN" altLang="en-US" b="1" dirty="0"/>
              <a:t>宝宝馋了</a:t>
            </a:r>
            <a:r>
              <a:rPr lang="zh-CN" altLang="en-US" dirty="0"/>
              <a:t>竞品转化率最高，最容易转化。</a:t>
            </a:r>
            <a:endParaRPr lang="en-US" altLang="zh-CN" dirty="0"/>
          </a:p>
        </p:txBody>
      </p:sp>
      <p:cxnSp>
        <p:nvCxnSpPr>
          <p:cNvPr id="58" name="连接符: 肘形 57"/>
          <p:cNvCxnSpPr>
            <a:stCxn id="29" idx="3"/>
            <a:endCxn id="55" idx="1"/>
          </p:cNvCxnSpPr>
          <p:nvPr/>
        </p:nvCxnSpPr>
        <p:spPr>
          <a:xfrm>
            <a:off x="5619749" y="3743603"/>
            <a:ext cx="499848" cy="504356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/>
          <p:cNvCxnSpPr>
            <a:stCxn id="35" idx="3"/>
            <a:endCxn id="55" idx="1"/>
          </p:cNvCxnSpPr>
          <p:nvPr/>
        </p:nvCxnSpPr>
        <p:spPr>
          <a:xfrm flipV="1">
            <a:off x="5619749" y="4247959"/>
            <a:ext cx="499848" cy="1513070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儿童脾胃食养市场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达人带货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格局</a:t>
            </a: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98513" y="1272025"/>
          <a:ext cx="4768850" cy="4810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0889"/>
                <a:gridCol w="625423"/>
                <a:gridCol w="1966600"/>
                <a:gridCol w="1091871"/>
                <a:gridCol w="694067"/>
              </a:tblGrid>
              <a:tr h="25128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排名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排名变化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抖音号名称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销售金额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商品平均价格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136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彩虹夫妇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3,271,253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215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拳爸奶粉字典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1,580,915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313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11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郑奶奶聊育儿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1,235,428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111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12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老唐育儿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1,208,258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105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14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魏爸育儿计划</a:t>
                      </a:r>
                      <a:r>
                        <a:rPr lang="en-US" altLang="zh-CN" sz="90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母婴用品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1,140,658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117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郑奶奶科学育儿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830,873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24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67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葵妈老夏🌻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706,316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190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👶吴爸👶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557,829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34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核桃爸冰糖妈🌼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496,290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148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—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育儿专家魏光宇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483,311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36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小新妈🌟</a:t>
                      </a:r>
                      <a:r>
                        <a:rPr lang="en-US" altLang="zh-CN" sz="900" u="none" strike="noStrike">
                          <a:effectLst/>
                          <a:latin typeface="+mj-ea"/>
                          <a:ea typeface="+mj-ea"/>
                        </a:rPr>
                        <a:t>inne </a:t>
                      </a:r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开春补钙季大破价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479,861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130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38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39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阳子说育儿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424,501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147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40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38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奶爸冲哥母婴生活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411,594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41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23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萌姐带仨娃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382,315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42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63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丽宝吖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381,768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14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小新妈购物团🌟</a:t>
                      </a:r>
                      <a:r>
                        <a:rPr lang="en-US" altLang="zh-CN" sz="900" u="none" strike="noStrike">
                          <a:effectLst/>
                          <a:latin typeface="+mj-ea"/>
                          <a:ea typeface="+mj-ea"/>
                        </a:rPr>
                        <a:t>inne </a:t>
                      </a:r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补钙季大破价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367,739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112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44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44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主持人周洲</a:t>
                      </a:r>
                      <a:r>
                        <a:rPr lang="en-US" altLang="zh-CN" sz="900" u="none" strike="noStrike">
                          <a:effectLst/>
                          <a:latin typeface="+mj-ea"/>
                          <a:ea typeface="+mj-ea"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月</a:t>
                      </a:r>
                      <a:r>
                        <a:rPr lang="en-US" altLang="zh-CN" sz="900" u="none" strike="noStrike">
                          <a:effectLst/>
                          <a:latin typeface="+mj-ea"/>
                          <a:ea typeface="+mj-ea"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日佳思敏营养素专场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363,676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47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徐大馨（嘻嘻麻麻）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351,290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49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j-ea"/>
                          <a:ea typeface="+mj-ea"/>
                        </a:rPr>
                        <a:t>辅食频道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344,180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84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英氏辅食甄选馆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333,793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52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13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婷婷辅食记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297,729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56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12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带娃的猫尼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276,414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102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  <a:latin typeface="+mn-lt"/>
                          <a:ea typeface="+mj-ea"/>
                        </a:rPr>
                        <a:t>57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+mn-lt"/>
                          <a:ea typeface="+mj-ea"/>
                        </a:rPr>
                        <a:t>16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+mj-ea"/>
                          <a:ea typeface="+mj-ea"/>
                        </a:rPr>
                        <a:t>老唐育儿小号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275,039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369060" y="1272025"/>
          <a:ext cx="4768850" cy="4810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0889"/>
                <a:gridCol w="625423"/>
                <a:gridCol w="2168203"/>
                <a:gridCol w="890268"/>
                <a:gridCol w="694067"/>
              </a:tblGrid>
              <a:tr h="25128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排名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排名变化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抖音号名称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销售金额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+mj-ea"/>
                          <a:ea typeface="+mj-ea"/>
                        </a:rPr>
                        <a:t>商品平均价格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14" marR="1514" marT="151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漠里姐姐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牛梦林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272,047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59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馋宝点点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266,742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咪咕（衍萌）母婴优选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265,465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2075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团爸的灿烂生活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264,406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李雪的李（伊伊麻麻）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255,988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65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332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金银花柚子汁专场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250,653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194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登登爸的带娃日记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233,587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135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广东一家人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(8.5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号学生开学季用品专场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230,401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87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37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瑞雪啊🔆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号飞鹤奶粉大明星做客直播间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230,019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65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一粒大米饭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223,324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27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小壳妈咪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橱窗营业中🈺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203,131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李阳母婴好物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193,645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29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皮皮奶爸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191,518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114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SMVP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母婴甄选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186,279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81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232</a:t>
                      </a:r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inne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官旗直播间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183,927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83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16</a:t>
                      </a:r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爸爸的冰箱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177,015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84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21</a:t>
                      </a:r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崔玉涛养育中心助理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176,835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87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</a:t>
                      </a:r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猴哥育儿坊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169,397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173</a:t>
                      </a:r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兰骑士益生菌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167,000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414</a:t>
                      </a:r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兰骑士好鼻子益生菌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160,752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33</a:t>
                      </a:r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小阿年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156,849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18</a:t>
                      </a:r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十一麻麻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155,214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2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24</a:t>
                      </a:r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媛来是辅食（辅食教程）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155,151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品牌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人群画像分析</a:t>
            </a:r>
            <a:endParaRPr lang="zh-CN" altLang="en-US" dirty="0"/>
          </a:p>
        </p:txBody>
      </p:sp>
      <p:graphicFrame>
        <p:nvGraphicFramePr>
          <p:cNvPr id="3" name="图表 2"/>
          <p:cNvGraphicFramePr/>
          <p:nvPr/>
        </p:nvGraphicFramePr>
        <p:xfrm>
          <a:off x="635646" y="1799792"/>
          <a:ext cx="2856721" cy="23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652140" y="4164012"/>
          <a:ext cx="5587876" cy="23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4052154" y="1799791"/>
          <a:ext cx="7001381" cy="23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6579162" y="4164011"/>
          <a:ext cx="4474374" cy="23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064006" y="5013722"/>
            <a:ext cx="1792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i="1" dirty="0">
                <a:solidFill>
                  <a:schemeClr val="accent3"/>
                </a:solidFill>
              </a:rPr>
              <a:t>加大对精致妈妈和资深中产的种草力度</a:t>
            </a:r>
            <a:endParaRPr lang="zh-CN" altLang="en-US" sz="1100" b="1" i="1" dirty="0">
              <a:solidFill>
                <a:schemeClr val="accent3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97396" y="2698890"/>
            <a:ext cx="18899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i="1" dirty="0">
                <a:solidFill>
                  <a:schemeClr val="accent3"/>
                </a:solidFill>
              </a:rPr>
              <a:t>31-40</a:t>
            </a:r>
            <a:r>
              <a:rPr lang="zh-CN" altLang="en-US" sz="1000" b="1" i="1" dirty="0">
                <a:solidFill>
                  <a:schemeClr val="accent3"/>
                </a:solidFill>
              </a:rPr>
              <a:t>岁种草人群占比低</a:t>
            </a:r>
            <a:endParaRPr lang="en-US" altLang="zh-CN" sz="1000" b="1" i="1" dirty="0">
              <a:solidFill>
                <a:schemeClr val="accent3"/>
              </a:solidFill>
            </a:endParaRPr>
          </a:p>
        </p:txBody>
      </p:sp>
      <p:sp>
        <p:nvSpPr>
          <p:cNvPr id="19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50875" y="995259"/>
            <a:ext cx="10882313" cy="879702"/>
          </a:xfrm>
        </p:spPr>
        <p:txBody>
          <a:bodyPr>
            <a:noAutofit/>
          </a:bodyPr>
          <a:lstStyle/>
          <a:p>
            <a:r>
              <a:rPr lang="zh-CN" altLang="en-US" dirty="0"/>
              <a:t>从年龄来看，</a:t>
            </a:r>
            <a:r>
              <a:rPr lang="en-US" altLang="zh-CN" dirty="0"/>
              <a:t>24-35</a:t>
            </a:r>
            <a:r>
              <a:rPr lang="zh-CN" altLang="en-US" dirty="0"/>
              <a:t>岁妈妈群体是主力核心人群，</a:t>
            </a:r>
            <a:r>
              <a:rPr lang="en-US" altLang="zh-CN" dirty="0"/>
              <a:t>31-40</a:t>
            </a:r>
            <a:r>
              <a:rPr lang="zh-CN" altLang="en-US" dirty="0"/>
              <a:t>岁</a:t>
            </a:r>
            <a:r>
              <a:rPr lang="en-US" altLang="zh-CN" dirty="0"/>
              <a:t>A4</a:t>
            </a:r>
            <a:r>
              <a:rPr lang="zh-CN" altLang="en-US" dirty="0"/>
              <a:t>群体占比也较高，但对应</a:t>
            </a:r>
            <a:r>
              <a:rPr lang="en-US" altLang="zh-CN" dirty="0"/>
              <a:t>A3</a:t>
            </a:r>
            <a:r>
              <a:rPr lang="zh-CN" altLang="en-US" dirty="0"/>
              <a:t>人群蓄水不足，</a:t>
            </a:r>
            <a:r>
              <a:rPr lang="zh-CN" altLang="en-US" b="1" dirty="0"/>
              <a:t>可适当加大</a:t>
            </a:r>
            <a:r>
              <a:rPr lang="en-US" altLang="zh-CN" b="1" dirty="0"/>
              <a:t>31-40</a:t>
            </a:r>
            <a:r>
              <a:rPr lang="zh-CN" altLang="en-US" b="1" dirty="0"/>
              <a:t>岁妈妈群体的种草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从城市等级看，</a:t>
            </a:r>
            <a:r>
              <a:rPr lang="en-US" altLang="zh-CN" b="1" dirty="0"/>
              <a:t>1-2</a:t>
            </a:r>
            <a:r>
              <a:rPr lang="zh-CN" altLang="en-US" b="1" dirty="0"/>
              <a:t>线城市</a:t>
            </a:r>
            <a:r>
              <a:rPr lang="en-US" altLang="zh-CN" b="1" dirty="0"/>
              <a:t>A3</a:t>
            </a:r>
            <a:r>
              <a:rPr lang="zh-CN" altLang="en-US" b="1" dirty="0"/>
              <a:t>人群占比略低于</a:t>
            </a:r>
            <a:r>
              <a:rPr lang="en-US" altLang="zh-CN" b="1" dirty="0"/>
              <a:t>A4A5</a:t>
            </a:r>
            <a:r>
              <a:rPr lang="zh-CN" altLang="en-US" b="1" dirty="0"/>
              <a:t>人群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从消费人群看，</a:t>
            </a:r>
            <a:r>
              <a:rPr lang="zh-CN" altLang="en-US" b="1" dirty="0"/>
              <a:t>精致妈妈和资深中产群体的种草转化率最高</a:t>
            </a:r>
            <a:r>
              <a:rPr lang="zh-CN" altLang="en-US" dirty="0"/>
              <a:t>，可持续加大对这</a:t>
            </a:r>
            <a:r>
              <a:rPr lang="en-US" altLang="zh-CN" dirty="0"/>
              <a:t>2</a:t>
            </a:r>
            <a:r>
              <a:rPr lang="zh-CN" altLang="en-US" dirty="0"/>
              <a:t>个群体的种草。</a:t>
            </a:r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 rot="14162981">
            <a:off x="5205609" y="2486774"/>
            <a:ext cx="815255" cy="385434"/>
          </a:xfrm>
          <a:prstGeom prst="ellipse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 rot="20487627">
            <a:off x="5932080" y="2472369"/>
            <a:ext cx="700979" cy="519096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 rot="20487627">
            <a:off x="6714515" y="3211629"/>
            <a:ext cx="700979" cy="519096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 rot="1397083">
            <a:off x="8969566" y="5121926"/>
            <a:ext cx="2184404" cy="450743"/>
          </a:xfrm>
          <a:prstGeom prst="ellipse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 rot="20156364">
            <a:off x="6918232" y="5139707"/>
            <a:ext cx="2167444" cy="453223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978929" y="4769561"/>
            <a:ext cx="18899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i="1" dirty="0">
                <a:solidFill>
                  <a:schemeClr val="accent3"/>
                </a:solidFill>
              </a:rPr>
              <a:t>12</a:t>
            </a:r>
            <a:r>
              <a:rPr lang="zh-CN" altLang="en-US" sz="1000" b="1" i="1" dirty="0">
                <a:solidFill>
                  <a:schemeClr val="accent3"/>
                </a:solidFill>
              </a:rPr>
              <a:t>线种草人群占比低</a:t>
            </a:r>
            <a:endParaRPr lang="en-US" altLang="zh-CN" sz="1000" b="1" i="1" dirty="0">
              <a:solidFill>
                <a:schemeClr val="accent3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 rot="18130764">
            <a:off x="907455" y="4909267"/>
            <a:ext cx="1012844" cy="519096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 rot="18930110">
            <a:off x="3684211" y="5650002"/>
            <a:ext cx="551479" cy="425479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dirty="0"/>
              <a:t>品牌购买人群品类品牌偏好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068125" y="1476377"/>
          <a:ext cx="3170237" cy="4417999"/>
        </p:xfrm>
        <a:graphic>
          <a:graphicData uri="http://schemas.openxmlformats.org/drawingml/2006/table">
            <a:tbl>
              <a:tblPr/>
              <a:tblGrid>
                <a:gridCol w="1478526"/>
                <a:gridCol w="886351"/>
                <a:gridCol w="805360"/>
              </a:tblGrid>
              <a:tr h="2594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品类偏好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覆盖人数占比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TGI-</a:t>
                      </a:r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不限 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奶粉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辅食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营养品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零食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47.6%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14,454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婴童用品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70.8%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4,054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传统滋补营养品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30.3%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2,830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童装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婴儿装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亲子装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63.7%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2,826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玩具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童车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益智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积木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模型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63.2%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2,777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书籍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杂志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报纸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45.6%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2,000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水果蔬菜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41.0%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1,607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咖啡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麦片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冲饮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46.8%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1,559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肉蛋低温制品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34.0%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1,508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收纳整理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35.6%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1,346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厨房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烹饪用具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31.7%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1,181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粮油米面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南北干货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调味品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53.5%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1,158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家庭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个人清洁工具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47.8%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1,117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美容护肤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41.8%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1,093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女装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51.6%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1,060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内衣裤袜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49.2%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1,045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餐饮具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30.2%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1,022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居家日用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34.8%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1,015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个人护理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48.4%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967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时尚饰品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30.2%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963 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零食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坚果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特产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55.2%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957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彩妆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香水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美妆工具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34.8%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950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8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洗护清洁剂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卫生巾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纸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香薰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51.3%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937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4101" marR="4101" marT="41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914199" y="1476377"/>
          <a:ext cx="2977838" cy="4418006"/>
        </p:xfrm>
        <a:graphic>
          <a:graphicData uri="http://schemas.openxmlformats.org/drawingml/2006/table">
            <a:tbl>
              <a:tblPr/>
              <a:tblGrid>
                <a:gridCol w="1548309"/>
                <a:gridCol w="718329"/>
                <a:gridCol w="711200"/>
              </a:tblGrid>
              <a:tr h="2738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标签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覆盖人数占比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TGI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贝肽斯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20.4%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41,139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金豆芽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16.4%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39,762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babycare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15.2%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19,804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秋田满满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14.2%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18,143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Deeyeo/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德佑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12.2%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5,967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松鲜鲜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12.1%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11,949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兔头妈妈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12.0%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14,128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DEXTER/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戴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·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可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·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思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11.4%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13,003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balabala/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巴拉巴拉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10.8%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8,898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JOYNCLEON/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婧麒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9.0%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20,086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IKV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8.9%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50,332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bodorme/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贝德美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8.9%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3,967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LUSN/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如山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8.5%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28,302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shiguangxue/</a:t>
                      </a: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时光学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8.4%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3,649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witsBB</a:t>
                      </a:r>
                      <a:r>
                        <a:rPr lang="en-US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健敏思</a:t>
                      </a:r>
                      <a:endParaRPr lang="zh-CN" altLang="en-US" sz="900" b="0" i="0" u="none" strike="noStrike" kern="1200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7.6%</a:t>
                      </a:r>
                      <a:endParaRPr lang="en-US" altLang="zh-CN" sz="900" b="0" i="0" u="none" strike="noStrike" kern="1200">
                        <a:solidFill>
                          <a:srgbClr val="FF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59,321 </a:t>
                      </a:r>
                      <a:endParaRPr lang="en-US" altLang="zh-CN" sz="9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润本</a:t>
                      </a:r>
                      <a:endParaRPr lang="zh-CN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7.4%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6,485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BKT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7.3%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14,066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Grandpa s Farm/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爷爷的农场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7.0%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69,233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Deer Blue/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小鹿蓝蓝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7.0%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13,959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ZDEER/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左点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6.9%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4,044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163762" y="1476376"/>
          <a:ext cx="2960113" cy="4418007"/>
        </p:xfrm>
        <a:graphic>
          <a:graphicData uri="http://schemas.openxmlformats.org/drawingml/2006/table">
            <a:tbl>
              <a:tblPr/>
              <a:tblGrid>
                <a:gridCol w="1601213"/>
                <a:gridCol w="732471"/>
                <a:gridCol w="626429"/>
              </a:tblGrid>
              <a:tr h="27388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标签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覆盖人数占比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TGI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三資堂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6.8%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2,980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SHUEHO/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树可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6.6%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19,536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emxee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嫚熙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6.6%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19,119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植护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6.5%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1,502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沫檬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6.4%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2,139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Engnice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英氏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6.1%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20,386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网易严选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6.0%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3,921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立白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6.0%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1,751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七小七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6.0%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26,722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Vinda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维达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5.9%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1,786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世喜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5.9%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18,851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Pigeon/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贝亲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5.8%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28,390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YeeHoO/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英氏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5.7%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11,181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水卫仕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5.5%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2,844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Three Squirrels/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三只松鼠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5.5%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955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Sukgarden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蔬果园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5.5%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2,163 </a:t>
                      </a:r>
                      <a:endParaRPr lang="en-US" alt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ADOPT A COW/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认养一头牛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5.5%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3,912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宫芙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5.3%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5,978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babysheep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5.1%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5,263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matern‘ella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子初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5.0%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        </a:t>
                      </a: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5,545 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750427" y="1140045"/>
            <a:ext cx="1480827" cy="33633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品类偏好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32193" y="1140045"/>
            <a:ext cx="1480827" cy="33633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品牌偏好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dirty="0"/>
              <a:t>品牌声量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039" y="1374028"/>
            <a:ext cx="3935639" cy="4782641"/>
          </a:xfrm>
          <a:prstGeom prst="rect">
            <a:avLst/>
          </a:prstGeom>
        </p:spPr>
      </p:pic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96538" y="2411597"/>
          <a:ext cx="2308791" cy="1243740"/>
        </p:xfrm>
        <a:graphic>
          <a:graphicData uri="http://schemas.openxmlformats.org/drawingml/2006/table">
            <a:tbl>
              <a:tblPr/>
              <a:tblGrid>
                <a:gridCol w="769597"/>
                <a:gridCol w="769597"/>
                <a:gridCol w="769597"/>
              </a:tblGrid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品牌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声量排名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排名涨跌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小羊森林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320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15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小鹿蓝蓝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13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光合星球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131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13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秋田满满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宝宝馋了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j-ea"/>
                        </a:rPr>
                        <a:t>-4</a:t>
                      </a:r>
                      <a:endParaRPr lang="en-US" altLang="zh-CN" sz="1100" b="0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5949952" y="1374028"/>
            <a:ext cx="2051956" cy="1025352"/>
            <a:chOff x="5478238" y="1298051"/>
            <a:chExt cx="2051956" cy="1025352"/>
          </a:xfrm>
        </p:grpSpPr>
        <p:sp>
          <p:nvSpPr>
            <p:cNvPr id="15" name="矩形: 圆角 14"/>
            <p:cNvSpPr/>
            <p:nvPr/>
          </p:nvSpPr>
          <p:spPr>
            <a:xfrm>
              <a:off x="5478238" y="1298051"/>
              <a:ext cx="2051956" cy="1025352"/>
            </a:xfrm>
            <a:prstGeom prst="roundRect">
              <a:avLst/>
            </a:prstGeom>
            <a:solidFill>
              <a:srgbClr val="F2F5F8"/>
            </a:solidFill>
            <a:ln>
              <a:solidFill>
                <a:srgbClr val="2B5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563510" y="1312289"/>
              <a:ext cx="1881412" cy="9968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base">
                <a:lnSpc>
                  <a:spcPct val="120000"/>
                </a:lnSpc>
              </a:pPr>
              <a:r>
                <a:rPr lang="zh-CN" altLang="en-US" sz="1400" b="1" i="0" dirty="0">
                  <a:solidFill>
                    <a:srgbClr val="4E5969"/>
                  </a:solidFill>
                  <a:effectLst/>
                  <a:latin typeface="+mj-ea"/>
                  <a:ea typeface="+mj-ea"/>
                </a:rPr>
                <a:t>内容量</a:t>
              </a:r>
              <a:r>
                <a:rPr lang="zh-CN" altLang="en-US" sz="1200" b="1" i="0" dirty="0">
                  <a:solidFill>
                    <a:srgbClr val="4E5969"/>
                  </a:solidFill>
                  <a:effectLst/>
                  <a:latin typeface="+mj-ea"/>
                  <a:ea typeface="+mj-ea"/>
                </a:rPr>
                <a:t>            </a:t>
              </a:r>
              <a:endParaRPr lang="en-US" altLang="zh-CN" sz="1200" b="1" i="0" dirty="0">
                <a:solidFill>
                  <a:srgbClr val="4E5969"/>
                </a:solidFill>
                <a:effectLst/>
                <a:latin typeface="+mj-ea"/>
                <a:ea typeface="+mj-ea"/>
              </a:endParaRPr>
            </a:p>
            <a:p>
              <a:pPr algn="l" fontAlgn="base">
                <a:lnSpc>
                  <a:spcPct val="120000"/>
                </a:lnSpc>
              </a:pPr>
              <a:r>
                <a:rPr lang="en-US" altLang="zh-CN" sz="1200" b="1" i="0" dirty="0">
                  <a:solidFill>
                    <a:srgbClr val="161823"/>
                  </a:solidFill>
                  <a:effectLst/>
                  <a:latin typeface="+mj-ea"/>
                  <a:ea typeface="+mj-ea"/>
                </a:rPr>
                <a:t>1,030,305</a:t>
              </a:r>
              <a:r>
                <a:rPr lang="zh-CN" altLang="en-US" sz="1200" dirty="0">
                  <a:solidFill>
                    <a:srgbClr val="FE3824"/>
                  </a:solidFill>
                  <a:latin typeface="+mj-ea"/>
                  <a:ea typeface="+mj-ea"/>
                </a:rPr>
                <a:t>      </a:t>
              </a:r>
              <a:r>
                <a:rPr lang="en-US" altLang="zh-CN" sz="1200" dirty="0">
                  <a:solidFill>
                    <a:srgbClr val="FE3824"/>
                  </a:solidFill>
                  <a:latin typeface="+mj-ea"/>
                  <a:ea typeface="+mj-ea"/>
                </a:rPr>
                <a:t>+</a:t>
              </a:r>
              <a:r>
                <a:rPr lang="en-US" altLang="zh-CN" sz="1200" b="0" i="0" dirty="0">
                  <a:solidFill>
                    <a:srgbClr val="FE3824"/>
                  </a:solidFill>
                  <a:effectLst/>
                  <a:latin typeface="+mj-ea"/>
                  <a:ea typeface="+mj-ea"/>
                </a:rPr>
                <a:t>46%</a:t>
              </a:r>
              <a:endParaRPr lang="en-US" altLang="zh-CN" sz="1200" b="0" i="0" dirty="0">
                <a:solidFill>
                  <a:srgbClr val="FE3824"/>
                </a:solidFill>
                <a:effectLst/>
                <a:latin typeface="+mj-ea"/>
                <a:ea typeface="+mj-ea"/>
              </a:endParaRPr>
            </a:p>
            <a:p>
              <a:pPr algn="l" fontAlgn="base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rgbClr val="86909C"/>
                  </a:solidFill>
                  <a:effectLst/>
                  <a:latin typeface="+mj-ea"/>
                  <a:ea typeface="+mj-ea"/>
                </a:rPr>
                <a:t>行业排名     </a:t>
              </a:r>
              <a:r>
                <a:rPr lang="en-US" altLang="zh-CN" sz="1200" b="1" i="0" dirty="0">
                  <a:solidFill>
                    <a:srgbClr val="161823"/>
                  </a:solidFill>
                  <a:effectLst/>
                  <a:latin typeface="+mj-ea"/>
                  <a:ea typeface="+mj-ea"/>
                </a:rPr>
                <a:t>300</a:t>
              </a:r>
              <a:r>
                <a:rPr lang="zh-CN" altLang="en-US" sz="1200" dirty="0">
                  <a:solidFill>
                    <a:srgbClr val="FE3824"/>
                  </a:solidFill>
                  <a:latin typeface="+mj-ea"/>
                  <a:ea typeface="+mj-ea"/>
                </a:rPr>
                <a:t>   </a:t>
              </a:r>
              <a:r>
                <a:rPr lang="en-US" altLang="zh-CN" sz="1200" dirty="0">
                  <a:solidFill>
                    <a:srgbClr val="FE3824"/>
                  </a:solidFill>
                  <a:latin typeface="+mj-ea"/>
                  <a:ea typeface="+mj-ea"/>
                </a:rPr>
                <a:t>+</a:t>
              </a:r>
              <a:r>
                <a:rPr lang="en-US" altLang="zh-CN" sz="1200" b="0" i="0" dirty="0">
                  <a:solidFill>
                    <a:srgbClr val="FE3824"/>
                  </a:solidFill>
                  <a:effectLst/>
                  <a:latin typeface="+mj-ea"/>
                  <a:ea typeface="+mj-ea"/>
                </a:rPr>
                <a:t>18</a:t>
              </a:r>
              <a:endParaRPr lang="en-US" altLang="zh-CN" sz="1200" b="0" i="0" dirty="0">
                <a:solidFill>
                  <a:srgbClr val="FE3824"/>
                </a:solidFill>
                <a:effectLst/>
                <a:latin typeface="+mj-ea"/>
                <a:ea typeface="+mj-ea"/>
              </a:endParaRPr>
            </a:p>
            <a:p>
              <a:pPr algn="l" fontAlgn="base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rgbClr val="86909C"/>
                  </a:solidFill>
                  <a:effectLst/>
                  <a:latin typeface="+mj-ea"/>
                  <a:ea typeface="+mj-ea"/>
                </a:rPr>
                <a:t>对比品牌均值</a:t>
              </a:r>
              <a:r>
                <a:rPr lang="en-US" altLang="zh-CN" sz="1200" i="0" dirty="0">
                  <a:solidFill>
                    <a:srgbClr val="161823"/>
                  </a:solidFill>
                  <a:effectLst/>
                  <a:latin typeface="+mj-ea"/>
                  <a:ea typeface="+mj-ea"/>
                </a:rPr>
                <a:t>8,672,360</a:t>
              </a:r>
              <a:endParaRPr lang="zh-CN" altLang="en-US" sz="1200" i="0" dirty="0">
                <a:solidFill>
                  <a:srgbClr val="86909C"/>
                </a:solidFill>
                <a:effectLst/>
                <a:latin typeface="+mj-ea"/>
                <a:ea typeface="+mj-ea"/>
              </a:endParaRPr>
            </a:p>
          </p:txBody>
        </p:sp>
      </p:grp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8694238" y="1264834"/>
          <a:ext cx="2308791" cy="1243740"/>
        </p:xfrm>
        <a:graphic>
          <a:graphicData uri="http://schemas.openxmlformats.org/drawingml/2006/table">
            <a:tbl>
              <a:tblPr/>
              <a:tblGrid>
                <a:gridCol w="769597"/>
                <a:gridCol w="769597"/>
                <a:gridCol w="769597"/>
              </a:tblGrid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品牌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声量排名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排名涨跌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小羊森林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300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18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小鹿蓝蓝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光合星球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157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30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秋田满满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47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j-ea"/>
                        </a:rPr>
                        <a:t>-10</a:t>
                      </a:r>
                      <a:endParaRPr lang="en-US" altLang="zh-CN" sz="1100" b="0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宝宝馋了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91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j-ea"/>
                        </a:rPr>
                        <a:t>-19</a:t>
                      </a:r>
                      <a:endParaRPr lang="en-US" altLang="zh-CN" sz="1100" b="0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5949952" y="3252673"/>
            <a:ext cx="2051956" cy="1025352"/>
            <a:chOff x="5478238" y="1298051"/>
            <a:chExt cx="2051956" cy="1025352"/>
          </a:xfrm>
        </p:grpSpPr>
        <p:sp>
          <p:nvSpPr>
            <p:cNvPr id="18" name="矩形: 圆角 17"/>
            <p:cNvSpPr/>
            <p:nvPr/>
          </p:nvSpPr>
          <p:spPr>
            <a:xfrm>
              <a:off x="5478238" y="1298051"/>
              <a:ext cx="2051956" cy="1025352"/>
            </a:xfrm>
            <a:prstGeom prst="roundRect">
              <a:avLst/>
            </a:prstGeom>
            <a:solidFill>
              <a:srgbClr val="F2F5F8"/>
            </a:solidFill>
            <a:ln>
              <a:solidFill>
                <a:srgbClr val="2B5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563510" y="1312289"/>
              <a:ext cx="1881412" cy="9968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base">
                <a:lnSpc>
                  <a:spcPct val="120000"/>
                </a:lnSpc>
              </a:pPr>
              <a:r>
                <a:rPr lang="zh-CN" altLang="en-US" sz="1400" b="1" i="0" dirty="0">
                  <a:solidFill>
                    <a:srgbClr val="4E5969"/>
                  </a:solidFill>
                  <a:effectLst/>
                  <a:latin typeface="+mj-ea"/>
                  <a:ea typeface="+mj-ea"/>
                </a:rPr>
                <a:t>搜索量</a:t>
              </a:r>
              <a:r>
                <a:rPr lang="zh-CN" altLang="en-US" sz="1200" b="1" i="0" dirty="0">
                  <a:solidFill>
                    <a:srgbClr val="4E5969"/>
                  </a:solidFill>
                  <a:effectLst/>
                  <a:latin typeface="+mj-ea"/>
                  <a:ea typeface="+mj-ea"/>
                </a:rPr>
                <a:t>            </a:t>
              </a:r>
              <a:endParaRPr lang="en-US" altLang="zh-CN" sz="1200" b="1" i="0" dirty="0">
                <a:solidFill>
                  <a:srgbClr val="4E5969"/>
                </a:solidFill>
                <a:effectLst/>
                <a:latin typeface="+mj-ea"/>
                <a:ea typeface="+mj-ea"/>
              </a:endParaRPr>
            </a:p>
            <a:p>
              <a:pPr algn="l" fontAlgn="base">
                <a:lnSpc>
                  <a:spcPct val="120000"/>
                </a:lnSpc>
              </a:pPr>
              <a:r>
                <a:rPr lang="en-US" altLang="zh-CN" sz="1200" b="1" i="0" dirty="0">
                  <a:solidFill>
                    <a:srgbClr val="161823"/>
                  </a:solidFill>
                  <a:effectLst/>
                  <a:latin typeface="+mj-ea"/>
                  <a:ea typeface="+mj-ea"/>
                </a:rPr>
                <a:t>306</a:t>
              </a:r>
              <a:r>
                <a:rPr lang="zh-CN" altLang="en-US" sz="1200" dirty="0">
                  <a:solidFill>
                    <a:srgbClr val="FE3824"/>
                  </a:solidFill>
                  <a:latin typeface="+mj-ea"/>
                  <a:ea typeface="+mj-ea"/>
                </a:rPr>
                <a:t>      </a:t>
              </a:r>
              <a:r>
                <a:rPr lang="en-US" altLang="zh-CN" sz="1200" dirty="0">
                  <a:solidFill>
                    <a:srgbClr val="FE3824"/>
                  </a:solidFill>
                  <a:latin typeface="+mj-ea"/>
                  <a:ea typeface="+mj-ea"/>
                </a:rPr>
                <a:t>+2</a:t>
              </a:r>
              <a:r>
                <a:rPr lang="en-US" altLang="zh-CN" sz="1200" b="0" i="0" dirty="0">
                  <a:solidFill>
                    <a:srgbClr val="FE3824"/>
                  </a:solidFill>
                  <a:effectLst/>
                  <a:latin typeface="+mj-ea"/>
                  <a:ea typeface="+mj-ea"/>
                </a:rPr>
                <a:t>6%</a:t>
              </a:r>
              <a:endParaRPr lang="en-US" altLang="zh-CN" sz="1200" b="0" i="0" dirty="0">
                <a:solidFill>
                  <a:srgbClr val="FE3824"/>
                </a:solidFill>
                <a:effectLst/>
                <a:latin typeface="+mj-ea"/>
                <a:ea typeface="+mj-ea"/>
              </a:endParaRPr>
            </a:p>
            <a:p>
              <a:pPr algn="l" fontAlgn="base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rgbClr val="86909C"/>
                  </a:solidFill>
                  <a:effectLst/>
                  <a:latin typeface="+mj-ea"/>
                  <a:ea typeface="+mj-ea"/>
                </a:rPr>
                <a:t>行业排名    </a:t>
              </a:r>
              <a:r>
                <a:rPr lang="en-US" altLang="zh-CN" sz="1200" b="1" i="0" dirty="0">
                  <a:solidFill>
                    <a:srgbClr val="161823"/>
                  </a:solidFill>
                  <a:effectLst/>
                  <a:latin typeface="+mj-ea"/>
                  <a:ea typeface="+mj-ea"/>
                </a:rPr>
                <a:t>387</a:t>
              </a:r>
              <a:r>
                <a:rPr lang="zh-CN" altLang="en-US" sz="1200" dirty="0">
                  <a:solidFill>
                    <a:srgbClr val="FE3824"/>
                  </a:solidFill>
                  <a:latin typeface="+mj-ea"/>
                  <a:ea typeface="+mj-ea"/>
                </a:rPr>
                <a:t>    </a:t>
              </a:r>
              <a:r>
                <a:rPr lang="en-US" altLang="zh-CN" sz="1200" dirty="0">
                  <a:solidFill>
                    <a:srgbClr val="00B050"/>
                  </a:solidFill>
                  <a:latin typeface="+mj-ea"/>
                  <a:ea typeface="+mj-ea"/>
                </a:rPr>
                <a:t>-2</a:t>
              </a:r>
              <a:endParaRPr lang="en-US" altLang="zh-CN" sz="1200" b="0" i="0" dirty="0">
                <a:solidFill>
                  <a:srgbClr val="00B050"/>
                </a:solidFill>
                <a:effectLst/>
                <a:latin typeface="+mj-ea"/>
                <a:ea typeface="+mj-ea"/>
              </a:endParaRPr>
            </a:p>
            <a:p>
              <a:pPr algn="l" fontAlgn="base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rgbClr val="86909C"/>
                  </a:solidFill>
                  <a:effectLst/>
                  <a:latin typeface="+mj-ea"/>
                  <a:ea typeface="+mj-ea"/>
                </a:rPr>
                <a:t>对比品牌均值</a:t>
              </a:r>
              <a:r>
                <a:rPr lang="en-US" altLang="zh-CN" sz="1200" i="0" dirty="0">
                  <a:solidFill>
                    <a:srgbClr val="161823"/>
                  </a:solidFill>
                  <a:effectLst/>
                  <a:latin typeface="+mj-ea"/>
                  <a:ea typeface="+mj-ea"/>
                </a:rPr>
                <a:t>8,672,360</a:t>
              </a:r>
              <a:endParaRPr lang="zh-CN" altLang="en-US" sz="1200" i="0" dirty="0">
                <a:solidFill>
                  <a:srgbClr val="86909C"/>
                </a:solidFill>
                <a:effectLst/>
                <a:latin typeface="+mj-ea"/>
                <a:ea typeface="+mj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949952" y="5131317"/>
            <a:ext cx="2051956" cy="1025352"/>
            <a:chOff x="5478238" y="1298051"/>
            <a:chExt cx="2051956" cy="1025352"/>
          </a:xfrm>
        </p:grpSpPr>
        <p:sp>
          <p:nvSpPr>
            <p:cNvPr id="23" name="矩形: 圆角 22"/>
            <p:cNvSpPr/>
            <p:nvPr/>
          </p:nvSpPr>
          <p:spPr>
            <a:xfrm>
              <a:off x="5478238" y="1298051"/>
              <a:ext cx="2051956" cy="1025352"/>
            </a:xfrm>
            <a:prstGeom prst="roundRect">
              <a:avLst/>
            </a:prstGeom>
            <a:solidFill>
              <a:srgbClr val="F2F5F8"/>
            </a:solidFill>
            <a:ln>
              <a:solidFill>
                <a:srgbClr val="2B5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563510" y="1312289"/>
              <a:ext cx="1881412" cy="9968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base">
                <a:lnSpc>
                  <a:spcPct val="120000"/>
                </a:lnSpc>
              </a:pPr>
              <a:r>
                <a:rPr lang="zh-CN" altLang="en-US" sz="1400" b="1" i="0" dirty="0">
                  <a:solidFill>
                    <a:srgbClr val="4E5969"/>
                  </a:solidFill>
                  <a:effectLst/>
                  <a:latin typeface="+mj-ea"/>
                  <a:ea typeface="+mj-ea"/>
                </a:rPr>
                <a:t>传播量</a:t>
              </a:r>
              <a:r>
                <a:rPr lang="zh-CN" altLang="en-US" sz="1200" b="1" i="0" dirty="0">
                  <a:solidFill>
                    <a:srgbClr val="4E5969"/>
                  </a:solidFill>
                  <a:effectLst/>
                  <a:latin typeface="+mj-ea"/>
                  <a:ea typeface="+mj-ea"/>
                </a:rPr>
                <a:t>            </a:t>
              </a:r>
              <a:endParaRPr lang="en-US" altLang="zh-CN" sz="1200" b="1" i="0" dirty="0">
                <a:solidFill>
                  <a:srgbClr val="4E5969"/>
                </a:solidFill>
                <a:effectLst/>
                <a:latin typeface="+mj-ea"/>
                <a:ea typeface="+mj-ea"/>
              </a:endParaRPr>
            </a:p>
            <a:p>
              <a:pPr algn="l" fontAlgn="base">
                <a:lnSpc>
                  <a:spcPct val="120000"/>
                </a:lnSpc>
              </a:pPr>
              <a:r>
                <a:rPr lang="en-US" altLang="zh-CN" sz="1200" b="1" i="0" dirty="0">
                  <a:solidFill>
                    <a:srgbClr val="161823"/>
                  </a:solidFill>
                  <a:effectLst/>
                  <a:latin typeface="+mj-ea"/>
                  <a:ea typeface="+mj-ea"/>
                </a:rPr>
                <a:t>74,522</a:t>
              </a:r>
              <a:r>
                <a:rPr lang="zh-CN" altLang="en-US" sz="1200" dirty="0">
                  <a:solidFill>
                    <a:srgbClr val="FE3824"/>
                  </a:solidFill>
                  <a:latin typeface="+mj-ea"/>
                  <a:ea typeface="+mj-ea"/>
                </a:rPr>
                <a:t>     </a:t>
              </a:r>
              <a:r>
                <a:rPr lang="en-US" altLang="zh-CN" sz="1200" dirty="0">
                  <a:solidFill>
                    <a:srgbClr val="00B050"/>
                  </a:solidFill>
                  <a:latin typeface="+mj-ea"/>
                  <a:ea typeface="+mj-ea"/>
                </a:rPr>
                <a:t>-2</a:t>
              </a:r>
              <a:r>
                <a:rPr lang="en-US" altLang="zh-CN" sz="1200" b="0" i="0" dirty="0">
                  <a:solidFill>
                    <a:srgbClr val="00B050"/>
                  </a:solidFill>
                  <a:effectLst/>
                  <a:latin typeface="+mj-ea"/>
                  <a:ea typeface="+mj-ea"/>
                </a:rPr>
                <a:t>6%</a:t>
              </a:r>
              <a:endParaRPr lang="en-US" altLang="zh-CN" sz="1200" b="0" i="0" dirty="0">
                <a:solidFill>
                  <a:srgbClr val="00B050"/>
                </a:solidFill>
                <a:effectLst/>
                <a:latin typeface="+mj-ea"/>
                <a:ea typeface="+mj-ea"/>
              </a:endParaRPr>
            </a:p>
            <a:p>
              <a:pPr algn="l" fontAlgn="base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rgbClr val="86909C"/>
                  </a:solidFill>
                  <a:effectLst/>
                  <a:latin typeface="+mj-ea"/>
                  <a:ea typeface="+mj-ea"/>
                </a:rPr>
                <a:t>行业排名    </a:t>
              </a:r>
              <a:r>
                <a:rPr lang="en-US" altLang="zh-CN" sz="1200" b="1" i="0" dirty="0">
                  <a:solidFill>
                    <a:srgbClr val="161823"/>
                  </a:solidFill>
                  <a:effectLst/>
                  <a:latin typeface="+mj-ea"/>
                  <a:ea typeface="+mj-ea"/>
                </a:rPr>
                <a:t>3</a:t>
              </a:r>
              <a:r>
                <a:rPr lang="en-US" altLang="zh-CN" sz="1200" b="1" dirty="0">
                  <a:solidFill>
                    <a:srgbClr val="161823"/>
                  </a:solidFill>
                  <a:latin typeface="+mj-ea"/>
                  <a:ea typeface="+mj-ea"/>
                </a:rPr>
                <a:t>43</a:t>
              </a:r>
              <a:r>
                <a:rPr lang="zh-CN" altLang="en-US" sz="1200" dirty="0">
                  <a:solidFill>
                    <a:srgbClr val="FE3824"/>
                  </a:solidFill>
                  <a:latin typeface="+mj-ea"/>
                  <a:ea typeface="+mj-ea"/>
                </a:rPr>
                <a:t>    </a:t>
              </a:r>
              <a:r>
                <a:rPr lang="en-US" altLang="zh-CN" sz="1200" dirty="0">
                  <a:solidFill>
                    <a:srgbClr val="00B050"/>
                  </a:solidFill>
                  <a:latin typeface="+mj-ea"/>
                  <a:ea typeface="+mj-ea"/>
                </a:rPr>
                <a:t>-13</a:t>
              </a:r>
              <a:endParaRPr lang="en-US" altLang="zh-CN" sz="1200" b="0" i="0" dirty="0">
                <a:solidFill>
                  <a:srgbClr val="00B050"/>
                </a:solidFill>
                <a:effectLst/>
                <a:latin typeface="+mj-ea"/>
                <a:ea typeface="+mj-ea"/>
              </a:endParaRPr>
            </a:p>
            <a:p>
              <a:pPr algn="l" fontAlgn="base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rgbClr val="86909C"/>
                  </a:solidFill>
                  <a:effectLst/>
                  <a:latin typeface="+mj-ea"/>
                  <a:ea typeface="+mj-ea"/>
                </a:rPr>
                <a:t>对比品牌均值</a:t>
              </a:r>
              <a:r>
                <a:rPr lang="en-US" altLang="zh-CN" sz="1200" dirty="0">
                  <a:solidFill>
                    <a:srgbClr val="161823"/>
                  </a:solidFill>
                  <a:latin typeface="+mj-ea"/>
                  <a:ea typeface="+mj-ea"/>
                </a:rPr>
                <a:t>4,933,924</a:t>
              </a:r>
              <a:endParaRPr lang="zh-CN" altLang="en-US" sz="1200" dirty="0">
                <a:solidFill>
                  <a:srgbClr val="161823"/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8694238" y="3143478"/>
          <a:ext cx="2308791" cy="1243740"/>
        </p:xfrm>
        <a:graphic>
          <a:graphicData uri="http://schemas.openxmlformats.org/drawingml/2006/table">
            <a:tbl>
              <a:tblPr/>
              <a:tblGrid>
                <a:gridCol w="769597"/>
                <a:gridCol w="769597"/>
                <a:gridCol w="769597"/>
              </a:tblGrid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品牌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声量排名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排名涨跌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小羊森林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387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endParaRPr lang="en-US" altLang="zh-CN" sz="1100" b="0" i="0" u="none" strike="noStrike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小鹿蓝蓝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光合星球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148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秋田满满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altLang="zh-CN" sz="1100" b="0" i="0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宝宝馋了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87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altLang="zh-CN" sz="1100" b="0" i="0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694238" y="5022123"/>
          <a:ext cx="2308791" cy="1243740"/>
        </p:xfrm>
        <a:graphic>
          <a:graphicData uri="http://schemas.openxmlformats.org/drawingml/2006/table">
            <a:tbl>
              <a:tblPr/>
              <a:tblGrid>
                <a:gridCol w="769597"/>
                <a:gridCol w="769597"/>
                <a:gridCol w="769597"/>
              </a:tblGrid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品牌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声量排名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排名涨跌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小羊森林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343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-13</a:t>
                      </a:r>
                      <a:endParaRPr lang="en-US" altLang="zh-CN" sz="1100" b="0" i="0" u="none" strike="noStrike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小鹿蓝蓝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12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光合星球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77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10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秋田满满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35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en-US" altLang="zh-CN" sz="1100" b="0" i="0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宝宝馋了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147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en-US" altLang="zh-CN" sz="1100" b="0" i="0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8" name="连接符: 肘形 27"/>
          <p:cNvCxnSpPr>
            <a:stCxn id="10" idx="3"/>
            <a:endCxn id="15" idx="1"/>
          </p:cNvCxnSpPr>
          <p:nvPr/>
        </p:nvCxnSpPr>
        <p:spPr>
          <a:xfrm flipV="1">
            <a:off x="5356678" y="1886704"/>
            <a:ext cx="593274" cy="1878645"/>
          </a:xfrm>
          <a:prstGeom prst="bentConnector3">
            <a:avLst/>
          </a:prstGeom>
          <a:ln w="25400">
            <a:solidFill>
              <a:srgbClr val="2B54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>
            <a:stCxn id="10" idx="3"/>
            <a:endCxn id="23" idx="1"/>
          </p:cNvCxnSpPr>
          <p:nvPr/>
        </p:nvCxnSpPr>
        <p:spPr>
          <a:xfrm>
            <a:off x="5356678" y="3765349"/>
            <a:ext cx="593274" cy="1878644"/>
          </a:xfrm>
          <a:prstGeom prst="bentConnector3">
            <a:avLst>
              <a:gd name="adj1" fmla="val 50000"/>
            </a:avLst>
          </a:prstGeom>
          <a:ln w="25400">
            <a:solidFill>
              <a:srgbClr val="2B54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/>
          <p:cNvCxnSpPr>
            <a:stCxn id="10" idx="3"/>
            <a:endCxn id="18" idx="1"/>
          </p:cNvCxnSpPr>
          <p:nvPr/>
        </p:nvCxnSpPr>
        <p:spPr>
          <a:xfrm>
            <a:off x="5356678" y="3765349"/>
            <a:ext cx="593274" cy="12700"/>
          </a:xfrm>
          <a:prstGeom prst="bentConnector3">
            <a:avLst>
              <a:gd name="adj1" fmla="val 50000"/>
            </a:avLst>
          </a:prstGeom>
          <a:ln w="25400">
            <a:solidFill>
              <a:srgbClr val="2B54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dirty="0"/>
              <a:t>品牌联想度、美誉度、偏爱度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851" y="1249900"/>
            <a:ext cx="10427081" cy="467464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612" y="5137301"/>
            <a:ext cx="3056846" cy="6176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897" y="5137301"/>
            <a:ext cx="3056846" cy="617613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485924" y="5022123"/>
          <a:ext cx="2308791" cy="1243740"/>
        </p:xfrm>
        <a:graphic>
          <a:graphicData uri="http://schemas.openxmlformats.org/drawingml/2006/table">
            <a:tbl>
              <a:tblPr/>
              <a:tblGrid>
                <a:gridCol w="769597"/>
                <a:gridCol w="769597"/>
                <a:gridCol w="769597"/>
              </a:tblGrid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品牌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声量排名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排名涨跌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小羊森林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167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80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小鹿蓝蓝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265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光合星球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135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-45</a:t>
                      </a:r>
                      <a:endParaRPr lang="en-US" altLang="zh-CN" sz="1100" b="0" i="0" u="none" strike="noStrike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秋田满满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96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25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宝宝馋了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j-ea"/>
                        </a:rPr>
                        <a:t>-4</a:t>
                      </a:r>
                      <a:endParaRPr lang="en-US" altLang="zh-CN" sz="1100" b="0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941604" y="5022123"/>
          <a:ext cx="2308791" cy="1243740"/>
        </p:xfrm>
        <a:graphic>
          <a:graphicData uri="http://schemas.openxmlformats.org/drawingml/2006/table">
            <a:tbl>
              <a:tblPr/>
              <a:tblGrid>
                <a:gridCol w="769597"/>
                <a:gridCol w="769597"/>
                <a:gridCol w="769597"/>
              </a:tblGrid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品牌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声量排名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排名涨跌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小羊森林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203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-29</a:t>
                      </a:r>
                      <a:endParaRPr lang="en-US" altLang="zh-CN" sz="1100" b="0" i="0" u="none" strike="noStrike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小鹿蓝蓝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142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-10</a:t>
                      </a:r>
                      <a:endParaRPr lang="en-US" altLang="zh-CN" sz="1100" b="0" i="0" u="none" strike="noStrike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光合星球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150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64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秋田满满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188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j-ea"/>
                        </a:rPr>
                        <a:t>23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72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宝宝馋了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254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j-ea"/>
                        </a:rPr>
                        <a:t>-21</a:t>
                      </a:r>
                      <a:endParaRPr lang="en-US" altLang="zh-CN" sz="1100" b="0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zh-CN" altLang="en-US" dirty="0"/>
              <a:t>品牌内容种草趋势</a:t>
            </a:r>
            <a:endParaRPr lang="zh-CN" altLang="en-US" dirty="0"/>
          </a:p>
        </p:txBody>
      </p:sp>
      <p:graphicFrame>
        <p:nvGraphicFramePr>
          <p:cNvPr id="11" name="图表 10"/>
          <p:cNvGraphicFramePr/>
          <p:nvPr/>
        </p:nvGraphicFramePr>
        <p:xfrm>
          <a:off x="732351" y="2466186"/>
          <a:ext cx="6106599" cy="3621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6980127" y="3050952"/>
            <a:ext cx="4648536" cy="2776642"/>
            <a:chOff x="3146088" y="1103680"/>
            <a:chExt cx="4648536" cy="277664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8" name="组合 17"/>
            <p:cNvGrpSpPr/>
            <p:nvPr/>
          </p:nvGrpSpPr>
          <p:grpSpPr>
            <a:xfrm>
              <a:off x="3146088" y="1103680"/>
              <a:ext cx="4648536" cy="2776642"/>
              <a:chOff x="3146088" y="1103680"/>
              <a:chExt cx="4648536" cy="2776642"/>
            </a:xfrm>
          </p:grpSpPr>
          <p:pic>
            <p:nvPicPr>
              <p:cNvPr id="13" name="图片 12"/>
              <p:cNvPicPr>
                <a:picLocks noChangeAspect="1"/>
              </p:cNvPicPr>
              <p:nvPr/>
            </p:nvPicPr>
            <p:blipFill rotWithShape="1">
              <a:blip r:embed="rId2"/>
              <a:srcRect r="52965"/>
              <a:stretch>
                <a:fillRect/>
              </a:stretch>
            </p:blipFill>
            <p:spPr>
              <a:xfrm>
                <a:off x="3146088" y="1103680"/>
                <a:ext cx="3673811" cy="2776642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>
                <a:picLocks noChangeAspect="1"/>
              </p:cNvPicPr>
              <p:nvPr/>
            </p:nvPicPr>
            <p:blipFill rotWithShape="1">
              <a:blip r:embed="rId2"/>
              <a:srcRect l="87521"/>
              <a:stretch>
                <a:fillRect/>
              </a:stretch>
            </p:blipFill>
            <p:spPr>
              <a:xfrm>
                <a:off x="6819899" y="1103680"/>
                <a:ext cx="974725" cy="2776642"/>
              </a:xfrm>
              <a:prstGeom prst="rect">
                <a:avLst/>
              </a:prstGeom>
            </p:spPr>
          </p:pic>
        </p:grpSp>
        <p:sp>
          <p:nvSpPr>
            <p:cNvPr id="16" name="文本框 15"/>
            <p:cNvSpPr txBox="1"/>
            <p:nvPr/>
          </p:nvSpPr>
          <p:spPr>
            <a:xfrm>
              <a:off x="6763522" y="2893065"/>
              <a:ext cx="5437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dirty="0"/>
                <a:t>小鹿蓝蓝</a:t>
              </a:r>
              <a:endParaRPr lang="zh-CN" altLang="en-US" sz="700" dirty="0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9613" y="1135328"/>
              <a:ext cx="817543" cy="223839"/>
            </a:xfrm>
            <a:prstGeom prst="rect">
              <a:avLst/>
            </a:prstGeom>
          </p:spPr>
        </p:pic>
      </p:grpSp>
      <p:sp>
        <p:nvSpPr>
          <p:cNvPr id="20" name="矩形 19"/>
          <p:cNvSpPr/>
          <p:nvPr/>
        </p:nvSpPr>
        <p:spPr>
          <a:xfrm>
            <a:off x="8475077" y="2714621"/>
            <a:ext cx="1911936" cy="33633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月竞品内容种草力情况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50875" y="995258"/>
            <a:ext cx="10882313" cy="1098415"/>
          </a:xfrm>
        </p:spPr>
        <p:txBody>
          <a:bodyPr>
            <a:noAutofit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月，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4078515" cy="71600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479" y="-76202"/>
            <a:ext cx="4074217" cy="71600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485" y="-19051"/>
            <a:ext cx="4078515" cy="716005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551385" y="163035"/>
            <a:ext cx="1689886" cy="261610"/>
            <a:chOff x="551385" y="163035"/>
            <a:chExt cx="1689886" cy="261610"/>
          </a:xfrm>
        </p:grpSpPr>
        <p:sp>
          <p:nvSpPr>
            <p:cNvPr id="11" name="文本框 10"/>
            <p:cNvSpPr txBox="1"/>
            <p:nvPr userDrawn="1"/>
          </p:nvSpPr>
          <p:spPr>
            <a:xfrm>
              <a:off x="551385" y="16303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0" i="0" dirty="0">
                  <a:latin typeface="+mj-lt"/>
                  <a:ea typeface="阿里巴巴普惠体 R" panose="00020600040101010101" pitchFamily="18" charset="-122"/>
                </a:rPr>
                <a:t>小羊森林品牌</a:t>
              </a:r>
              <a:r>
                <a:rPr lang="en-US" altLang="zh-CN" sz="1100" b="0" i="0" dirty="0">
                  <a:latin typeface="+mj-lt"/>
                  <a:ea typeface="阿里巴巴普惠体 R" panose="00020600040101010101" pitchFamily="18" charset="-122"/>
                </a:rPr>
                <a:t>&amp;</a:t>
              </a:r>
              <a:r>
                <a:rPr lang="zh-CN" altLang="en-US" sz="1100" b="0" i="0" dirty="0">
                  <a:latin typeface="+mj-lt"/>
                  <a:ea typeface="阿里巴巴普惠体 R" panose="00020600040101010101" pitchFamily="18" charset="-122"/>
                </a:rPr>
                <a:t>商品介绍</a:t>
              </a:r>
              <a:endParaRPr lang="zh-CN" altLang="en-US" sz="1100" b="0" i="0" dirty="0">
                <a:latin typeface="+mj-lt"/>
                <a:ea typeface="阿里巴巴普惠体 R" panose="00020600040101010101" pitchFamily="18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551385" y="257498"/>
              <a:ext cx="72684" cy="726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solidFill>
                  <a:schemeClr val="bg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0602544" y="5645"/>
            <a:ext cx="1319632" cy="812903"/>
            <a:chOff x="10300773" y="811026"/>
            <a:chExt cx="1025040" cy="631432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57" t="41135" r="78545" b="41090"/>
            <a:stretch>
              <a:fillRect/>
            </a:stretch>
          </p:blipFill>
          <p:spPr>
            <a:xfrm>
              <a:off x="10300773" y="811026"/>
              <a:ext cx="460133" cy="552692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11" t="41135" r="5821" b="41090"/>
            <a:stretch>
              <a:fillRect/>
            </a:stretch>
          </p:blipFill>
          <p:spPr>
            <a:xfrm>
              <a:off x="10760906" y="889766"/>
              <a:ext cx="564907" cy="552692"/>
            </a:xfrm>
            <a:prstGeom prst="rect">
              <a:avLst/>
            </a:prstGeom>
          </p:spPr>
        </p:pic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840" y="257498"/>
            <a:ext cx="1463040" cy="3091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467697" y="2842027"/>
            <a:ext cx="3222494" cy="1173944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4000">
                <a:solidFill>
                  <a:schemeClr val="tx2"/>
                </a:solidFill>
                <a:latin typeface="FZTieJinLiShu-S17S" charset="0"/>
                <a:ea typeface="FZTieJinLiShu-S17S" charset="0"/>
                <a:cs typeface="FZTieJinLiShu-S17S" charset="0"/>
              </a:defRPr>
            </a:lvl1pPr>
          </a:lstStyle>
          <a:p>
            <a:r>
              <a:rPr lang="en-US" altLang="zh-CN" sz="6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Alibaba PuHuiTi" panose="00020600040101010101" pitchFamily="18" charset="-122"/>
                <a:cs typeface="Arial" panose="020B0604020202020204" pitchFamily="34" charset="0"/>
              </a:rPr>
              <a:t>Thanks!</a:t>
            </a:r>
            <a:endParaRPr lang="en-US" altLang="zh-CN" sz="6000" b="1" dirty="0">
              <a:solidFill>
                <a:schemeClr val="accent3">
                  <a:lumMod val="40000"/>
                  <a:lumOff val="60000"/>
                </a:schemeClr>
              </a:solidFill>
              <a:latin typeface="Arial" panose="020B0604020202020204" pitchFamily="34" charset="0"/>
              <a:ea typeface="Alibaba PuHuiTi" panose="00020600040101010101" pitchFamily="18" charset="-122"/>
              <a:cs typeface="Arial" panose="020B0604020202020204" pitchFamily="3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278" y="4723249"/>
            <a:ext cx="1593819" cy="209030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6b07ed54-b2cb-453e-bb43-b7c463782892"/>
  <p:tag name="COMMONDATA" val="eyJoZGlkIjoiZTQwZWY5Y2ZiNGJiZTY4NWYyM2FiNDliN2RjMDM0MzUifQ=="/>
</p:tagLst>
</file>

<file path=ppt/theme/theme1.xml><?xml version="1.0" encoding="utf-8"?>
<a:theme xmlns:a="http://schemas.openxmlformats.org/drawingml/2006/main" name="Office 主题​​">
  <a:themeElements>
    <a:clrScheme name="小羊森林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9F69"/>
      </a:accent1>
      <a:accent2>
        <a:srgbClr val="C5DB8B"/>
      </a:accent2>
      <a:accent3>
        <a:srgbClr val="92D050"/>
      </a:accent3>
      <a:accent4>
        <a:srgbClr val="929F69"/>
      </a:accent4>
      <a:accent5>
        <a:srgbClr val="616161"/>
      </a:accent5>
      <a:accent6>
        <a:srgbClr val="C9C9C9"/>
      </a:accent6>
      <a:hlink>
        <a:srgbClr val="0563C1"/>
      </a:hlink>
      <a:folHlink>
        <a:srgbClr val="954F72"/>
      </a:folHlink>
    </a:clrScheme>
    <a:fontScheme name="小羊森林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6100</Words>
  <Application>WPS 演示</Application>
  <PresentationFormat>宽屏</PresentationFormat>
  <Paragraphs>1770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阿里巴巴普惠体 R</vt:lpstr>
      <vt:lpstr>微软雅黑</vt:lpstr>
      <vt:lpstr>黑体</vt:lpstr>
      <vt:lpstr>Calibri</vt:lpstr>
      <vt:lpstr>等线</vt:lpstr>
      <vt:lpstr>FZTieJinLiShu-S17S</vt:lpstr>
      <vt:lpstr>Alibaba PuHuiTi</vt:lpstr>
      <vt:lpstr>Arial Unicode MS</vt:lpstr>
      <vt:lpstr>Segoe Print</vt:lpstr>
      <vt:lpstr>Office 主题​​</vt:lpstr>
      <vt:lpstr>PowerPoint 演示文稿</vt:lpstr>
      <vt:lpstr>PowerPoint 演示文稿</vt:lpstr>
      <vt:lpstr>儿童脾胃食养市场近半年概览</vt:lpstr>
      <vt:lpstr>儿童脾胃食养市场品牌格局</vt:lpstr>
      <vt:lpstr>主要竞品儿童食养脾胃人群渗透分析</vt:lpstr>
      <vt:lpstr>品牌核心人群画像对比</vt:lpstr>
      <vt:lpstr>品牌流入分析-曝光人群分析</vt:lpstr>
      <vt:lpstr>儿童脾胃食养市场达人带货格局</vt:lpstr>
      <vt:lpstr>品牌5A人群画像分析</vt:lpstr>
      <vt:lpstr>品牌购买人群品类品牌偏好</vt:lpstr>
      <vt:lpstr>品牌声量</vt:lpstr>
      <vt:lpstr>品牌联想度、美誉度、偏爱度</vt:lpstr>
      <vt:lpstr>品牌内容种草趋势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高运</dc:creator>
  <cp:lastModifiedBy>郁芊青鸟</cp:lastModifiedBy>
  <cp:revision>405</cp:revision>
  <dcterms:created xsi:type="dcterms:W3CDTF">2022-11-10T11:19:00Z</dcterms:created>
  <dcterms:modified xsi:type="dcterms:W3CDTF">2026-10-10T08:27:59Z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A87012D6C7BF467CABBD90F1EFE5A8DB_13</vt:lpwstr>
  </property>
  <property fmtid="{D5CDD505-2E9C-101B-9397-08002B2CF9AE}" pid="3" name="KSOProductBuildVer">
    <vt:lpwstr>2052-12.1.0.28505</vt:lpwstr>
  </property>
</Properties>
</file>