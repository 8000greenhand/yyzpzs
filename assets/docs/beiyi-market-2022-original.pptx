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Ex2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Ex3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charts/chart16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8" r:id="rId6"/>
    <p:sldId id="269" r:id="rId7"/>
    <p:sldId id="267" r:id="rId8"/>
    <p:sldId id="273" r:id="rId9"/>
    <p:sldId id="275" r:id="rId10"/>
    <p:sldId id="271" r:id="rId11"/>
    <p:sldId id="270" r:id="rId12"/>
    <p:sldId id="272" r:id="rId13"/>
    <p:sldId id="274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ACF"/>
    <a:srgbClr val="616161"/>
    <a:srgbClr val="5D5D5D"/>
    <a:srgbClr val="C3B8AA"/>
    <a:srgbClr val="EAE7E2"/>
    <a:srgbClr val="E6E6E6"/>
    <a:srgbClr val="D8CEC4"/>
    <a:srgbClr val="F2F2F2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7" autoAdjust="0"/>
    <p:restoredTop sz="94671" autoAdjust="0"/>
  </p:normalViewPr>
  <p:slideViewPr>
    <p:cSldViewPr snapToGrid="0" showGuides="1">
      <p:cViewPr varScale="1">
        <p:scale>
          <a:sx n="62" d="100"/>
          <a:sy n="62" d="100"/>
        </p:scale>
        <p:origin x="2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___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Microsoft_Excel____15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Microsoft_Excel____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童车</a:t>
            </a:r>
            <a:r>
              <a:rPr lang="en-US" altLang="zh-CN" sz="1400" b="1" dirty="0" smtClean="0"/>
              <a:t>VS</a:t>
            </a:r>
            <a:r>
              <a:rPr lang="zh-CN" altLang="en-US" sz="1400" b="1" dirty="0" smtClean="0"/>
              <a:t>水杯消费者差异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1.4436249063727064E-3"/>
          <c:y val="5.599916398098497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水杯占比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 formatCode="0%">
                  <c:v>0.11</c:v>
                </c:pt>
                <c:pt idx="1">
                  <c:v>0.36840000000000001</c:v>
                </c:pt>
                <c:pt idx="2">
                  <c:v>0.42109999999999997</c:v>
                </c:pt>
                <c:pt idx="3">
                  <c:v>2.63E-2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C-4B2E-8089-BAC3101B7C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童车占比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9.0899999999999995E-2</c:v>
                </c:pt>
                <c:pt idx="1">
                  <c:v>0.31819999999999998</c:v>
                </c:pt>
                <c:pt idx="2">
                  <c:v>0.54549999999999998</c:v>
                </c:pt>
                <c:pt idx="3">
                  <c:v>4.5499999999999999E-2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EC-4B2E-8089-BAC3101B7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6780144"/>
        <c:axId val="1816778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水杯TGI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115.21</c:v>
                </c:pt>
                <c:pt idx="1">
                  <c:v>118.15</c:v>
                </c:pt>
                <c:pt idx="2">
                  <c:v>106.31</c:v>
                </c:pt>
                <c:pt idx="3">
                  <c:v>33.33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AEC-4B2E-8089-BAC3101B7C5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童车TGI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116.84</c:v>
                </c:pt>
                <c:pt idx="1">
                  <c:v>134.37</c:v>
                </c:pt>
                <c:pt idx="2">
                  <c:v>116.83</c:v>
                </c:pt>
                <c:pt idx="3">
                  <c:v>48.2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AEC-4B2E-8089-BAC3101B7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6766832"/>
        <c:axId val="1816783056"/>
      </c:lineChart>
      <c:catAx>
        <c:axId val="181678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8064"/>
        <c:crosses val="autoZero"/>
        <c:auto val="1"/>
        <c:lblAlgn val="ctr"/>
        <c:lblOffset val="100"/>
        <c:noMultiLvlLbl val="0"/>
      </c:catAx>
      <c:valAx>
        <c:axId val="181677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144"/>
        <c:crosses val="autoZero"/>
        <c:crossBetween val="between"/>
      </c:valAx>
      <c:valAx>
        <c:axId val="18167830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66832"/>
        <c:crosses val="max"/>
        <c:crossBetween val="between"/>
      </c:valAx>
      <c:catAx>
        <c:axId val="18167668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67830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水杯占比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Sheet1!$A$2:$A$7</c:f>
              <c:strCache>
                <c:ptCount val="6"/>
                <c:pt idx="0">
                  <c:v>一线</c:v>
                </c:pt>
                <c:pt idx="1">
                  <c:v>新一线</c:v>
                </c:pt>
                <c:pt idx="2">
                  <c:v>二线</c:v>
                </c:pt>
                <c:pt idx="3">
                  <c:v>三线</c:v>
                </c:pt>
                <c:pt idx="4">
                  <c:v>四线</c:v>
                </c:pt>
                <c:pt idx="5">
                  <c:v>五线 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 formatCode="0.00%">
                  <c:v>9.6199999999999994E-2</c:v>
                </c:pt>
                <c:pt idx="1">
                  <c:v>0.1346</c:v>
                </c:pt>
                <c:pt idx="2" formatCode="0.00%">
                  <c:v>0.1731</c:v>
                </c:pt>
                <c:pt idx="3" formatCode="0.00%">
                  <c:v>0.25</c:v>
                </c:pt>
                <c:pt idx="4" formatCode="0.00%">
                  <c:v>9.6199999999999994E-2</c:v>
                </c:pt>
                <c:pt idx="5" formatCode="General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B-48DC-8183-2ADC9FB8C3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童车占比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Sheet1!$A$2:$A$7</c:f>
              <c:strCache>
                <c:ptCount val="6"/>
                <c:pt idx="0">
                  <c:v>一线</c:v>
                </c:pt>
                <c:pt idx="1">
                  <c:v>新一线</c:v>
                </c:pt>
                <c:pt idx="2">
                  <c:v>二线</c:v>
                </c:pt>
                <c:pt idx="3">
                  <c:v>三线</c:v>
                </c:pt>
                <c:pt idx="4">
                  <c:v>四线</c:v>
                </c:pt>
                <c:pt idx="5">
                  <c:v>五线 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 formatCode="General">
                  <c:v>6.0600000000000001E-2</c:v>
                </c:pt>
                <c:pt idx="1">
                  <c:v>6.0600000000000001E-2</c:v>
                </c:pt>
                <c:pt idx="2">
                  <c:v>0.1212</c:v>
                </c:pt>
                <c:pt idx="3">
                  <c:v>0.45450000000000002</c:v>
                </c:pt>
                <c:pt idx="4">
                  <c:v>0.2727</c:v>
                </c:pt>
                <c:pt idx="5" formatCode="General">
                  <c:v>3.0300000000000001E-2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5B-48DC-8183-2ADC9FB8C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6780144"/>
        <c:axId val="1816778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水杯TGI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一线</c:v>
                </c:pt>
                <c:pt idx="1">
                  <c:v>新一线</c:v>
                </c:pt>
                <c:pt idx="2">
                  <c:v>二线</c:v>
                </c:pt>
                <c:pt idx="3">
                  <c:v>三线</c:v>
                </c:pt>
                <c:pt idx="4">
                  <c:v>四线</c:v>
                </c:pt>
                <c:pt idx="5">
                  <c:v>五线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131.06</c:v>
                </c:pt>
                <c:pt idx="1">
                  <c:v>73.39</c:v>
                </c:pt>
                <c:pt idx="2">
                  <c:v>78.930000000000007</c:v>
                </c:pt>
                <c:pt idx="3">
                  <c:v>111.16</c:v>
                </c:pt>
                <c:pt idx="4">
                  <c:v>56.62</c:v>
                </c:pt>
                <c:pt idx="5">
                  <c:v>193.5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65B-48DC-8183-2ADC9FB8C3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童车TGI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一线</c:v>
                </c:pt>
                <c:pt idx="1">
                  <c:v>新一线</c:v>
                </c:pt>
                <c:pt idx="2">
                  <c:v>二线</c:v>
                </c:pt>
                <c:pt idx="3">
                  <c:v>三线</c:v>
                </c:pt>
                <c:pt idx="4">
                  <c:v>四线</c:v>
                </c:pt>
                <c:pt idx="5">
                  <c:v>五线 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91.68</c:v>
                </c:pt>
                <c:pt idx="1">
                  <c:v>33.1</c:v>
                </c:pt>
                <c:pt idx="2">
                  <c:v>62.7</c:v>
                </c:pt>
                <c:pt idx="3">
                  <c:v>198.56</c:v>
                </c:pt>
                <c:pt idx="4">
                  <c:v>136.08000000000001</c:v>
                </c:pt>
                <c:pt idx="5">
                  <c:v>23.63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065B-48DC-8183-2ADC9FB8C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6766832"/>
        <c:axId val="1816783056"/>
      </c:lineChart>
      <c:catAx>
        <c:axId val="181678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8064"/>
        <c:crosses val="autoZero"/>
        <c:auto val="1"/>
        <c:lblAlgn val="ctr"/>
        <c:lblOffset val="100"/>
        <c:noMultiLvlLbl val="0"/>
      </c:catAx>
      <c:valAx>
        <c:axId val="181677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144"/>
        <c:crosses val="autoZero"/>
        <c:crossBetween val="between"/>
      </c:valAx>
      <c:valAx>
        <c:axId val="18167830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66832"/>
        <c:crosses val="max"/>
        <c:crossBetween val="between"/>
      </c:valAx>
      <c:catAx>
        <c:axId val="18167668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67830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9124124155546971"/>
          <c:y val="1.2229082491420384E-2"/>
          <c:w val="0.67846565578678042"/>
          <c:h val="9.7524044109433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市场水杯均价走势（元）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9531155004453749E-2"/>
          <c:y val="0.13017521671348498"/>
          <c:w val="0.896671249591804"/>
          <c:h val="0.770413469042366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57</c:v>
                </c:pt>
                <c:pt idx="2">
                  <c:v>46</c:v>
                </c:pt>
                <c:pt idx="3">
                  <c:v>49</c:v>
                </c:pt>
                <c:pt idx="4">
                  <c:v>51</c:v>
                </c:pt>
                <c:pt idx="5">
                  <c:v>44</c:v>
                </c:pt>
                <c:pt idx="6">
                  <c:v>48</c:v>
                </c:pt>
                <c:pt idx="7">
                  <c:v>58</c:v>
                </c:pt>
                <c:pt idx="8">
                  <c:v>58</c:v>
                </c:pt>
                <c:pt idx="9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AB-4986-A696-07CD51B170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44</c:v>
                </c:pt>
                <c:pt idx="1">
                  <c:v>33</c:v>
                </c:pt>
                <c:pt idx="2">
                  <c:v>31</c:v>
                </c:pt>
                <c:pt idx="3">
                  <c:v>32</c:v>
                </c:pt>
                <c:pt idx="4">
                  <c:v>33</c:v>
                </c:pt>
                <c:pt idx="5">
                  <c:v>34</c:v>
                </c:pt>
                <c:pt idx="6">
                  <c:v>44</c:v>
                </c:pt>
                <c:pt idx="7">
                  <c:v>55</c:v>
                </c:pt>
                <c:pt idx="8">
                  <c:v>51</c:v>
                </c:pt>
                <c:pt idx="9">
                  <c:v>67</c:v>
                </c:pt>
                <c:pt idx="10">
                  <c:v>76</c:v>
                </c:pt>
                <c:pt idx="11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AB-4986-A696-07CD51B17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6777232"/>
        <c:axId val="181678097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YOY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0.61363636363636354</c:v>
                </c:pt>
                <c:pt idx="1">
                  <c:v>0.72727272727272729</c:v>
                </c:pt>
                <c:pt idx="2">
                  <c:v>0.4838709677419355</c:v>
                </c:pt>
                <c:pt idx="3">
                  <c:v>0.53125</c:v>
                </c:pt>
                <c:pt idx="4">
                  <c:v>0.54545454545454541</c:v>
                </c:pt>
                <c:pt idx="5">
                  <c:v>0.29411764705882359</c:v>
                </c:pt>
                <c:pt idx="6">
                  <c:v>9.0909090909090828E-2</c:v>
                </c:pt>
                <c:pt idx="7">
                  <c:v>5.4545454545454453E-2</c:v>
                </c:pt>
                <c:pt idx="8">
                  <c:v>0.13725490196078427</c:v>
                </c:pt>
                <c:pt idx="9">
                  <c:v>-0.10447761194029848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2AB-4986-A696-07CD51B17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6761424"/>
        <c:axId val="1816786384"/>
      </c:lineChart>
      <c:catAx>
        <c:axId val="181677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976"/>
        <c:crosses val="autoZero"/>
        <c:auto val="1"/>
        <c:lblAlgn val="ctr"/>
        <c:lblOffset val="100"/>
        <c:noMultiLvlLbl val="0"/>
      </c:catAx>
      <c:valAx>
        <c:axId val="1816780976"/>
        <c:scaling>
          <c:orientation val="minMax"/>
          <c:max val="90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7232"/>
        <c:crosses val="autoZero"/>
        <c:crossBetween val="between"/>
      </c:valAx>
      <c:valAx>
        <c:axId val="1816786384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61424"/>
        <c:crosses val="max"/>
        <c:crossBetween val="between"/>
      </c:valAx>
      <c:catAx>
        <c:axId val="18167614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6786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9235144943028006"/>
          <c:y val="0.13620600163391824"/>
          <c:w val="0.39131857906710654"/>
          <c:h val="5.27096267757894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近半年各价格段销量</a:t>
            </a:r>
            <a:r>
              <a:rPr lang="zh-CN" altLang="en-US" sz="1400" b="1" dirty="0"/>
              <a:t>占比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8324373530416238"/>
          <c:y val="0.12685878962536024"/>
          <c:w val="0.79855410566179286"/>
          <c:h val="0.841440922190201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销量占比</c:v>
                </c:pt>
              </c:strCache>
            </c:strRef>
          </c:tx>
          <c:spPr>
            <a:solidFill>
              <a:schemeClr val="accent1"/>
            </a:solidFill>
            <a:ln w="158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&lt;10</c:v>
                </c:pt>
                <c:pt idx="1">
                  <c:v>10-20</c:v>
                </c:pt>
                <c:pt idx="2">
                  <c:v>20-50</c:v>
                </c:pt>
                <c:pt idx="3">
                  <c:v>50-100</c:v>
                </c:pt>
                <c:pt idx="4">
                  <c:v>100-300</c:v>
                </c:pt>
                <c:pt idx="5">
                  <c:v>300-500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0.01</c:v>
                </c:pt>
                <c:pt idx="1">
                  <c:v>0.02</c:v>
                </c:pt>
                <c:pt idx="2">
                  <c:v>0.19</c:v>
                </c:pt>
                <c:pt idx="3">
                  <c:v>0.48</c:v>
                </c:pt>
                <c:pt idx="4">
                  <c:v>0.26</c:v>
                </c:pt>
                <c:pt idx="5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83-4FFD-8597-0DADF816A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9555936"/>
        <c:axId val="1559560096"/>
      </c:barChart>
      <c:valAx>
        <c:axId val="1559560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9555936"/>
        <c:crosses val="autoZero"/>
        <c:crossBetween val="between"/>
      </c:valAx>
      <c:catAx>
        <c:axId val="15595559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95600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市场餐椅均价走势（元）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9531155004453749E-2"/>
          <c:y val="0.13017521671348498"/>
          <c:w val="0.896671249591804"/>
          <c:h val="0.770413469042366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322</c:v>
                </c:pt>
                <c:pt idx="1">
                  <c:v>325</c:v>
                </c:pt>
                <c:pt idx="2">
                  <c:v>308</c:v>
                </c:pt>
                <c:pt idx="3">
                  <c:v>304</c:v>
                </c:pt>
                <c:pt idx="4">
                  <c:v>311</c:v>
                </c:pt>
                <c:pt idx="5">
                  <c:v>173</c:v>
                </c:pt>
                <c:pt idx="6">
                  <c:v>204</c:v>
                </c:pt>
                <c:pt idx="7">
                  <c:v>215</c:v>
                </c:pt>
                <c:pt idx="8">
                  <c:v>214</c:v>
                </c:pt>
                <c:pt idx="9">
                  <c:v>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AB-4986-A696-07CD51B170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485</c:v>
                </c:pt>
                <c:pt idx="1">
                  <c:v>256</c:v>
                </c:pt>
                <c:pt idx="2">
                  <c:v>366</c:v>
                </c:pt>
                <c:pt idx="3">
                  <c:v>354</c:v>
                </c:pt>
                <c:pt idx="4">
                  <c:v>338</c:v>
                </c:pt>
                <c:pt idx="5">
                  <c:v>237</c:v>
                </c:pt>
                <c:pt idx="6">
                  <c:v>105</c:v>
                </c:pt>
                <c:pt idx="7">
                  <c:v>252</c:v>
                </c:pt>
                <c:pt idx="8">
                  <c:v>176</c:v>
                </c:pt>
                <c:pt idx="9">
                  <c:v>255</c:v>
                </c:pt>
                <c:pt idx="10">
                  <c:v>308</c:v>
                </c:pt>
                <c:pt idx="11">
                  <c:v>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AB-4986-A696-07CD51B17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6777232"/>
        <c:axId val="181678097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YOY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-0.34</c:v>
                </c:pt>
                <c:pt idx="1">
                  <c:v>0.27</c:v>
                </c:pt>
                <c:pt idx="2">
                  <c:v>-0.16</c:v>
                </c:pt>
                <c:pt idx="3">
                  <c:v>-0.14000000000000001</c:v>
                </c:pt>
                <c:pt idx="4">
                  <c:v>-0.08</c:v>
                </c:pt>
                <c:pt idx="5">
                  <c:v>-0.27</c:v>
                </c:pt>
                <c:pt idx="6">
                  <c:v>0.94</c:v>
                </c:pt>
                <c:pt idx="7">
                  <c:v>-0.15</c:v>
                </c:pt>
                <c:pt idx="8">
                  <c:v>0.22</c:v>
                </c:pt>
                <c:pt idx="9">
                  <c:v>-0.1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2AB-4986-A696-07CD51B17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6761424"/>
        <c:axId val="1816786384"/>
      </c:lineChart>
      <c:catAx>
        <c:axId val="181677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976"/>
        <c:crosses val="autoZero"/>
        <c:auto val="1"/>
        <c:lblAlgn val="ctr"/>
        <c:lblOffset val="100"/>
        <c:noMultiLvlLbl val="0"/>
      </c:catAx>
      <c:valAx>
        <c:axId val="181678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7232"/>
        <c:crosses val="autoZero"/>
        <c:crossBetween val="between"/>
      </c:valAx>
      <c:valAx>
        <c:axId val="1816786384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61424"/>
        <c:crosses val="max"/>
        <c:crossBetween val="between"/>
      </c:valAx>
      <c:catAx>
        <c:axId val="18167614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6786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9235144943028006"/>
          <c:y val="0.13620600163391824"/>
          <c:w val="0.39131857906710654"/>
          <c:h val="5.27096267757894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近半年各价格段销量</a:t>
            </a:r>
            <a:r>
              <a:rPr lang="zh-CN" altLang="en-US" sz="1400" b="1" dirty="0"/>
              <a:t>占比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8324373530416238"/>
          <c:y val="0.12685878962536024"/>
          <c:w val="0.79855410566179286"/>
          <c:h val="0.841440922190201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销量占比</c:v>
                </c:pt>
              </c:strCache>
            </c:strRef>
          </c:tx>
          <c:spPr>
            <a:solidFill>
              <a:schemeClr val="accent1"/>
            </a:solidFill>
            <a:ln w="158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50-100</c:v>
                </c:pt>
                <c:pt idx="2">
                  <c:v>100-300</c:v>
                </c:pt>
                <c:pt idx="3">
                  <c:v>300-500</c:v>
                </c:pt>
                <c:pt idx="4">
                  <c:v>500-1000</c:v>
                </c:pt>
                <c:pt idx="5">
                  <c:v>&gt;1000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0.03</c:v>
                </c:pt>
                <c:pt idx="1">
                  <c:v>7.0000000000000007E-2</c:v>
                </c:pt>
                <c:pt idx="2">
                  <c:v>0.47</c:v>
                </c:pt>
                <c:pt idx="3">
                  <c:v>0.06</c:v>
                </c:pt>
                <c:pt idx="4">
                  <c:v>0.36</c:v>
                </c:pt>
                <c:pt idx="5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83-4FFD-8597-0DADF816A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9555936"/>
        <c:axId val="1559560096"/>
      </c:barChart>
      <c:valAx>
        <c:axId val="1559560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9555936"/>
        <c:crosses val="autoZero"/>
        <c:crossBetween val="between"/>
      </c:valAx>
      <c:catAx>
        <c:axId val="15595559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95600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带货达人年龄分析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641950024195873"/>
          <c:y val="4.86614462258450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9531155004453749E-2"/>
          <c:y val="0.19821164317193124"/>
          <c:w val="0.896671249591804"/>
          <c:h val="0.688030050557265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  <c:pt idx="4">
                  <c:v>50+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8.6599999999999996E-2</c:v>
                </c:pt>
                <c:pt idx="1">
                  <c:v>0.42699999999999999</c:v>
                </c:pt>
                <c:pt idx="2">
                  <c:v>0.4118</c:v>
                </c:pt>
                <c:pt idx="3">
                  <c:v>2.7799999999999998E-2</c:v>
                </c:pt>
                <c:pt idx="4">
                  <c:v>3.04E-2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C9-4A59-B6B1-36378D25E1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816777232"/>
        <c:axId val="181678097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TGI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  <c:pt idx="4">
                  <c:v>50+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111.42</c:v>
                </c:pt>
                <c:pt idx="1">
                  <c:v>108.82</c:v>
                </c:pt>
                <c:pt idx="2">
                  <c:v>94.65</c:v>
                </c:pt>
                <c:pt idx="3">
                  <c:v>53.81</c:v>
                </c:pt>
                <c:pt idx="4">
                  <c:v>99.44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0C9-4A59-B6B1-36378D25E1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10317200"/>
        <c:axId val="1910316368"/>
      </c:lineChart>
      <c:catAx>
        <c:axId val="181677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976"/>
        <c:crosses val="autoZero"/>
        <c:auto val="1"/>
        <c:lblAlgn val="ctr"/>
        <c:lblOffset val="100"/>
        <c:noMultiLvlLbl val="0"/>
      </c:catAx>
      <c:valAx>
        <c:axId val="181678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7232"/>
        <c:crosses val="autoZero"/>
        <c:crossBetween val="between"/>
      </c:valAx>
      <c:valAx>
        <c:axId val="1910316368"/>
        <c:scaling>
          <c:orientation val="minMax"/>
          <c:min val="30"/>
        </c:scaling>
        <c:delete val="0"/>
        <c:axPos val="r"/>
        <c:numFmt formatCode="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0317200"/>
        <c:crosses val="max"/>
        <c:crossBetween val="between"/>
      </c:valAx>
      <c:catAx>
        <c:axId val="19103172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103163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10429068026924926"/>
          <c:w val="0.34641643055845062"/>
          <c:h val="0.106237132974873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粉丝量级分析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964199170996851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8849238001599276E-2"/>
          <c:y val="0.22514128516046999"/>
          <c:w val="0.94312959335309721"/>
          <c:h val="0.66468864288673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1-10w</c:v>
                </c:pt>
                <c:pt idx="1">
                  <c:v>10-50w</c:v>
                </c:pt>
                <c:pt idx="2">
                  <c:v>50-100w</c:v>
                </c:pt>
                <c:pt idx="3">
                  <c:v>100-500w</c:v>
                </c:pt>
                <c:pt idx="4">
                  <c:v>500-1000w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0.15820000000000001</c:v>
                </c:pt>
                <c:pt idx="1">
                  <c:v>0.33700000000000002</c:v>
                </c:pt>
                <c:pt idx="2">
                  <c:v>0.12909999999999999</c:v>
                </c:pt>
                <c:pt idx="3">
                  <c:v>0.1852</c:v>
                </c:pt>
                <c:pt idx="4">
                  <c:v>9.11E-2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52-4497-BB74-5B0BECE606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达人占比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1-10w</c:v>
                </c:pt>
                <c:pt idx="1">
                  <c:v>10-50w</c:v>
                </c:pt>
                <c:pt idx="2">
                  <c:v>50-100w</c:v>
                </c:pt>
                <c:pt idx="3">
                  <c:v>100-500w</c:v>
                </c:pt>
                <c:pt idx="4">
                  <c:v>500-1000w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0.60280561122244491</c:v>
                </c:pt>
                <c:pt idx="1">
                  <c:v>0.25511022044088177</c:v>
                </c:pt>
                <c:pt idx="2">
                  <c:v>6.2324649298597191E-2</c:v>
                </c:pt>
                <c:pt idx="3">
                  <c:v>6.7935871743486975E-2</c:v>
                </c:pt>
                <c:pt idx="4">
                  <c:v>1.1823647294589179E-2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52-4497-BB74-5B0BECE606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6777232"/>
        <c:axId val="181678097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带货系数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4.1961442472727546E-2"/>
                  <c:y val="-0.1525804053044135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61616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B352-4497-BB74-5B0BECE60612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EB9B-4BB3-943B-878D31A0CB1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B9B-4BB3-943B-878D31A0CB1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352-4497-BB74-5B0BECE60612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B9B-4BB3-943B-878D31A0CB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1-10w</c:v>
                </c:pt>
                <c:pt idx="1">
                  <c:v>10-50w</c:v>
                </c:pt>
                <c:pt idx="2">
                  <c:v>50-100w</c:v>
                </c:pt>
                <c:pt idx="3">
                  <c:v>100-500w</c:v>
                </c:pt>
                <c:pt idx="4">
                  <c:v>500-1000w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0.26243949468085104</c:v>
                </c:pt>
                <c:pt idx="1">
                  <c:v>1.3209976433621367</c:v>
                </c:pt>
                <c:pt idx="2">
                  <c:v>2.0714115755627009</c:v>
                </c:pt>
                <c:pt idx="3">
                  <c:v>2.7261002949852506</c:v>
                </c:pt>
                <c:pt idx="4">
                  <c:v>7.704898305084745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352-4497-BB74-5B0BECE606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16761424"/>
        <c:axId val="1816786384"/>
      </c:lineChart>
      <c:catAx>
        <c:axId val="181677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976"/>
        <c:crosses val="autoZero"/>
        <c:auto val="1"/>
        <c:lblAlgn val="ctr"/>
        <c:lblOffset val="100"/>
        <c:noMultiLvlLbl val="0"/>
      </c:catAx>
      <c:valAx>
        <c:axId val="181678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7232"/>
        <c:crosses val="autoZero"/>
        <c:crossBetween val="between"/>
      </c:valAx>
      <c:valAx>
        <c:axId val="1816786384"/>
        <c:scaling>
          <c:orientation val="minMax"/>
        </c:scaling>
        <c:delete val="0"/>
        <c:axPos val="r"/>
        <c:numFmt formatCode="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61424"/>
        <c:crosses val="max"/>
        <c:crossBetween val="between"/>
      </c:valAx>
      <c:catAx>
        <c:axId val="18167614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6786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3702721023323613E-2"/>
          <c:y val="0.12186415055785643"/>
          <c:w val="0.45097022957640925"/>
          <c:h val="0.138779125250277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9F7-49A9-8218-C0A8848EEEB7}"/>
              </c:ext>
            </c:extLst>
          </c:dPt>
          <c:dPt>
            <c:idx val="1"/>
            <c:bubble3D val="0"/>
            <c:explosion val="14"/>
            <c:spPr>
              <a:solidFill>
                <a:schemeClr val="accent2"/>
              </a:soli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9F7-49A9-8218-C0A8848EEEB7}"/>
              </c:ext>
            </c:extLst>
          </c:dPt>
          <c:dPt>
            <c:idx val="2"/>
            <c:bubble3D val="0"/>
            <c:explosion val="10"/>
            <c:spPr>
              <a:solidFill>
                <a:schemeClr val="accent3"/>
              </a:soli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9F7-49A9-8218-C0A8848EEEB7}"/>
              </c:ext>
            </c:extLst>
          </c:dPt>
          <c:dLbls>
            <c:dLbl>
              <c:idx val="0"/>
              <c:layout>
                <c:manualLayout>
                  <c:x val="3.5488420051894211E-2"/>
                  <c:y val="-1.639321778797810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6555488748491779"/>
                      <c:h val="0.17184868341836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9F7-49A9-8218-C0A8848EEEB7}"/>
                </c:ext>
              </c:extLst>
            </c:dLbl>
            <c:dLbl>
              <c:idx val="1"/>
              <c:layout>
                <c:manualLayout>
                  <c:x val="-1.4764422191746542E-2"/>
                  <c:y val="-3.271237493594319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315643861975214"/>
                      <c:h val="0.17184868341836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9F7-49A9-8218-C0A8848EEEB7}"/>
                </c:ext>
              </c:extLst>
            </c:dLbl>
            <c:dLbl>
              <c:idx val="2"/>
              <c:layout>
                <c:manualLayout>
                  <c:x val="-1.5383526304007442E-2"/>
                  <c:y val="-8.189251235634817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2912818254553569"/>
                      <c:h val="0.17184868341836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9F7-49A9-8218-C0A8848EEE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带货达人</c:v>
                </c:pt>
                <c:pt idx="1">
                  <c:v>品牌自播</c:v>
                </c:pt>
                <c:pt idx="2">
                  <c:v>头部达人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0.63759999999999994</c:v>
                </c:pt>
                <c:pt idx="1">
                  <c:v>0.2029</c:v>
                </c:pt>
                <c:pt idx="2">
                  <c:v>0.1595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F7-49A9-8218-C0A8848EE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50800" dist="50800" dir="5400000" sx="1000" sy="1000" algn="ctr" rotWithShape="0">
        <a:srgbClr val="000000">
          <a:alpha val="43137"/>
        </a:srgbClr>
      </a:outerShdw>
    </a:effec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带货达人年龄分析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641950024195873"/>
          <c:y val="4.86614462258450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9531155004453749E-2"/>
          <c:y val="0.19821164317193124"/>
          <c:w val="0.896671249591804"/>
          <c:h val="0.688030050557265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  <c:pt idx="4">
                  <c:v>50+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7.8E-2</c:v>
                </c:pt>
                <c:pt idx="1">
                  <c:v>0.43580000000000002</c:v>
                </c:pt>
                <c:pt idx="2">
                  <c:v>0.39739999999999998</c:v>
                </c:pt>
                <c:pt idx="3">
                  <c:v>4.3200000000000002E-2</c:v>
                </c:pt>
                <c:pt idx="4">
                  <c:v>3.4799999999999998E-2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C9-4A59-B6B1-36378D25E1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816777232"/>
        <c:axId val="181678097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TGI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18-23</c:v>
                </c:pt>
                <c:pt idx="1">
                  <c:v>24-30</c:v>
                </c:pt>
                <c:pt idx="2">
                  <c:v>31-40</c:v>
                </c:pt>
                <c:pt idx="3">
                  <c:v>41-50</c:v>
                </c:pt>
                <c:pt idx="4">
                  <c:v>50+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99.11</c:v>
                </c:pt>
                <c:pt idx="1">
                  <c:v>106.41</c:v>
                </c:pt>
                <c:pt idx="2">
                  <c:v>94.54</c:v>
                </c:pt>
                <c:pt idx="3">
                  <c:v>94.54</c:v>
                </c:pt>
                <c:pt idx="4">
                  <c:v>111.9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0C9-4A59-B6B1-36378D25E1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10317200"/>
        <c:axId val="1910316368"/>
      </c:lineChart>
      <c:catAx>
        <c:axId val="181677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976"/>
        <c:crosses val="autoZero"/>
        <c:auto val="1"/>
        <c:lblAlgn val="ctr"/>
        <c:lblOffset val="100"/>
        <c:noMultiLvlLbl val="0"/>
      </c:catAx>
      <c:valAx>
        <c:axId val="181678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7232"/>
        <c:crosses val="autoZero"/>
        <c:crossBetween val="between"/>
      </c:valAx>
      <c:valAx>
        <c:axId val="1910316368"/>
        <c:scaling>
          <c:orientation val="minMax"/>
          <c:min val="30"/>
        </c:scaling>
        <c:delete val="0"/>
        <c:axPos val="r"/>
        <c:numFmt formatCode="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0317200"/>
        <c:crosses val="max"/>
        <c:crossBetween val="between"/>
      </c:valAx>
      <c:catAx>
        <c:axId val="19103172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103163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10429068026924926"/>
          <c:w val="0.34641643055845062"/>
          <c:h val="0.106237132974873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粉丝量级分析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964199170996851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8849238001599276E-2"/>
          <c:y val="0.22514128516046999"/>
          <c:w val="0.94312959335309721"/>
          <c:h val="0.66468864288673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1-10w</c:v>
                </c:pt>
                <c:pt idx="1">
                  <c:v>10-50w</c:v>
                </c:pt>
                <c:pt idx="2">
                  <c:v>50-100w</c:v>
                </c:pt>
                <c:pt idx="3">
                  <c:v>100-500w</c:v>
                </c:pt>
                <c:pt idx="4">
                  <c:v>500-1000w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0.76590000000000003</c:v>
                </c:pt>
                <c:pt idx="1">
                  <c:v>9.2399999999999996E-2</c:v>
                </c:pt>
                <c:pt idx="2">
                  <c:v>2.3699999999999999E-2</c:v>
                </c:pt>
                <c:pt idx="3">
                  <c:v>4.9799999999999997E-2</c:v>
                </c:pt>
                <c:pt idx="4">
                  <c:v>6.9999999999999999E-4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52-4497-BB74-5B0BECE606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达人占比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1-10w</c:v>
                </c:pt>
                <c:pt idx="1">
                  <c:v>10-50w</c:v>
                </c:pt>
                <c:pt idx="2">
                  <c:v>50-100w</c:v>
                </c:pt>
                <c:pt idx="3">
                  <c:v>100-500w</c:v>
                </c:pt>
                <c:pt idx="4">
                  <c:v>500-1000w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0.73570324574961365</c:v>
                </c:pt>
                <c:pt idx="1">
                  <c:v>0.20865533230293662</c:v>
                </c:pt>
                <c:pt idx="2">
                  <c:v>4.0185471406491501E-2</c:v>
                </c:pt>
                <c:pt idx="3">
                  <c:v>1.3910355486862442E-2</c:v>
                </c:pt>
                <c:pt idx="4">
                  <c:v>1.5455950540958269E-3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52-4497-BB74-5B0BECE606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6777232"/>
        <c:axId val="181678097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带货系数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B352-4497-BB74-5B0BECE60612}"/>
                </c:ext>
              </c:extLst>
            </c:dLbl>
            <c:dLbl>
              <c:idx val="3"/>
              <c:layout>
                <c:manualLayout>
                  <c:x val="-3.6385334259839849E-2"/>
                  <c:y val="2.28622281258564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352-4497-BB74-5B0BECE606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1-10w</c:v>
                </c:pt>
                <c:pt idx="1">
                  <c:v>10-50w</c:v>
                </c:pt>
                <c:pt idx="2">
                  <c:v>50-100w</c:v>
                </c:pt>
                <c:pt idx="3">
                  <c:v>100-500w</c:v>
                </c:pt>
                <c:pt idx="4">
                  <c:v>500-1000w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1.0410447478991596</c:v>
                </c:pt>
                <c:pt idx="1">
                  <c:v>0.44283555555555554</c:v>
                </c:pt>
                <c:pt idx="2">
                  <c:v>0.58976538461538452</c:v>
                </c:pt>
                <c:pt idx="3">
                  <c:v>3.5800666666666663</c:v>
                </c:pt>
                <c:pt idx="4">
                  <c:v>0.45290000000000002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352-4497-BB74-5B0BECE606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16761424"/>
        <c:axId val="1816786384"/>
      </c:lineChart>
      <c:catAx>
        <c:axId val="181677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80976"/>
        <c:crosses val="autoZero"/>
        <c:auto val="1"/>
        <c:lblAlgn val="ctr"/>
        <c:lblOffset val="100"/>
        <c:noMultiLvlLbl val="0"/>
      </c:catAx>
      <c:valAx>
        <c:axId val="1816780976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77232"/>
        <c:crosses val="autoZero"/>
        <c:crossBetween val="between"/>
      </c:valAx>
      <c:valAx>
        <c:axId val="1816786384"/>
        <c:scaling>
          <c:orientation val="minMax"/>
        </c:scaling>
        <c:delete val="0"/>
        <c:axPos val="r"/>
        <c:numFmt formatCode="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6761424"/>
        <c:crosses val="max"/>
        <c:crossBetween val="between"/>
      </c:valAx>
      <c:catAx>
        <c:axId val="18167614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6786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3702721023323613E-2"/>
          <c:y val="0.12186415055785643"/>
          <c:w val="0.45097022957640925"/>
          <c:h val="0.138779125250277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6DA-4C9C-85DD-D72606B9786F}"/>
              </c:ext>
            </c:extLst>
          </c:dPt>
          <c:dPt>
            <c:idx val="1"/>
            <c:bubble3D val="0"/>
            <c:explosion val="14"/>
            <c:spPr>
              <a:solidFill>
                <a:schemeClr val="accent2"/>
              </a:soli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6DA-4C9C-85DD-D72606B9786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6DA-4C9C-85DD-D72606B9786F}"/>
              </c:ext>
            </c:extLst>
          </c:dPt>
          <c:dLbls>
            <c:dLbl>
              <c:idx val="0"/>
              <c:layout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6555488748491779"/>
                      <c:h val="0.17184868341836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6DA-4C9C-85DD-D72606B9786F}"/>
                </c:ext>
              </c:extLst>
            </c:dLbl>
            <c:dLbl>
              <c:idx val="1"/>
              <c:layout>
                <c:manualLayout>
                  <c:x val="-0.2772074368251447"/>
                  <c:y val="-7.369582278628067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315643861975214"/>
                      <c:h val="0.17184868341836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6DA-4C9C-85DD-D72606B9786F}"/>
                </c:ext>
              </c:extLst>
            </c:dLbl>
            <c:dLbl>
              <c:idx val="2"/>
              <c:layout>
                <c:manualLayout>
                  <c:x val="0.16600103021156148"/>
                  <c:y val="-7.369567677271758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2912818254553569"/>
                      <c:h val="0.17184868341836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6DA-4C9C-85DD-D72606B978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带货达人</c:v>
                </c:pt>
                <c:pt idx="1">
                  <c:v>品牌自播</c:v>
                </c:pt>
                <c:pt idx="2">
                  <c:v>头部达人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0.94940000000000002</c:v>
                </c:pt>
                <c:pt idx="1">
                  <c:v>4.99E-2</c:v>
                </c:pt>
                <c:pt idx="2">
                  <c:v>6.9999999999999999E-4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DA-4C9C-85DD-D72606B97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outerShdw blurRad="50800" dist="50800" dir="5400000" sx="1000" sy="1000" algn="ctr" rotWithShape="0">
        <a:srgbClr val="000000">
          <a:alpha val="43137"/>
        </a:srgbClr>
      </a:outerShdw>
    </a:effec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竞品抖店渠道销量占比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7644525272374698E-2"/>
          <c:y val="0.12777939042089986"/>
          <c:w val="0.895713025926135"/>
          <c:h val="0.7727625338559820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直播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fld id="{2A62088D-B7B8-4DDC-BEB5-0E5131353CF3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2AD17B6B-A208-4EC0-9842-FBFB2FBF0758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840-4D56-8F89-0ADD23C0CE28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E4C19E45-E343-4123-A447-2EC4A6E1C593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26958ACF-ACC9-472F-9F7D-7F4B052F39D5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4840-4D56-8F89-0ADD23C0CE28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fld id="{B02BE460-8F08-4323-8428-838389DCEFCC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725DC57E-3723-4C06-9C7D-D8DA5A47A148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840-4D56-8F89-0ADD23C0CE28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fld id="{D4600FB2-0BBD-4CC4-98D2-06D9467EDF7A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BEDD02F0-DDF8-459A-9AF4-94A6DC5224DA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4840-4D56-8F89-0ADD23C0CE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贝易</c:v>
                </c:pt>
                <c:pt idx="1">
                  <c:v>Hagaday</c:v>
                </c:pt>
                <c:pt idx="2">
                  <c:v>世喜</c:v>
                </c:pt>
                <c:pt idx="3">
                  <c:v>bablov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0.74619999999999997</c:v>
                </c:pt>
                <c:pt idx="1">
                  <c:v>0.502</c:v>
                </c:pt>
                <c:pt idx="2">
                  <c:v>0.72140000000000004</c:v>
                </c:pt>
                <c:pt idx="3">
                  <c:v>0.85440000000000005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Sheet1!$F$2:$F$5</c15:f>
                <c15:dlblRangeCache>
                  <c:ptCount val="4"/>
                  <c:pt idx="0">
                    <c:v>7.5w-10w</c:v>
                  </c:pt>
                  <c:pt idx="1">
                    <c:v>1w-2.5w</c:v>
                  </c:pt>
                  <c:pt idx="2">
                    <c:v>50w-75w</c:v>
                  </c:pt>
                  <c:pt idx="3">
                    <c:v>10w-25w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840-4D56-8F89-0ADD23C0CE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视频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fld id="{E99D8173-3141-4FD8-8F3E-435887EFE66E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6D0D76A1-E1B8-4545-87B2-C522817B0B6C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4840-4D56-8F89-0ADD23C0CE28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78256598-B94A-41F4-843B-D9CBADB30FF3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58AA8B3A-1CC2-4B93-A848-9B041B267463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4840-4D56-8F89-0ADD23C0CE28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fld id="{B7F7D9CF-3CCA-4D8B-ACB2-783504FC3961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639C280F-40AC-4578-B1BF-FE3D0E4CA217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4840-4D56-8F89-0ADD23C0CE28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fld id="{8BAA286D-2635-45BA-B5DA-C40FFBF5D5B7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B1CBF9CA-D09C-4FF4-8EB3-1D381E4410E1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4840-4D56-8F89-0ADD23C0CE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贝易</c:v>
                </c:pt>
                <c:pt idx="1">
                  <c:v>Hagaday</c:v>
                </c:pt>
                <c:pt idx="2">
                  <c:v>世喜</c:v>
                </c:pt>
                <c:pt idx="3">
                  <c:v>bablov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2.5600000000000001E-2</c:v>
                </c:pt>
                <c:pt idx="1">
                  <c:v>0.17649999999999999</c:v>
                </c:pt>
                <c:pt idx="2">
                  <c:v>0.15040000000000001</c:v>
                </c:pt>
                <c:pt idx="3">
                  <c:v>4.3799999999999999E-2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Sheet1!$G$2:$G$5</c15:f>
                <c15:dlblRangeCache>
                  <c:ptCount val="4"/>
                  <c:pt idx="0">
                    <c:v>2500-5000</c:v>
                  </c:pt>
                  <c:pt idx="1">
                    <c:v>2500-5000</c:v>
                  </c:pt>
                  <c:pt idx="2">
                    <c:v>10w-25w</c:v>
                  </c:pt>
                  <c:pt idx="3">
                    <c:v>1w-2.5w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4840-4D56-8F89-0ADD23C0CE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自然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fld id="{6B620523-36B5-413A-A649-C5DA44B85EC1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D316E5D5-6481-4B60-A2B3-F5F180D7B966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4840-4D56-8F89-0ADD23C0CE28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36C8D26C-7A8E-44A5-87A0-F32B66FE85D9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E3F068FF-598D-4659-B1CE-C9835C308CCC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4840-4D56-8F89-0ADD23C0CE28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fld id="{01E6E3ED-2868-4DAB-BE6E-CB263F50734F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A25DB984-F4E2-40E2-A6B4-D40814EECF16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4840-4D56-8F89-0ADD23C0CE28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fld id="{9614E47D-65DE-4137-B302-F2D8D4C155E4}" type="CELLRANGE">
                      <a:rPr lang="en-US" altLang="zh-CN"/>
                      <a:pPr/>
                      <a:t>[CELLRANGE]</a:t>
                    </a:fld>
                    <a:endParaRPr lang="en-US" altLang="zh-CN" baseline="0"/>
                  </a:p>
                  <a:p>
                    <a:fld id="{3FE8C655-D103-4EDC-9C9A-BB6B1F6F5977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4840-4D56-8F89-0ADD23C0CE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贝易</c:v>
                </c:pt>
                <c:pt idx="1">
                  <c:v>Hagaday</c:v>
                </c:pt>
                <c:pt idx="2">
                  <c:v>世喜</c:v>
                </c:pt>
                <c:pt idx="3">
                  <c:v>bablov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0.22819999999999999</c:v>
                </c:pt>
                <c:pt idx="1">
                  <c:v>0.32140000000000002</c:v>
                </c:pt>
                <c:pt idx="2">
                  <c:v>0.12809999999999999</c:v>
                </c:pt>
                <c:pt idx="3">
                  <c:v>0.1017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Sheet1!$H$2:$H$5</c15:f>
                <c15:dlblRangeCache>
                  <c:ptCount val="4"/>
                  <c:pt idx="0">
                    <c:v>2.5w-5w</c:v>
                  </c:pt>
                  <c:pt idx="1">
                    <c:v>7500-1w</c:v>
                  </c:pt>
                  <c:pt idx="2">
                    <c:v>10w-25w</c:v>
                  </c:pt>
                  <c:pt idx="3">
                    <c:v>2.5w-5w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2-4840-4D56-8F89-0ADD23C0CE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45231935"/>
        <c:axId val="45233183"/>
      </c:barChart>
      <c:catAx>
        <c:axId val="452319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233183"/>
        <c:crosses val="autoZero"/>
        <c:auto val="1"/>
        <c:lblAlgn val="ctr"/>
        <c:lblOffset val="100"/>
        <c:noMultiLvlLbl val="0"/>
      </c:catAx>
      <c:valAx>
        <c:axId val="4523318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2319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453224480081289E-2"/>
          <c:y val="0.14196061849308023"/>
          <c:w val="0.1016604901447732"/>
          <c:h val="0.489721723826611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 smtClean="0"/>
              <a:t>竞品达人月均活跃度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达人数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贝易</c:v>
                </c:pt>
                <c:pt idx="1">
                  <c:v>Hagaday</c:v>
                </c:pt>
                <c:pt idx="2">
                  <c:v>世喜</c:v>
                </c:pt>
                <c:pt idx="3">
                  <c:v>bablov</c:v>
                </c:pt>
              </c:strCache>
            </c:strRef>
          </c:cat>
          <c:val>
            <c:numRef>
              <c:f>Sheet1!$B$2:$B$5</c:f>
              <c:numCache>
                <c:formatCode>0_);[Red]\(0\)</c:formatCode>
                <c:ptCount val="4"/>
                <c:pt idx="0">
                  <c:v>333</c:v>
                </c:pt>
                <c:pt idx="1">
                  <c:v>311</c:v>
                </c:pt>
                <c:pt idx="2">
                  <c:v>1645</c:v>
                </c:pt>
                <c:pt idx="3">
                  <c:v>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D5-48EF-97C5-0ABA56543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6471967"/>
        <c:axId val="3646739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月均开播次数/人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贝易</c:v>
                </c:pt>
                <c:pt idx="1">
                  <c:v>Hagaday</c:v>
                </c:pt>
                <c:pt idx="2">
                  <c:v>世喜</c:v>
                </c:pt>
                <c:pt idx="3">
                  <c:v>bablov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3.0149700598802394</c:v>
                </c:pt>
                <c:pt idx="1">
                  <c:v>5.392282958199357</c:v>
                </c:pt>
                <c:pt idx="2">
                  <c:v>4.6036474164133736</c:v>
                </c:pt>
                <c:pt idx="3">
                  <c:v>2.6942148760330578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5D5-48EF-97C5-0ABA56543F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月均短视频发布数/人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贝易</c:v>
                </c:pt>
                <c:pt idx="1">
                  <c:v>Hagaday</c:v>
                </c:pt>
                <c:pt idx="2">
                  <c:v>世喜</c:v>
                </c:pt>
                <c:pt idx="3">
                  <c:v>bablov</c:v>
                </c:pt>
              </c:strCache>
            </c:strRef>
          </c:cat>
          <c:val>
            <c:numRef>
              <c:f>Sheet1!$D$2:$D$5</c:f>
              <c:numCache>
                <c:formatCode>_(* #,##0.00_);_(* \(#,##0.00\);_(* "-"??_);_(@_)</c:formatCode>
                <c:ptCount val="4"/>
                <c:pt idx="0">
                  <c:v>0.79640718562874246</c:v>
                </c:pt>
                <c:pt idx="1">
                  <c:v>0.91961414790996787</c:v>
                </c:pt>
                <c:pt idx="2">
                  <c:v>0.90820668693009121</c:v>
                </c:pt>
                <c:pt idx="3">
                  <c:v>0.79063360881542699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5D5-48EF-97C5-0ABA56543FC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71279199"/>
        <c:axId val="371287519"/>
      </c:lineChart>
      <c:catAx>
        <c:axId val="36471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6467391"/>
        <c:crosses val="autoZero"/>
        <c:auto val="1"/>
        <c:lblAlgn val="ctr"/>
        <c:lblOffset val="100"/>
        <c:noMultiLvlLbl val="0"/>
      </c:catAx>
      <c:valAx>
        <c:axId val="36467391"/>
        <c:scaling>
          <c:orientation val="minMax"/>
        </c:scaling>
        <c:delete val="0"/>
        <c:axPos val="l"/>
        <c:numFmt formatCode="#,##0.0_);[Red]\(#,##0.0\)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6471967"/>
        <c:crosses val="autoZero"/>
        <c:crossBetween val="between"/>
      </c:valAx>
      <c:valAx>
        <c:axId val="371287519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279199"/>
        <c:crosses val="max"/>
        <c:crossBetween val="between"/>
      </c:valAx>
      <c:catAx>
        <c:axId val="3712791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712875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i="0" u="none" strike="noStrike" baseline="0" dirty="0" smtClean="0">
                <a:effectLst/>
              </a:rPr>
              <a:t>世喜月带货达人变化及店铺</a:t>
            </a:r>
            <a:r>
              <a:rPr lang="en-US" altLang="zh-CN" sz="1400" b="1" i="0" u="none" strike="noStrike" baseline="0" dirty="0" smtClean="0">
                <a:effectLst/>
              </a:rPr>
              <a:t>GMV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699700927694119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1.3171742475916268E-2"/>
          <c:y val="4.5918140746647053E-2"/>
          <c:w val="0.97301635599970193"/>
          <c:h val="0.8211701533712872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GMV趋势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Pt>
            <c:idx val="3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1FF6-4837-969A-783764172B79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1FF6-4837-969A-783764172B79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1FF6-4837-969A-783764172B79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1FF6-4837-969A-783764172B79}"/>
              </c:ext>
            </c:extLst>
          </c:dPt>
          <c:dPt>
            <c:idx val="14"/>
            <c:marker>
              <c:symbol val="triangle"/>
              <c:size val="8"/>
              <c:spPr>
                <a:solidFill>
                  <a:srgbClr val="FF0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1FF6-4837-969A-783764172B79}"/>
              </c:ext>
            </c:extLst>
          </c:dPt>
          <c:dPt>
            <c:idx val="16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1FF6-4837-969A-783764172B79}"/>
              </c:ext>
            </c:extLst>
          </c:dPt>
          <c:dPt>
            <c:idx val="20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1FF6-4837-969A-783764172B79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6-1FF6-4837-969A-783764172B7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5-1FF6-4837-969A-783764172B7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1FF6-4837-969A-783764172B79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fld id="{261E7919-FB02-43F3-ACF0-968D86456EC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1FF6-4837-969A-783764172B7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1FF6-4837-969A-783764172B7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1FF6-4837-969A-783764172B7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1FF6-4837-969A-783764172B7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1FF6-4837-969A-783764172B7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1FF6-4837-969A-783764172B79}"/>
                </c:ext>
              </c:extLst>
            </c:dLbl>
            <c:dLbl>
              <c:idx val="9"/>
              <c:layout/>
              <c:tx>
                <c:rich>
                  <a:bodyPr/>
                  <a:lstStyle/>
                  <a:p>
                    <a:fld id="{F3DF1502-0D11-4E57-BE32-7F9EE5466B5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1FF6-4837-969A-783764172B79}"/>
                </c:ext>
              </c:extLst>
            </c:dLbl>
            <c:dLbl>
              <c:idx val="10"/>
              <c:layout/>
              <c:tx>
                <c:rich>
                  <a:bodyPr/>
                  <a:lstStyle/>
                  <a:p>
                    <a:fld id="{61C66894-4794-44A4-9100-EB83DC5B3D3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1FF6-4837-969A-783764172B79}"/>
                </c:ext>
              </c:extLst>
            </c:dLbl>
            <c:dLbl>
              <c:idx val="11"/>
              <c:layout/>
              <c:tx>
                <c:rich>
                  <a:bodyPr/>
                  <a:lstStyle/>
                  <a:p>
                    <a:fld id="{A5ACE3DD-387C-4CFD-B354-948A321026A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1FF6-4837-969A-783764172B7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1FF6-4837-969A-783764172B7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1FF6-4837-969A-783764172B7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1FF6-4837-969A-783764172B7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1FF6-4837-969A-783764172B79}"/>
                </c:ext>
              </c:extLst>
            </c:dLbl>
            <c:dLbl>
              <c:idx val="16"/>
              <c:layout/>
              <c:tx>
                <c:rich>
                  <a:bodyPr/>
                  <a:lstStyle/>
                  <a:p>
                    <a:fld id="{4DBC3B11-94B9-4434-B582-BD00C83A1FA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FF6-4837-969A-783764172B7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FF6-4837-969A-783764172B7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FF6-4837-969A-783764172B7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1FF6-4837-969A-783764172B79}"/>
                </c:ext>
              </c:extLst>
            </c:dLbl>
            <c:dLbl>
              <c:idx val="20"/>
              <c:layout/>
              <c:tx>
                <c:rich>
                  <a:bodyPr/>
                  <a:lstStyle/>
                  <a:p>
                    <a:fld id="{523A35B8-B4B8-429F-AB96-530051C8F83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FF6-4837-969A-783764172B7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FF6-4837-969A-783764172B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Sheet1!$A$2:$A$23</c:f>
              <c:numCache>
                <c:formatCode>[$-409]mmm\-yy;@</c:formatCode>
                <c:ptCount val="22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</c:numCache>
            </c:num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100</c:v>
                </c:pt>
                <c:pt idx="4">
                  <c:v>25</c:v>
                </c:pt>
                <c:pt idx="5">
                  <c:v>50</c:v>
                </c:pt>
                <c:pt idx="6">
                  <c:v>50</c:v>
                </c:pt>
                <c:pt idx="7">
                  <c:v>100</c:v>
                </c:pt>
                <c:pt idx="8">
                  <c:v>100</c:v>
                </c:pt>
                <c:pt idx="9">
                  <c:v>250</c:v>
                </c:pt>
                <c:pt idx="10">
                  <c:v>100</c:v>
                </c:pt>
                <c:pt idx="11">
                  <c:v>250</c:v>
                </c:pt>
                <c:pt idx="12">
                  <c:v>250</c:v>
                </c:pt>
                <c:pt idx="13">
                  <c:v>250</c:v>
                </c:pt>
                <c:pt idx="14">
                  <c:v>250</c:v>
                </c:pt>
                <c:pt idx="15">
                  <c:v>250</c:v>
                </c:pt>
                <c:pt idx="16">
                  <c:v>500</c:v>
                </c:pt>
                <c:pt idx="17">
                  <c:v>500</c:v>
                </c:pt>
                <c:pt idx="18">
                  <c:v>500</c:v>
                </c:pt>
                <c:pt idx="19">
                  <c:v>750</c:v>
                </c:pt>
                <c:pt idx="20">
                  <c:v>1000</c:v>
                </c:pt>
                <c:pt idx="21">
                  <c:v>1000</c:v>
                </c:pt>
              </c:numCache>
            </c:numRef>
          </c:val>
          <c:smooth val="1"/>
          <c:extLst>
            <c:ext xmlns:c15="http://schemas.microsoft.com/office/drawing/2012/chart" uri="{02D57815-91ED-43cb-92C2-25804820EDAC}">
              <c15:datalabelsRange>
                <c15:f>Sheet1!$H$2:$H$23</c15:f>
                <c15:dlblRangeCache>
                  <c:ptCount val="22"/>
                  <c:pt idx="0">
                    <c:v>10w-25w</c:v>
                  </c:pt>
                  <c:pt idx="1">
                    <c:v>10w-25w</c:v>
                  </c:pt>
                  <c:pt idx="2">
                    <c:v>10w-25w</c:v>
                  </c:pt>
                  <c:pt idx="3">
                    <c:v>100w-250w</c:v>
                  </c:pt>
                  <c:pt idx="4">
                    <c:v>25w-50w</c:v>
                  </c:pt>
                  <c:pt idx="5">
                    <c:v>50w-75w</c:v>
                  </c:pt>
                  <c:pt idx="6">
                    <c:v>50w-75w</c:v>
                  </c:pt>
                  <c:pt idx="7">
                    <c:v>100w-250w</c:v>
                  </c:pt>
                  <c:pt idx="8">
                    <c:v>100w-250w</c:v>
                  </c:pt>
                  <c:pt idx="9">
                    <c:v>250w-500w</c:v>
                  </c:pt>
                  <c:pt idx="10">
                    <c:v>100w-250w</c:v>
                  </c:pt>
                  <c:pt idx="11">
                    <c:v>250w-500w</c:v>
                  </c:pt>
                  <c:pt idx="12">
                    <c:v>250w-500w</c:v>
                  </c:pt>
                  <c:pt idx="13">
                    <c:v>250w-500w</c:v>
                  </c:pt>
                  <c:pt idx="14">
                    <c:v>250w-500w</c:v>
                  </c:pt>
                  <c:pt idx="15">
                    <c:v>250w-500w</c:v>
                  </c:pt>
                  <c:pt idx="16">
                    <c:v>500w-750w</c:v>
                  </c:pt>
                  <c:pt idx="17">
                    <c:v>500w-750w</c:v>
                  </c:pt>
                  <c:pt idx="18">
                    <c:v>500w-750w</c:v>
                  </c:pt>
                  <c:pt idx="19">
                    <c:v>750w-1000w</c:v>
                  </c:pt>
                  <c:pt idx="20">
                    <c:v>1000w-2500w</c:v>
                  </c:pt>
                  <c:pt idx="21">
                    <c:v>1000w-2500w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735C-43DB-A4C6-0881B2D507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达人数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Sheet1!$A$2:$A$23</c:f>
              <c:numCache>
                <c:formatCode>[$-409]mmm\-yy;@</c:formatCode>
                <c:ptCount val="22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</c:numCache>
            </c:numRef>
          </c:cat>
          <c:val>
            <c:numRef>
              <c:f>Sheet1!$C$2:$C$23</c:f>
              <c:numCache>
                <c:formatCode>General</c:formatCode>
                <c:ptCount val="2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F6-4837-969A-783764172B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1308735"/>
        <c:axId val="371304991"/>
      </c:lineChart>
      <c:dateAx>
        <c:axId val="371308735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304991"/>
        <c:crosses val="autoZero"/>
        <c:auto val="1"/>
        <c:lblOffset val="100"/>
        <c:baseTimeUnit val="months"/>
      </c:dateAx>
      <c:valAx>
        <c:axId val="3713049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308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3.4289804913424961E-2"/>
          <c:y val="9.1286807818384885E-2"/>
          <c:w val="0.26107040538714066"/>
          <c:h val="4.63385590302847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1" i="0" u="none" strike="noStrike" baseline="0" dirty="0" err="1" smtClean="0">
                <a:effectLst/>
              </a:rPr>
              <a:t>Hagaday</a:t>
            </a:r>
            <a:r>
              <a:rPr lang="zh-CN" altLang="en-US" sz="1400" b="1" i="0" u="none" strike="noStrike" baseline="0" dirty="0" smtClean="0">
                <a:effectLst/>
              </a:rPr>
              <a:t>月带货达人变化及店铺</a:t>
            </a:r>
            <a:r>
              <a:rPr lang="en-US" altLang="zh-CN" sz="1400" b="1" i="0" u="none" strike="noStrike" baseline="0" dirty="0" smtClean="0">
                <a:effectLst/>
              </a:rPr>
              <a:t>GMV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699700927694119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1.5672085670777606E-2"/>
          <c:y val="8.2998661311914329E-2"/>
          <c:w val="0.97051596543672713"/>
          <c:h val="0.9009054572758057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GMV趋势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Pt>
            <c:idx val="6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1FF6-4837-969A-783764172B79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1FF6-4837-969A-783764172B79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1FF6-4837-969A-783764172B79}"/>
              </c:ext>
            </c:extLst>
          </c:dPt>
          <c:dPt>
            <c:idx val="15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1FF6-4837-969A-783764172B79}"/>
              </c:ext>
            </c:extLst>
          </c:dPt>
          <c:dPt>
            <c:idx val="17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1FF6-4837-969A-783764172B79}"/>
              </c:ext>
            </c:extLst>
          </c:dPt>
          <c:dPt>
            <c:idx val="18"/>
            <c:marker>
              <c:symbol val="diamond"/>
              <c:size val="8"/>
              <c:spPr>
                <a:solidFill>
                  <a:srgbClr val="FFC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1FF6-4837-969A-783764172B79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6-1FF6-4837-969A-783764172B7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5-1FF6-4837-969A-783764172B7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1FF6-4837-969A-783764172B7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1FF6-4837-969A-783764172B7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1FF6-4837-969A-783764172B7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1FF6-4837-969A-783764172B79}"/>
                </c:ext>
              </c:extLst>
            </c:dLbl>
            <c:dLbl>
              <c:idx val="6"/>
              <c:layout/>
              <c:tx>
                <c:rich>
                  <a:bodyPr/>
                  <a:lstStyle/>
                  <a:p>
                    <a:fld id="{4EAB59FC-8F75-44BE-8615-CA20D998C4F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1FF6-4837-969A-783764172B7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1FF6-4837-969A-783764172B7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1FF6-4837-969A-783764172B7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1FF6-4837-969A-783764172B7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1FF6-4837-969A-783764172B79}"/>
                </c:ext>
              </c:extLst>
            </c:dLbl>
            <c:dLbl>
              <c:idx val="11"/>
              <c:layout>
                <c:manualLayout>
                  <c:x val="-3.5729695179748951E-2"/>
                  <c:y val="-3.5947390976679573E-2"/>
                </c:manualLayout>
              </c:layout>
              <c:tx>
                <c:rich>
                  <a:bodyPr/>
                  <a:lstStyle/>
                  <a:p>
                    <a:fld id="{EA0E7494-C89B-4278-B095-B7E2C910F13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1FF6-4837-969A-783764172B7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1FF6-4837-969A-783764172B79}"/>
                </c:ext>
              </c:extLst>
            </c:dLbl>
            <c:dLbl>
              <c:idx val="13"/>
              <c:layout/>
              <c:tx>
                <c:rich>
                  <a:bodyPr/>
                  <a:lstStyle/>
                  <a:p>
                    <a:fld id="{24D90160-53B9-4A3D-8A51-B6D3CC6161A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1FF6-4837-969A-783764172B7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1FF6-4837-969A-783764172B79}"/>
                </c:ext>
              </c:extLst>
            </c:dLbl>
            <c:dLbl>
              <c:idx val="15"/>
              <c:layout/>
              <c:tx>
                <c:rich>
                  <a:bodyPr/>
                  <a:lstStyle/>
                  <a:p>
                    <a:fld id="{30F7EB9D-9EA7-4622-AAA5-B8AB64A7440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FF6-4837-969A-783764172B7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FF6-4837-969A-783764172B79}"/>
                </c:ext>
              </c:extLst>
            </c:dLbl>
            <c:dLbl>
              <c:idx val="17"/>
              <c:layout>
                <c:manualLayout>
                  <c:x val="-3.5187976704628872E-2"/>
                  <c:y val="3.4928434716225795E-2"/>
                </c:manualLayout>
              </c:layout>
              <c:tx>
                <c:rich>
                  <a:bodyPr/>
                  <a:lstStyle/>
                  <a:p>
                    <a:fld id="{F93759C1-A29E-47FC-B446-DB43DC17339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1FF6-4837-969A-783764172B79}"/>
                </c:ext>
              </c:extLst>
            </c:dLbl>
            <c:dLbl>
              <c:idx val="18"/>
              <c:layout/>
              <c:tx>
                <c:rich>
                  <a:bodyPr/>
                  <a:lstStyle/>
                  <a:p>
                    <a:fld id="{C14633C9-B4CB-42A3-A8E1-01505E4946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FF6-4837-969A-783764172B7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1FF6-4837-969A-783764172B7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1FF6-4837-969A-783764172B7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FF6-4837-969A-783764172B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Sheet1!$A$2:$A$23</c:f>
              <c:numCache>
                <c:formatCode>[$-409]mmm\-yy;@</c:formatCode>
                <c:ptCount val="22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</c:numCache>
            </c:num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0.1</c:v>
                </c:pt>
                <c:pt idx="2">
                  <c:v>0.05</c:v>
                </c:pt>
                <c:pt idx="3">
                  <c:v>1</c:v>
                </c:pt>
                <c:pt idx="4">
                  <c:v>2.5</c:v>
                </c:pt>
                <c:pt idx="5">
                  <c:v>7.5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25</c:v>
                </c:pt>
                <c:pt idx="12">
                  <c:v>25</c:v>
                </c:pt>
                <c:pt idx="13">
                  <c:v>50</c:v>
                </c:pt>
                <c:pt idx="14">
                  <c:v>50</c:v>
                </c:pt>
                <c:pt idx="15">
                  <c:v>75</c:v>
                </c:pt>
                <c:pt idx="16">
                  <c:v>75</c:v>
                </c:pt>
                <c:pt idx="17">
                  <c:v>25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</c:numCache>
            </c:numRef>
          </c:val>
          <c:smooth val="1"/>
          <c:extLst>
            <c:ext xmlns:c15="http://schemas.microsoft.com/office/drawing/2012/chart" uri="{02D57815-91ED-43cb-92C2-25804820EDAC}">
              <c15:datalabelsRange>
                <c15:f>Sheet1!$H$2:$H$23</c15:f>
                <c15:dlblRangeCache>
                  <c:ptCount val="22"/>
                  <c:pt idx="0">
                    <c:v>0</c:v>
                  </c:pt>
                  <c:pt idx="1">
                    <c:v>1000-2500</c:v>
                  </c:pt>
                  <c:pt idx="2">
                    <c:v>500-750</c:v>
                  </c:pt>
                  <c:pt idx="3">
                    <c:v>1w-2.5w</c:v>
                  </c:pt>
                  <c:pt idx="4">
                    <c:v>2.5w-5w</c:v>
                  </c:pt>
                  <c:pt idx="5">
                    <c:v>7.5w-10w</c:v>
                  </c:pt>
                  <c:pt idx="6">
                    <c:v>10w-25w</c:v>
                  </c:pt>
                  <c:pt idx="7">
                    <c:v>10w-25w</c:v>
                  </c:pt>
                  <c:pt idx="8">
                    <c:v>10w-25w</c:v>
                  </c:pt>
                  <c:pt idx="9">
                    <c:v>10w-25w</c:v>
                  </c:pt>
                  <c:pt idx="10">
                    <c:v>10w-25w</c:v>
                  </c:pt>
                  <c:pt idx="11">
                    <c:v>25w-50w</c:v>
                  </c:pt>
                  <c:pt idx="12">
                    <c:v>25w-50w</c:v>
                  </c:pt>
                  <c:pt idx="13">
                    <c:v>50w-75w</c:v>
                  </c:pt>
                  <c:pt idx="14">
                    <c:v>50w-75w</c:v>
                  </c:pt>
                  <c:pt idx="15">
                    <c:v>75w-100w</c:v>
                  </c:pt>
                  <c:pt idx="16">
                    <c:v>75w-100w</c:v>
                  </c:pt>
                  <c:pt idx="17">
                    <c:v>25w-50w</c:v>
                  </c:pt>
                  <c:pt idx="18">
                    <c:v>100w-250w</c:v>
                  </c:pt>
                  <c:pt idx="19">
                    <c:v>100w-250w</c:v>
                  </c:pt>
                  <c:pt idx="20">
                    <c:v>100w-250w</c:v>
                  </c:pt>
                  <c:pt idx="21">
                    <c:v>100w-250w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735C-43DB-A4C6-0881B2D507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达人数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Sheet1!$A$2:$A$23</c:f>
              <c:numCache>
                <c:formatCode>[$-409]mmm\-yy;@</c:formatCode>
                <c:ptCount val="22"/>
                <c:pt idx="0">
                  <c:v>44197</c:v>
                </c:pt>
                <c:pt idx="1">
                  <c:v>44228</c:v>
                </c:pt>
                <c:pt idx="2">
                  <c:v>44256</c:v>
                </c:pt>
                <c:pt idx="3">
                  <c:v>44287</c:v>
                </c:pt>
                <c:pt idx="4">
                  <c:v>44317</c:v>
                </c:pt>
                <c:pt idx="5">
                  <c:v>44348</c:v>
                </c:pt>
                <c:pt idx="6">
                  <c:v>44378</c:v>
                </c:pt>
                <c:pt idx="7">
                  <c:v>44409</c:v>
                </c:pt>
                <c:pt idx="8">
                  <c:v>44440</c:v>
                </c:pt>
                <c:pt idx="9">
                  <c:v>44470</c:v>
                </c:pt>
                <c:pt idx="10">
                  <c:v>44501</c:v>
                </c:pt>
                <c:pt idx="11">
                  <c:v>44531</c:v>
                </c:pt>
                <c:pt idx="12">
                  <c:v>44562</c:v>
                </c:pt>
                <c:pt idx="13">
                  <c:v>44593</c:v>
                </c:pt>
                <c:pt idx="14">
                  <c:v>44621</c:v>
                </c:pt>
                <c:pt idx="15">
                  <c:v>44652</c:v>
                </c:pt>
                <c:pt idx="16">
                  <c:v>44682</c:v>
                </c:pt>
                <c:pt idx="17">
                  <c:v>44713</c:v>
                </c:pt>
                <c:pt idx="18">
                  <c:v>44743</c:v>
                </c:pt>
                <c:pt idx="19">
                  <c:v>44774</c:v>
                </c:pt>
                <c:pt idx="20">
                  <c:v>44805</c:v>
                </c:pt>
                <c:pt idx="21">
                  <c:v>44835</c:v>
                </c:pt>
              </c:numCache>
            </c:numRef>
          </c:cat>
          <c:val>
            <c:numRef>
              <c:f>Sheet1!$C$2:$C$23</c:f>
              <c:numCache>
                <c:formatCode>General</c:formatCode>
                <c:ptCount val="2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F6-4837-969A-783764172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1308735"/>
        <c:axId val="371304991"/>
      </c:lineChart>
      <c:dateAx>
        <c:axId val="371308735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304991"/>
        <c:crosses val="autoZero"/>
        <c:auto val="1"/>
        <c:lblOffset val="100"/>
        <c:baseTimeUnit val="months"/>
      </c:dateAx>
      <c:valAx>
        <c:axId val="3713049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308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3.4289804913424961E-2"/>
          <c:y val="0.14739683649193497"/>
          <c:w val="0.26107040538714066"/>
          <c:h val="4.63385590302847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Sheet1!$A$2:$A$14</cx:f>
        <cx:lvl ptCount="13">
          <cx:pt idx="0">水杯,1亿-2.5亿</cx:pt>
          <cx:pt idx="1">儿童餐具,1000w-2500w</cx:pt>
          <cx:pt idx="2">口水巾/吸汗巾/饭兜/毛巾,1000w-2500w</cx:pt>
          <cx:pt idx="3">餐椅,1000w-2500w</cx:pt>
          <cx:pt idx="4">儿童保温杯,1000w-2500w</cx:pt>
          <cx:pt idx="5">儿童筷子,1000w-2500w</cx:pt>
          <cx:pt idx="6">儿童勺,750w-1000w</cx:pt>
          <cx:pt idx="7">宝宝料理机/食物搅拌器,750w-1000w</cx:pt>
          <cx:pt idx="8">水壶,500w-750w</cx:pt>
          <cx:pt idx="9">食物研磨器,250w-500w</cx:pt>
          <cx:pt idx="10">BB煲/电粥锅,250w-500w</cx:pt>
          <cx:pt idx="11">其它喂哺用品,250w-500w</cx:pt>
          <cx:pt idx="12">其他</cx:pt>
        </cx:lvl>
      </cx:strDim>
      <cx:numDim type="size">
        <cx:f>Sheet1!$B$2:$B$14</cx:f>
        <cx:lvl ptCount="13" formatCode="0%">
          <cx:pt idx="0">0.52690000000000003</cx:pt>
          <cx:pt idx="1">0.086599999999999996</cx:pt>
          <cx:pt idx="2">0.078700000000000006</cx:pt>
          <cx:pt idx="3">0.062899999999999998</cx:pt>
          <cx:pt idx="4">0.0562</cx:pt>
          <cx:pt idx="5">0.037499999999999999</cx:pt>
          <cx:pt idx="6">0.031699999999999999</cx:pt>
          <cx:pt idx="7">0.031199999999999999</cx:pt>
          <cx:pt idx="8">0.0253</cx:pt>
          <cx:pt idx="9">0.018200000000000001</cx:pt>
          <cx:pt idx="10">0.014999999999999999</cx:pt>
          <cx:pt idx="11">0.012999999999999999</cx:pt>
          <cx:pt idx="12">0.016800000000000037</cx:pt>
        </cx:lvl>
      </cx:numDim>
    </cx:data>
  </cx:chartData>
  <cx:chart>
    <cx:title pos="t" align="ctr" overlay="0">
      <cx:tx>
        <cx:rich>
          <a:bodyPr spcFirstLastPara="1" vertOverflow="ellipsis" wrap="square" lIns="0" tIns="0" rIns="0" bIns="0" anchor="ctr" anchorCtr="1"/>
          <a:lstStyle/>
          <a:p>
            <a:pPr algn="ctr">
              <a:defRPr sz="1400" b="1"/>
            </a:pPr>
            <a:r>
              <a:rPr lang="zh-CN" altLang="en-US" sz="1400" b="1" dirty="0" smtClean="0"/>
              <a:t>水杯类目销售占比</a:t>
            </a:r>
            <a:endParaRPr lang="zh-CN" b="1" dirty="0"/>
          </a:p>
        </cx:rich>
      </cx:tx>
    </cx:title>
    <cx:plotArea>
      <cx:plotAreaRegion>
        <cx:series layoutId="treemap" uniqueId="{87C04978-8163-41DE-B92C-5F65AFF8A874}">
          <cx:tx>
            <cx:txData>
              <cx:f>Sheet1!$B$1</cx:f>
              <cx:v>系列 1</cx:v>
            </cx:txData>
          </cx:tx>
          <cx:spPr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x:spPr>
          <cx:dataLabels>
            <cx:txPr>
              <a:bodyPr spcFirstLastPara="1" vertOverflow="ellipsis" wrap="square" lIns="0" tIns="0" rIns="0" bIns="0" anchor="ctr" anchorCtr="1">
                <a:spAutoFit/>
              </a:bodyPr>
              <a:lstStyle/>
              <a:p>
                <a:pPr>
                  <a:defRPr sz="10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zh-CN" sz="1000">
                  <a:solidFill>
                    <a:schemeClr val="bg2">
                      <a:lumMod val="25000"/>
                    </a:schemeClr>
                  </a:solidFill>
                </a:endParaRPr>
              </a:p>
            </cx:txPr>
            <cx:visibility seriesName="0" categoryName="1" value="1"/>
            <cx:separator>, </cx:separator>
            <cx:dataLabel idx="4">
              <cx:txPr>
                <a:bodyPr spcFirstLastPara="1" vertOverflow="ellipsis" wrap="square" lIns="0" tIns="0" rIns="0" bIns="0" anchor="ctr" anchorCtr="1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r>
                    <a:rPr lang="zh-CN" sz="1000">
                      <a:solidFill>
                        <a:schemeClr val="bg1"/>
                      </a:solidFill>
                    </a:rPr>
                    <a:t>儿童保温杯,1000w-2500w, 6%</a:t>
                  </a:r>
                </a:p>
              </cx:txPr>
            </cx:dataLabel>
            <cx:dataLabel idx="7">
              <cx:txPr>
                <a:bodyPr spcFirstLastPara="1" vertOverflow="ellipsis" wrap="square" lIns="0" tIns="0" rIns="0" bIns="0" anchor="ctr" anchorCtr="1">
                  <a:spAutoFit/>
                </a:bodyPr>
                <a:lstStyle/>
                <a:p>
                  <a:pPr>
                    <a:defRPr sz="900"/>
                  </a:pPr>
                  <a:r>
                    <a:rPr lang="zh-CN" sz="900">
                      <a:solidFill>
                        <a:schemeClr val="bg2">
                          <a:lumMod val="25000"/>
                        </a:schemeClr>
                      </a:solidFill>
                    </a:rPr>
                    <a:t>宝宝料理机/食物搅拌器,750w-1000w, 3%</a:t>
                  </a:r>
                </a:p>
              </cx:txPr>
            </cx:dataLabel>
            <cx:dataLabel idx="8">
              <cx:txPr>
                <a:bodyPr spcFirstLastPara="1" vertOverflow="ellipsis" wrap="square" lIns="0" tIns="0" rIns="0" bIns="0" anchor="ctr" anchorCtr="1">
                  <a:spAutoFit/>
                </a:bodyPr>
                <a:lstStyle/>
                <a:p>
                  <a:pPr>
                    <a:defRPr sz="800"/>
                  </a:pPr>
                  <a:r>
                    <a:rPr lang="zh-CN" sz="800">
                      <a:solidFill>
                        <a:schemeClr val="bg2">
                          <a:lumMod val="25000"/>
                        </a:schemeClr>
                      </a:solidFill>
                    </a:rPr>
                    <a:t>水壶,500w-750w, 3%</a:t>
                  </a:r>
                </a:p>
              </cx:txPr>
            </cx:dataLabel>
            <cx:dataLabel idx="9">
              <cx:txPr>
                <a:bodyPr spcFirstLastPara="1" vertOverflow="ellipsis" wrap="square" lIns="0" tIns="0" rIns="0" bIns="0" anchor="ctr" anchorCtr="1">
                  <a:spAutoFit/>
                </a:bodyPr>
                <a:lstStyle/>
                <a:p>
                  <a:pPr>
                    <a:defRPr sz="800"/>
                  </a:pPr>
                  <a:r>
                    <a:rPr lang="zh-CN" sz="800">
                      <a:solidFill>
                        <a:schemeClr val="bg2">
                          <a:lumMod val="25000"/>
                        </a:schemeClr>
                      </a:solidFill>
                    </a:rPr>
                    <a:t>食物研磨器,250w-500w, 2%</a:t>
                  </a:r>
                </a:p>
              </cx:txPr>
            </cx:dataLabel>
            <cx:dataLabel idx="10">
              <cx:txPr>
                <a:bodyPr spcFirstLastPara="1" vertOverflow="ellipsis" wrap="square" lIns="0" tIns="0" rIns="0" bIns="0" anchor="ctr" anchorCtr="1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r>
                    <a:rPr lang="zh-CN" sz="1000">
                      <a:solidFill>
                        <a:schemeClr val="bg1"/>
                      </a:solidFill>
                    </a:rPr>
                    <a:t>BB煲/电粥锅,250w-500w, 2%</a:t>
                  </a:r>
                </a:p>
              </cx:txPr>
              <cx:visibility seriesName="0" categoryName="1" value="1"/>
              <cx:separator>, </cx:separator>
            </cx:dataLabel>
            <cx:dataLabel idx="11">
              <cx:txPr>
                <a:bodyPr spcFirstLastPara="1" vertOverflow="ellipsis" wrap="square" lIns="0" tIns="0" rIns="0" bIns="0" anchor="ctr" anchorCtr="1">
                  <a:spAutoFit/>
                </a:bodyPr>
                <a:lstStyle/>
                <a:p>
                  <a:pPr>
                    <a:defRPr sz="800">
                      <a:solidFill>
                        <a:schemeClr val="bg1"/>
                      </a:solidFill>
                    </a:defRPr>
                  </a:pPr>
                  <a:r>
                    <a:rPr lang="zh-CN" sz="800">
                      <a:solidFill>
                        <a:schemeClr val="bg1"/>
                      </a:solidFill>
                    </a:rPr>
                    <a:t>其它喂哺用品,250w-500w, 1%</a:t>
                  </a:r>
                </a:p>
              </cx:txPr>
            </cx:dataLabel>
          </cx:dataLabels>
          <cx:dataId val="0"/>
          <cx:layoutPr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Sheet1!$A$2:$A$23</cx:f>
        <cx:lvl ptCount="22" formatCode="G/通用格式">
          <cx:pt idx="0">80</cx:pt>
          <cx:pt idx="1">3</cx:pt>
          <cx:pt idx="2">101</cx:pt>
          <cx:pt idx="3">37</cx:pt>
          <cx:pt idx="4">83</cx:pt>
          <cx:pt idx="5">15</cx:pt>
          <cx:pt idx="6">176</cx:pt>
          <cx:pt idx="7">135</cx:pt>
          <cx:pt idx="8">107</cx:pt>
          <cx:pt idx="9">182</cx:pt>
          <cx:pt idx="10">172</cx:pt>
          <cx:pt idx="11">724</cx:pt>
          <cx:pt idx="12">-30</cx:pt>
          <cx:pt idx="13">203</cx:pt>
          <cx:pt idx="14">-145</cx:pt>
          <cx:pt idx="15">-408</cx:pt>
          <cx:pt idx="16">-100</cx:pt>
          <cx:pt idx="17">-166</cx:pt>
          <cx:pt idx="18">360</cx:pt>
          <cx:pt idx="19">581</cx:pt>
          <cx:pt idx="20">-143</cx:pt>
          <cx:pt idx="21">-282</cx:pt>
        </cx:lvl>
      </cx:numDim>
    </cx:data>
  </cx:chartData>
  <cx:chart>
    <cx:plotArea>
      <cx:plotAreaRegion>
        <cx:series layoutId="waterfall" uniqueId="{A180CDF5-EE5F-415E-8316-9DBBBC841639}">
          <cx:spPr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x:spPr>
          <cx:dataId val="0"/>
          <cx:layoutPr>
            <cx:subtotals/>
          </cx:layoutPr>
        </cx:series>
      </cx:plotAreaRegion>
      <cx:axis id="0" hidden="1">
        <cx:catScaling gapWidth="0.5"/>
        <cx:tickLabels/>
        <cx:txPr>
          <a:bodyPr spcFirstLastPara="1" vertOverflow="ellipsis" wrap="square" lIns="0" tIns="0" rIns="0" bIns="0" anchor="ctr" anchorCtr="1"/>
          <a:lstStyle/>
          <a:p>
            <a:pPr>
              <a:defRPr/>
            </a:pPr>
            <a:endParaRPr lang="zh-CN"/>
          </a:p>
        </cx:txPr>
      </cx:axis>
      <cx:axis id="1">
        <cx:valScaling/>
        <cx:tickLabels/>
        <cx:txPr>
          <a:bodyPr spcFirstLastPara="1" vertOverflow="ellipsis" wrap="square" lIns="0" tIns="0" rIns="0" bIns="0" anchor="ctr" anchorCtr="1"/>
          <a:lstStyle/>
          <a:p>
            <a:pPr>
              <a:defRPr lang="zh-CN" sz="8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微软雅黑"/>
              </a:defRPr>
            </a:pPr>
            <a:endParaRPr lang="zh-CN" sz="800"/>
          </a:p>
        </cx:txPr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Sheet1!$A$2:$A$23</cx:f>
        <cx:lvl ptCount="22" formatCode="G/通用格式">
          <cx:pt idx="0">2</cx:pt>
          <cx:pt idx="1">15</cx:pt>
          <cx:pt idx="2">1</cx:pt>
          <cx:pt idx="3">38</cx:pt>
          <cx:pt idx="4">86</cx:pt>
          <cx:pt idx="5">10</cx:pt>
          <cx:pt idx="6">-24</cx:pt>
          <cx:pt idx="7">-7</cx:pt>
          <cx:pt idx="8">10</cx:pt>
          <cx:pt idx="9">16</cx:pt>
          <cx:pt idx="10">-35</cx:pt>
          <cx:pt idx="11">13</cx:pt>
          <cx:pt idx="12">-48</cx:pt>
          <cx:pt idx="13">39</cx:pt>
          <cx:pt idx="14">24</cx:pt>
          <cx:pt idx="15">1</cx:pt>
          <cx:pt idx="16">19</cx:pt>
          <cx:pt idx="17">-61</cx:pt>
          <cx:pt idx="18">52</cx:pt>
          <cx:pt idx="19">105</cx:pt>
          <cx:pt idx="20">30</cx:pt>
          <cx:pt idx="21">4</cx:pt>
        </cx:lvl>
      </cx:numDim>
    </cx:data>
  </cx:chartData>
  <cx:chart>
    <cx:plotArea>
      <cx:plotAreaRegion>
        <cx:series layoutId="waterfall" uniqueId="{A180CDF5-EE5F-415E-8316-9DBBBC841639}">
          <cx:spPr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x:spPr>
          <cx:dataId val="0"/>
          <cx:layoutPr>
            <cx:subtotals/>
          </cx:layoutPr>
        </cx:series>
      </cx:plotAreaRegion>
      <cx:axis id="0" hidden="1">
        <cx:catScaling gapWidth="0.5"/>
        <cx:tickLabels/>
        <cx:txPr>
          <a:bodyPr spcFirstLastPara="1" vertOverflow="ellipsis" wrap="square" lIns="0" tIns="0" rIns="0" bIns="0" anchor="ctr" anchorCtr="1"/>
          <a:lstStyle/>
          <a:p>
            <a:pPr>
              <a:defRPr/>
            </a:pPr>
            <a:endParaRPr lang="zh-CN"/>
          </a:p>
        </cx:txPr>
      </cx:axis>
      <cx:axis id="1">
        <cx:valScaling/>
        <cx:tickLabels/>
        <cx:txPr>
          <a:bodyPr spcFirstLastPara="1" vertOverflow="ellipsis" wrap="square" lIns="0" tIns="0" rIns="0" bIns="0" anchor="ctr" anchorCtr="1"/>
          <a:lstStyle/>
          <a:p>
            <a:pPr>
              <a:defRPr lang="zh-CN" sz="8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微软雅黑"/>
              </a:defRPr>
            </a:pPr>
            <a:endParaRPr lang="zh-CN" sz="800"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bg1"/>
    </cs:fontRef>
    <cs:defRPr sz="1197" kern="1200"/>
    <cs:bodyPr lIns="38100" tIns="19050" rIns="38100" bIns="19050">
      <a:spAutoFit/>
    </cs:bodyPr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  <a:lumOff val="10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  <cs:bodyPr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  <cs:bodyPr wrap="square" lIns="38100" tIns="19050" rIns="38100" bIns="19050" anchor="ctr">
      <a:spAutoFit/>
    </cs:bodyPr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  <cs:bodyPr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  <cs:bodyPr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  <cs:bodyPr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  <cs:bodyPr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  <cs:bodyPr wrap="square" lIns="38100" tIns="19050" rIns="38100" bIns="19050" anchor="ctr">
      <a:spAutoFit/>
    </cs:bodyPr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  <cs:bodyPr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  <cs:bodyPr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  <cs:bodyPr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13720" y="5880100"/>
            <a:ext cx="1780647" cy="4783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72425" y="2487612"/>
            <a:ext cx="3914775" cy="2160588"/>
          </a:xfrm>
          <a:prstGeom prst="rect">
            <a:avLst/>
          </a:prstGeom>
        </p:spPr>
      </p:pic>
      <p:sp>
        <p:nvSpPr>
          <p:cNvPr id="11" name="矩形 10"/>
          <p:cNvSpPr>
            <a:spLocks/>
          </p:cNvSpPr>
          <p:nvPr userDrawn="1"/>
        </p:nvSpPr>
        <p:spPr>
          <a:xfrm>
            <a:off x="1918468" y="-492101"/>
            <a:ext cx="426720" cy="4267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2" name="矩形 11"/>
          <p:cNvSpPr>
            <a:spLocks/>
          </p:cNvSpPr>
          <p:nvPr userDrawn="1"/>
        </p:nvSpPr>
        <p:spPr>
          <a:xfrm>
            <a:off x="959234" y="-492101"/>
            <a:ext cx="426720" cy="426720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13" name="矩形 12"/>
          <p:cNvSpPr>
            <a:spLocks/>
          </p:cNvSpPr>
          <p:nvPr userDrawn="1"/>
        </p:nvSpPr>
        <p:spPr>
          <a:xfrm>
            <a:off x="0" y="-492101"/>
            <a:ext cx="426720" cy="426720"/>
          </a:xfrm>
          <a:prstGeom prst="rect">
            <a:avLst/>
          </a:prstGeom>
          <a:solidFill>
            <a:srgbClr val="C3B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14" name="矩形 13"/>
          <p:cNvSpPr>
            <a:spLocks/>
          </p:cNvSpPr>
          <p:nvPr userDrawn="1"/>
        </p:nvSpPr>
        <p:spPr>
          <a:xfrm>
            <a:off x="2398085" y="-492101"/>
            <a:ext cx="426720" cy="42672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15" name="矩形 14"/>
          <p:cNvSpPr>
            <a:spLocks/>
          </p:cNvSpPr>
          <p:nvPr userDrawn="1"/>
        </p:nvSpPr>
        <p:spPr>
          <a:xfrm>
            <a:off x="1438851" y="-492101"/>
            <a:ext cx="426720" cy="426720"/>
          </a:xfrm>
          <a:prstGeom prst="rect">
            <a:avLst/>
          </a:prstGeom>
          <a:solidFill>
            <a:srgbClr val="EA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/>
          </p:cNvSpPr>
          <p:nvPr userDrawn="1"/>
        </p:nvSpPr>
        <p:spPr>
          <a:xfrm>
            <a:off x="479617" y="-492101"/>
            <a:ext cx="426720" cy="426720"/>
          </a:xfrm>
          <a:prstGeom prst="rect">
            <a:avLst/>
          </a:prstGeom>
          <a:solidFill>
            <a:srgbClr val="D8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39425" y="277813"/>
            <a:ext cx="1241425" cy="3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6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9425" y="277813"/>
            <a:ext cx="1241425" cy="353702"/>
          </a:xfrm>
          <a:prstGeom prst="rect">
            <a:avLst/>
          </a:prstGeom>
        </p:spPr>
      </p:pic>
      <p:pic>
        <p:nvPicPr>
          <p:cNvPr id="21" name="image4.png"/>
          <p:cNvPicPr>
            <a:picLocks noChangeAspect="1"/>
          </p:cNvPicPr>
          <p:nvPr userDrawn="1"/>
        </p:nvPicPr>
        <p:blipFill>
          <a:blip r:embed="rId3"/>
          <a:srcRect l="70968" t="30605"/>
          <a:stretch>
            <a:fillRect/>
          </a:stretch>
        </p:blipFill>
        <p:spPr>
          <a:xfrm rot="10800000">
            <a:off x="9271783" y="3802781"/>
            <a:ext cx="2920216" cy="3055219"/>
          </a:xfrm>
          <a:prstGeom prst="rect">
            <a:avLst/>
          </a:prstGeom>
          <a:noFill/>
          <a:ln w="12700">
            <a:miter lim="400000"/>
            <a:headEnd/>
            <a:tailEnd/>
          </a:ln>
        </p:spPr>
      </p:pic>
      <p:grpSp>
        <p:nvGrpSpPr>
          <p:cNvPr id="26" name="组合 25"/>
          <p:cNvGrpSpPr/>
          <p:nvPr userDrawn="1"/>
        </p:nvGrpSpPr>
        <p:grpSpPr>
          <a:xfrm>
            <a:off x="551385" y="163035"/>
            <a:ext cx="2159566" cy="261610"/>
            <a:chOff x="551385" y="163035"/>
            <a:chExt cx="2159566" cy="26161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519AB8D-248D-9A43-A20D-2A7794E31FE9}"/>
                </a:ext>
              </a:extLst>
            </p:cNvPr>
            <p:cNvSpPr txBox="1"/>
            <p:nvPr userDrawn="1"/>
          </p:nvSpPr>
          <p:spPr>
            <a:xfrm>
              <a:off x="551385" y="163035"/>
              <a:ext cx="21595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 smtClean="0">
                  <a:solidFill>
                    <a:srgbClr val="B3ADB5"/>
                  </a:solidFill>
                  <a:latin typeface="+mj-lt"/>
                  <a:ea typeface="阿里巴巴普惠体 R" panose="00020600040101010101" pitchFamily="18" charset="-122"/>
                </a:rPr>
                <a:t>贝易抖音渠道水杯餐椅市场分析</a:t>
              </a:r>
              <a:endParaRPr lang="zh-CN" altLang="en-US" sz="1100" b="0" i="0" dirty="0">
                <a:solidFill>
                  <a:srgbClr val="B3ADB5"/>
                </a:solidFill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A1B9484-3BDD-4B40-8990-0A4ADEFFB602}"/>
                </a:ext>
              </a:extLst>
            </p:cNvPr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rgbClr val="B3AD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29" name="矩形 28"/>
          <p:cNvSpPr>
            <a:spLocks/>
          </p:cNvSpPr>
          <p:nvPr userDrawn="1"/>
        </p:nvSpPr>
        <p:spPr>
          <a:xfrm>
            <a:off x="1918468" y="-492101"/>
            <a:ext cx="426720" cy="4267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30" name="矩形 29"/>
          <p:cNvSpPr>
            <a:spLocks/>
          </p:cNvSpPr>
          <p:nvPr userDrawn="1"/>
        </p:nvSpPr>
        <p:spPr>
          <a:xfrm>
            <a:off x="959234" y="-492101"/>
            <a:ext cx="426720" cy="426720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31" name="矩形 30"/>
          <p:cNvSpPr>
            <a:spLocks/>
          </p:cNvSpPr>
          <p:nvPr userDrawn="1"/>
        </p:nvSpPr>
        <p:spPr>
          <a:xfrm>
            <a:off x="0" y="-492101"/>
            <a:ext cx="426720" cy="426720"/>
          </a:xfrm>
          <a:prstGeom prst="rect">
            <a:avLst/>
          </a:prstGeom>
          <a:solidFill>
            <a:srgbClr val="C3B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>
            <a:spLocks/>
          </p:cNvSpPr>
          <p:nvPr userDrawn="1"/>
        </p:nvSpPr>
        <p:spPr>
          <a:xfrm>
            <a:off x="2398085" y="-492101"/>
            <a:ext cx="426720" cy="42672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33" name="矩形 32"/>
          <p:cNvSpPr>
            <a:spLocks/>
          </p:cNvSpPr>
          <p:nvPr userDrawn="1"/>
        </p:nvSpPr>
        <p:spPr>
          <a:xfrm>
            <a:off x="1438851" y="-492101"/>
            <a:ext cx="426720" cy="426720"/>
          </a:xfrm>
          <a:prstGeom prst="rect">
            <a:avLst/>
          </a:prstGeom>
          <a:solidFill>
            <a:srgbClr val="EA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34" name="矩形 33"/>
          <p:cNvSpPr>
            <a:spLocks/>
          </p:cNvSpPr>
          <p:nvPr userDrawn="1"/>
        </p:nvSpPr>
        <p:spPr>
          <a:xfrm>
            <a:off x="479617" y="-492101"/>
            <a:ext cx="426720" cy="426720"/>
          </a:xfrm>
          <a:prstGeom prst="rect">
            <a:avLst/>
          </a:prstGeom>
          <a:solidFill>
            <a:srgbClr val="D8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090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52852" y="455294"/>
            <a:ext cx="10500948" cy="510273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lnSpc>
                <a:spcPct val="130000"/>
              </a:lnSpc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52852" y="1825625"/>
            <a:ext cx="10500948" cy="4375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852852" y="995259"/>
            <a:ext cx="10500948" cy="812904"/>
          </a:xfrm>
          <a:prstGeom prst="rect">
            <a:avLst/>
          </a:prstGeom>
        </p:spPr>
        <p:txBody>
          <a:bodyPr>
            <a:normAutofit/>
          </a:bodyPr>
          <a:lstStyle>
            <a:lvl1pPr marL="252000">
              <a:lnSpc>
                <a:spcPts val="2000"/>
              </a:lnSpc>
              <a:spcBef>
                <a:spcPts val="0"/>
              </a:spcBef>
              <a:defRPr sz="12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39788" y="6215063"/>
            <a:ext cx="10512425" cy="346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None/>
              <a:defRPr lang="zh-CN" altLang="en-US" sz="8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  <a:endParaRPr lang="en-US" altLang="zh-CN" dirty="0" smtClean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356048" y="519047"/>
            <a:ext cx="421062" cy="421062"/>
            <a:chOff x="-467001" y="2296935"/>
            <a:chExt cx="421062" cy="421062"/>
          </a:xfrm>
        </p:grpSpPr>
        <p:sp>
          <p:nvSpPr>
            <p:cNvPr id="12" name="矩形 11"/>
            <p:cNvSpPr/>
            <p:nvPr userDrawn="1"/>
          </p:nvSpPr>
          <p:spPr>
            <a:xfrm>
              <a:off x="-326647" y="2437289"/>
              <a:ext cx="280708" cy="280708"/>
            </a:xfrm>
            <a:prstGeom prst="rect">
              <a:avLst/>
            </a:prstGeom>
            <a:gradFill flip="none" rotWithShape="1">
              <a:gsLst>
                <a:gs pos="20000">
                  <a:srgbClr val="616161"/>
                </a:gs>
                <a:gs pos="100000">
                  <a:srgbClr val="C9C9C9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-467001" y="2296935"/>
              <a:ext cx="280708" cy="280708"/>
            </a:xfrm>
            <a:prstGeom prst="rect">
              <a:avLst/>
            </a:prstGeom>
            <a:gradFill flip="none" rotWithShape="1">
              <a:gsLst>
                <a:gs pos="100000">
                  <a:srgbClr val="DEDACF"/>
                </a:gs>
                <a:gs pos="20000">
                  <a:srgbClr val="D8CEC4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image4.png"/>
          <p:cNvPicPr>
            <a:picLocks noChangeAspect="1"/>
          </p:cNvPicPr>
          <p:nvPr userDrawn="1"/>
        </p:nvPicPr>
        <p:blipFill>
          <a:blip r:embed="rId2"/>
          <a:srcRect l="70968" t="30605"/>
          <a:stretch>
            <a:fillRect/>
          </a:stretch>
        </p:blipFill>
        <p:spPr>
          <a:xfrm rot="10800000">
            <a:off x="9271783" y="3802781"/>
            <a:ext cx="2920216" cy="3055219"/>
          </a:xfrm>
          <a:prstGeom prst="rect">
            <a:avLst/>
          </a:prstGeom>
          <a:noFill/>
          <a:ln w="12700">
            <a:miter lim="400000"/>
            <a:headEnd/>
            <a:tailEnd/>
          </a:ln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9425" y="277813"/>
            <a:ext cx="1241425" cy="353702"/>
          </a:xfrm>
          <a:prstGeom prst="rect">
            <a:avLst/>
          </a:prstGeom>
        </p:spPr>
      </p:pic>
      <p:grpSp>
        <p:nvGrpSpPr>
          <p:cNvPr id="23" name="组合 22"/>
          <p:cNvGrpSpPr/>
          <p:nvPr userDrawn="1"/>
        </p:nvGrpSpPr>
        <p:grpSpPr>
          <a:xfrm>
            <a:off x="551385" y="163035"/>
            <a:ext cx="2159566" cy="261610"/>
            <a:chOff x="551385" y="163035"/>
            <a:chExt cx="2159566" cy="26161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519AB8D-248D-9A43-A20D-2A7794E31FE9}"/>
                </a:ext>
              </a:extLst>
            </p:cNvPr>
            <p:cNvSpPr txBox="1"/>
            <p:nvPr userDrawn="1"/>
          </p:nvSpPr>
          <p:spPr>
            <a:xfrm>
              <a:off x="551385" y="163035"/>
              <a:ext cx="21595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 smtClean="0">
                  <a:solidFill>
                    <a:srgbClr val="B3ADB5"/>
                  </a:solidFill>
                  <a:latin typeface="+mj-lt"/>
                  <a:ea typeface="阿里巴巴普惠体 R" panose="00020600040101010101" pitchFamily="18" charset="-122"/>
                </a:rPr>
                <a:t>贝易抖音渠道水杯餐椅市场分析</a:t>
              </a:r>
              <a:endParaRPr lang="zh-CN" altLang="en-US" sz="1100" b="0" i="0" dirty="0">
                <a:solidFill>
                  <a:srgbClr val="B3ADB5"/>
                </a:solidFill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A1B9484-3BDD-4B40-8990-0A4ADEFFB602}"/>
                </a:ext>
              </a:extLst>
            </p:cNvPr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rgbClr val="B3AD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26" name="矩形 25"/>
          <p:cNvSpPr>
            <a:spLocks/>
          </p:cNvSpPr>
          <p:nvPr userDrawn="1"/>
        </p:nvSpPr>
        <p:spPr>
          <a:xfrm>
            <a:off x="1918468" y="-492101"/>
            <a:ext cx="426720" cy="4267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7" name="矩形 26"/>
          <p:cNvSpPr>
            <a:spLocks/>
          </p:cNvSpPr>
          <p:nvPr userDrawn="1"/>
        </p:nvSpPr>
        <p:spPr>
          <a:xfrm>
            <a:off x="959234" y="-492101"/>
            <a:ext cx="426720" cy="426720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8" name="矩形 27"/>
          <p:cNvSpPr>
            <a:spLocks/>
          </p:cNvSpPr>
          <p:nvPr userDrawn="1"/>
        </p:nvSpPr>
        <p:spPr>
          <a:xfrm>
            <a:off x="0" y="-492101"/>
            <a:ext cx="426720" cy="426720"/>
          </a:xfrm>
          <a:prstGeom prst="rect">
            <a:avLst/>
          </a:prstGeom>
          <a:solidFill>
            <a:srgbClr val="C3B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29" name="矩形 28"/>
          <p:cNvSpPr>
            <a:spLocks/>
          </p:cNvSpPr>
          <p:nvPr userDrawn="1"/>
        </p:nvSpPr>
        <p:spPr>
          <a:xfrm>
            <a:off x="2398085" y="-492101"/>
            <a:ext cx="426720" cy="42672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30" name="矩形 29"/>
          <p:cNvSpPr>
            <a:spLocks/>
          </p:cNvSpPr>
          <p:nvPr userDrawn="1"/>
        </p:nvSpPr>
        <p:spPr>
          <a:xfrm>
            <a:off x="1438851" y="-492101"/>
            <a:ext cx="426720" cy="426720"/>
          </a:xfrm>
          <a:prstGeom prst="rect">
            <a:avLst/>
          </a:prstGeom>
          <a:solidFill>
            <a:srgbClr val="EA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31" name="矩形 30"/>
          <p:cNvSpPr>
            <a:spLocks/>
          </p:cNvSpPr>
          <p:nvPr userDrawn="1"/>
        </p:nvSpPr>
        <p:spPr>
          <a:xfrm>
            <a:off x="479617" y="-492101"/>
            <a:ext cx="426720" cy="426720"/>
          </a:xfrm>
          <a:prstGeom prst="rect">
            <a:avLst/>
          </a:prstGeom>
          <a:solidFill>
            <a:srgbClr val="D8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396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18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9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jpeg"/><Relationship Id="rId2" Type="http://schemas.microsoft.com/office/2014/relationships/chartEx" Target="../charts/chartEx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chart" Target="../charts/char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chart" Target="../charts/char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12" Type="http://schemas.openxmlformats.org/officeDocument/2006/relationships/image" Target="../media/image39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jpeg"/><Relationship Id="rId11" Type="http://schemas.openxmlformats.org/officeDocument/2006/relationships/image" Target="../media/image6.png"/><Relationship Id="rId5" Type="http://schemas.openxmlformats.org/officeDocument/2006/relationships/image" Target="../media/image33.jpeg"/><Relationship Id="rId10" Type="http://schemas.openxmlformats.org/officeDocument/2006/relationships/image" Target="../media/image38.jpeg"/><Relationship Id="rId4" Type="http://schemas.openxmlformats.org/officeDocument/2006/relationships/image" Target="../media/image32.jpeg"/><Relationship Id="rId9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46600" y="2349500"/>
            <a:ext cx="7645400" cy="2387600"/>
          </a:xfrm>
          <a:prstGeom prst="rect">
            <a:avLst/>
          </a:prstGeom>
          <a:solidFill>
            <a:srgbClr val="F2F2F2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054600" y="2758470"/>
            <a:ext cx="6356227" cy="17543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zh-CN" altLang="en-US" sz="5400" b="1" dirty="0" smtClean="0">
                <a:solidFill>
                  <a:srgbClr val="C3B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抖音渠道</a:t>
            </a:r>
            <a:endParaRPr lang="en-US" altLang="zh-CN" sz="5400" b="1" dirty="0" smtClean="0">
              <a:solidFill>
                <a:srgbClr val="C3B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5400" b="1" dirty="0" smtClean="0">
                <a:solidFill>
                  <a:srgbClr val="C3B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水杯</a:t>
            </a:r>
            <a:r>
              <a:rPr lang="en-US" altLang="zh-CN" sz="5400" b="1" dirty="0" smtClean="0">
                <a:solidFill>
                  <a:srgbClr val="C3B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5400" b="1" dirty="0" smtClean="0">
                <a:solidFill>
                  <a:srgbClr val="C3B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餐椅市场分析</a:t>
            </a:r>
            <a:endParaRPr lang="zh-CN" altLang="en-US" sz="5400" b="1" dirty="0">
              <a:solidFill>
                <a:srgbClr val="C3B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00614" y="6062879"/>
            <a:ext cx="9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2022-Nov.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1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img.alicdn.com/imgextra/i4/2481631188/O1CN01o3xGsE1Ke9Jn3HLH2_!!248163118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4"/>
          <a:stretch/>
        </p:blipFill>
        <p:spPr bwMode="auto">
          <a:xfrm>
            <a:off x="0" y="0"/>
            <a:ext cx="6361889" cy="686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 rot="10800000">
            <a:off x="11072362" y="942938"/>
            <a:ext cx="1107996" cy="432426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630369" y="1241321"/>
            <a:ext cx="1463040" cy="1463040"/>
          </a:xfrm>
          <a:prstGeom prst="ellipse">
            <a:avLst/>
          </a:prstGeom>
          <a:gradFill>
            <a:gsLst>
              <a:gs pos="20000">
                <a:srgbClr val="DEDACF">
                  <a:alpha val="70000"/>
                </a:srgbClr>
              </a:gs>
              <a:gs pos="100000">
                <a:srgbClr val="EAE7E2">
                  <a:alpha val="70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091764" y="795350"/>
            <a:ext cx="1004236" cy="1004236"/>
          </a:xfrm>
          <a:prstGeom prst="ellipse">
            <a:avLst/>
          </a:prstGeom>
          <a:gradFill>
            <a:gsLst>
              <a:gs pos="20000">
                <a:srgbClr val="DEDACF">
                  <a:alpha val="70000"/>
                </a:srgbClr>
              </a:gs>
              <a:gs pos="100000">
                <a:srgbClr val="EAE7E2">
                  <a:alpha val="70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 5">
            <a:extLst>
              <a:ext uri="{FF2B5EF4-FFF2-40B4-BE49-F238E27FC236}">
                <a16:creationId xmlns:a16="http://schemas.microsoft.com/office/drawing/2014/main" id="{168A6816-C642-154A-94FD-CD2745706753}"/>
              </a:ext>
            </a:extLst>
          </p:cNvPr>
          <p:cNvGrpSpPr/>
          <p:nvPr/>
        </p:nvGrpSpPr>
        <p:grpSpPr>
          <a:xfrm>
            <a:off x="6647750" y="1799586"/>
            <a:ext cx="4591749" cy="2704321"/>
            <a:chOff x="6828274" y="1637217"/>
            <a:chExt cx="3093144" cy="1835217"/>
          </a:xfrm>
        </p:grpSpPr>
        <p:sp>
          <p:nvSpPr>
            <p:cNvPr id="7" name="标题 4">
              <a:extLst>
                <a:ext uri="{FF2B5EF4-FFF2-40B4-BE49-F238E27FC236}">
                  <a16:creationId xmlns:a16="http://schemas.microsoft.com/office/drawing/2014/main" id="{1B807237-9F45-9A47-929E-4FC1E4016CE2}"/>
                </a:ext>
              </a:extLst>
            </p:cNvPr>
            <p:cNvSpPr txBox="1">
              <a:spLocks/>
            </p:cNvSpPr>
            <p:nvPr/>
          </p:nvSpPr>
          <p:spPr>
            <a:xfrm>
              <a:off x="6828274" y="1637217"/>
              <a:ext cx="3093144" cy="92793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 lnSpcReduction="2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kern="120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kumimoji="1" lang="zh-CN" altLang="en-US" sz="1700" b="0" dirty="0">
                  <a:latin typeface="+mn-ea"/>
                  <a:ea typeface="+mn-ea"/>
                  <a:cs typeface="阿里巴巴普惠体 R" panose="00020600040101010101" pitchFamily="18" charset="-122"/>
                </a:rPr>
                <a:t>第一部分</a:t>
              </a:r>
              <a:r>
                <a:rPr kumimoji="1" lang="zh-CN" altLang="en-US" sz="1700" b="0" dirty="0" smtClean="0">
                  <a:latin typeface="+mn-ea"/>
                  <a:ea typeface="+mn-ea"/>
                  <a:cs typeface="阿里巴巴普惠体 R" panose="00020600040101010101" pitchFamily="18" charset="-122"/>
                </a:rPr>
                <a:t>：大盘分析</a:t>
              </a:r>
              <a:endParaRPr kumimoji="1" lang="en-US" altLang="zh-CN" sz="1700" b="0" dirty="0">
                <a:latin typeface="+mn-ea"/>
                <a:ea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200" b="0" dirty="0">
                  <a:solidFill>
                    <a:schemeClr val="accent5"/>
                  </a:solidFill>
                  <a:latin typeface="+mn-ea"/>
                  <a:ea typeface="+mn-ea"/>
                  <a:cs typeface="阿里巴巴普惠体 R" panose="00020600040101010101" pitchFamily="18" charset="-122"/>
                </a:rPr>
                <a:t>1.1 </a:t>
              </a:r>
              <a:r>
                <a:rPr kumimoji="1" lang="zh-CN" altLang="en-US" sz="1200" b="0" dirty="0" smtClean="0">
                  <a:solidFill>
                    <a:schemeClr val="accent5"/>
                  </a:solidFill>
                  <a:latin typeface="+mn-ea"/>
                  <a:ea typeface="+mn-ea"/>
                  <a:cs typeface="阿里巴巴普惠体 R" panose="00020600040101010101" pitchFamily="18" charset="-122"/>
                </a:rPr>
                <a:t>行业大盘分析</a:t>
              </a:r>
              <a:endParaRPr kumimoji="1" lang="en-US" altLang="zh-CN" sz="1200" b="0" dirty="0" smtClean="0">
                <a:solidFill>
                  <a:schemeClr val="accent5"/>
                </a:solidFill>
                <a:latin typeface="+mn-ea"/>
                <a:ea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200" b="0" dirty="0" smtClean="0">
                  <a:solidFill>
                    <a:schemeClr val="accent5"/>
                  </a:solidFill>
                  <a:latin typeface="+mn-ea"/>
                  <a:ea typeface="+mn-ea"/>
                  <a:cs typeface="阿里巴巴普惠体 R" panose="00020600040101010101" pitchFamily="18" charset="-122"/>
                </a:rPr>
                <a:t>1.2 </a:t>
              </a:r>
              <a:r>
                <a:rPr kumimoji="1" lang="zh-CN" altLang="en-US" sz="1200" b="0" dirty="0" smtClean="0">
                  <a:solidFill>
                    <a:schemeClr val="accent5"/>
                  </a:solidFill>
                  <a:latin typeface="+mn-ea"/>
                  <a:ea typeface="+mn-ea"/>
                  <a:cs typeface="阿里巴巴普惠体 R" panose="00020600040101010101" pitchFamily="18" charset="-122"/>
                </a:rPr>
                <a:t>价格分析</a:t>
              </a:r>
              <a:endParaRPr kumimoji="1" lang="en-US" altLang="zh-CN" sz="1200" b="0" dirty="0" smtClean="0">
                <a:solidFill>
                  <a:schemeClr val="accent5"/>
                </a:solidFill>
                <a:latin typeface="+mn-ea"/>
                <a:ea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200" b="0" dirty="0" smtClean="0">
                  <a:solidFill>
                    <a:schemeClr val="accent5"/>
                  </a:solidFill>
                  <a:latin typeface="+mn-ea"/>
                  <a:ea typeface="+mn-ea"/>
                  <a:cs typeface="阿里巴巴普惠体 R" panose="00020600040101010101" pitchFamily="18" charset="-122"/>
                </a:rPr>
                <a:t>1.3 </a:t>
              </a:r>
              <a:r>
                <a:rPr kumimoji="1" lang="zh-CN" altLang="en-US" sz="12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货达人分析</a:t>
              </a:r>
              <a:endParaRPr kumimoji="1" lang="en-US" altLang="zh-CN" sz="1200" b="0" dirty="0" smtClean="0">
                <a:solidFill>
                  <a:schemeClr val="accent5"/>
                </a:solidFill>
                <a:latin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2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1.4 </a:t>
              </a:r>
              <a:r>
                <a:rPr kumimoji="1" lang="zh-CN" altLang="en-US" sz="12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主要竞品</a:t>
              </a:r>
              <a:endParaRPr kumimoji="1" lang="zh-CN" altLang="en-US" sz="1200" b="0" dirty="0">
                <a:solidFill>
                  <a:schemeClr val="accent5"/>
                </a:solidFill>
                <a:latin typeface="+mn-ea"/>
                <a:ea typeface="+mn-ea"/>
                <a:cs typeface="阿里巴巴普惠体 R" panose="00020600040101010101" pitchFamily="18" charset="-122"/>
              </a:endParaRPr>
            </a:p>
          </p:txBody>
        </p:sp>
        <p:sp>
          <p:nvSpPr>
            <p:cNvPr id="8" name="标题 4">
              <a:extLst>
                <a:ext uri="{FF2B5EF4-FFF2-40B4-BE49-F238E27FC236}">
                  <a16:creationId xmlns:a16="http://schemas.microsoft.com/office/drawing/2014/main" id="{3E0A9A0D-EBCE-4E43-BBFE-AA4F4BB98C46}"/>
                </a:ext>
              </a:extLst>
            </p:cNvPr>
            <p:cNvSpPr txBox="1">
              <a:spLocks/>
            </p:cNvSpPr>
            <p:nvPr/>
          </p:nvSpPr>
          <p:spPr>
            <a:xfrm>
              <a:off x="6828274" y="2680346"/>
              <a:ext cx="3093144" cy="79208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kern="120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kumimoji="1" lang="zh-CN" altLang="en-US" sz="1600" b="0" dirty="0">
                  <a:latin typeface="+mn-ea"/>
                  <a:ea typeface="+mn-ea"/>
                  <a:cs typeface="阿里巴巴普惠体 R" panose="00020600040101010101" pitchFamily="18" charset="-122"/>
                </a:rPr>
                <a:t>第二部分</a:t>
              </a:r>
              <a:r>
                <a:rPr kumimoji="1" lang="zh-CN" altLang="en-US" sz="1600" b="0" dirty="0" smtClean="0">
                  <a:latin typeface="+mn-ea"/>
                  <a:ea typeface="+mn-ea"/>
                  <a:cs typeface="阿里巴巴普惠体 R" panose="00020600040101010101" pitchFamily="18" charset="-122"/>
                </a:rPr>
                <a:t>：竞品分析</a:t>
              </a:r>
              <a:endParaRPr kumimoji="1" lang="en-US" altLang="zh-CN" sz="1600" b="0" dirty="0" smtClean="0">
                <a:latin typeface="+mn-ea"/>
                <a:ea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1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2.1 </a:t>
              </a:r>
              <a:r>
                <a:rPr kumimoji="1" lang="zh-CN" altLang="en-US" sz="11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店铺整体分析</a:t>
              </a:r>
              <a:endParaRPr kumimoji="1" lang="en-US" altLang="zh-CN" sz="1100" b="0" dirty="0" smtClean="0">
                <a:solidFill>
                  <a:schemeClr val="accent5"/>
                </a:solidFill>
                <a:latin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1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2.2 </a:t>
              </a:r>
              <a:r>
                <a:rPr kumimoji="1" lang="zh-CN" altLang="en-US" sz="11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爆款分析</a:t>
              </a:r>
              <a:endParaRPr kumimoji="1" lang="en-US" altLang="zh-CN" sz="1100" b="0" dirty="0" smtClean="0">
                <a:solidFill>
                  <a:schemeClr val="accent5"/>
                </a:solidFill>
                <a:latin typeface="+mn-ea"/>
                <a:cs typeface="阿里巴巴普惠体 R" panose="00020600040101010101" pitchFamily="18" charset="-122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en-US" altLang="zh-CN" sz="11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2.3 </a:t>
              </a:r>
              <a:r>
                <a:rPr kumimoji="1" lang="zh-CN" altLang="en-US" sz="1100" b="0" dirty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差</a:t>
              </a:r>
              <a:r>
                <a:rPr kumimoji="1" lang="zh-CN" altLang="en-US" sz="1100" b="0" dirty="0" smtClean="0">
                  <a:solidFill>
                    <a:schemeClr val="accent5"/>
                  </a:solidFill>
                  <a:latin typeface="+mn-ea"/>
                  <a:cs typeface="阿里巴巴普惠体 R" panose="00020600040101010101" pitchFamily="18" charset="-122"/>
                </a:rPr>
                <a:t>评分析</a:t>
              </a:r>
              <a:endParaRPr kumimoji="1" lang="en-US" altLang="zh-CN" sz="1100" b="0" dirty="0">
                <a:solidFill>
                  <a:schemeClr val="accent5"/>
                </a:solidFill>
                <a:latin typeface="+mn-ea"/>
                <a:cs typeface="阿里巴巴普惠体 R" panose="00020600040101010101" pitchFamily="18" charset="-122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42C77AC9-5A3F-4C45-B3CE-AB89E2AF4F90}"/>
              </a:ext>
            </a:extLst>
          </p:cNvPr>
          <p:cNvSpPr>
            <a:spLocks noChangeAspect="1"/>
          </p:cNvSpPr>
          <p:nvPr/>
        </p:nvSpPr>
        <p:spPr>
          <a:xfrm>
            <a:off x="6474949" y="1961849"/>
            <a:ext cx="172800" cy="172800"/>
          </a:xfrm>
          <a:prstGeom prst="rect">
            <a:avLst/>
          </a:prstGeom>
          <a:solidFill>
            <a:srgbClr val="C3B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C3B8AA"/>
              </a:solidFill>
              <a:latin typeface="微软雅黑" panose="020B0503020204020204" pitchFamily="34" charset="-122"/>
              <a:ea typeface="阿里巴巴普惠体 R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CF9826-28FE-9744-ADD0-3D02ED46D3F9}"/>
              </a:ext>
            </a:extLst>
          </p:cNvPr>
          <p:cNvSpPr>
            <a:spLocks noChangeAspect="1"/>
          </p:cNvSpPr>
          <p:nvPr/>
        </p:nvSpPr>
        <p:spPr>
          <a:xfrm>
            <a:off x="6463088" y="3507250"/>
            <a:ext cx="172800" cy="172800"/>
          </a:xfrm>
          <a:prstGeom prst="rect">
            <a:avLst/>
          </a:prstGeom>
          <a:solidFill>
            <a:srgbClr val="C3B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阿里巴巴普惠体 R" panose="00020600040101010101" pitchFamily="18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51385" y="163035"/>
            <a:ext cx="2159566" cy="261610"/>
            <a:chOff x="551385" y="163035"/>
            <a:chExt cx="2159566" cy="26161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519AB8D-248D-9A43-A20D-2A7794E31FE9}"/>
                </a:ext>
              </a:extLst>
            </p:cNvPr>
            <p:cNvSpPr txBox="1"/>
            <p:nvPr userDrawn="1"/>
          </p:nvSpPr>
          <p:spPr>
            <a:xfrm>
              <a:off x="551385" y="163035"/>
              <a:ext cx="21595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0" i="0" dirty="0" smtClean="0">
                  <a:solidFill>
                    <a:srgbClr val="B3ADB5"/>
                  </a:solidFill>
                  <a:latin typeface="+mj-lt"/>
                  <a:ea typeface="阿里巴巴普惠体 R" panose="00020600040101010101" pitchFamily="18" charset="-122"/>
                </a:rPr>
                <a:t>贝易抖音渠道水杯餐椅市场分析</a:t>
              </a:r>
              <a:endParaRPr lang="zh-CN" altLang="en-US" sz="1100" b="0" i="0" dirty="0">
                <a:solidFill>
                  <a:srgbClr val="B3ADB5"/>
                </a:solidFill>
                <a:latin typeface="+mj-lt"/>
                <a:ea typeface="阿里巴巴普惠体 R" panose="00020600040101010101" pitchFamily="18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A1B9484-3BDD-4B40-8990-0A4ADEFFB602}"/>
                </a:ext>
              </a:extLst>
            </p:cNvPr>
            <p:cNvSpPr/>
            <p:nvPr userDrawn="1"/>
          </p:nvSpPr>
          <p:spPr>
            <a:xfrm>
              <a:off x="551385" y="257498"/>
              <a:ext cx="72684" cy="72684"/>
            </a:xfrm>
            <a:prstGeom prst="rect">
              <a:avLst/>
            </a:prstGeom>
            <a:solidFill>
              <a:srgbClr val="B3AD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solidFill>
                  <a:schemeClr val="bg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787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水杯</a:t>
            </a:r>
            <a:r>
              <a:rPr lang="zh-CN" altLang="en-US" dirty="0"/>
              <a:t>行业</a:t>
            </a:r>
            <a:r>
              <a:rPr lang="zh-CN" altLang="en-US" dirty="0" smtClean="0"/>
              <a:t>大盘分析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zh-CN" altLang="en-US" sz="1200" dirty="0" smtClean="0"/>
              <a:t>近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个月水杯类目月均</a:t>
            </a:r>
            <a:r>
              <a:rPr lang="en-US" altLang="zh-CN" sz="1200" dirty="0" smtClean="0"/>
              <a:t>GMV</a:t>
            </a:r>
            <a:r>
              <a:rPr lang="zh-CN" altLang="en-US" sz="1200" dirty="0" smtClean="0"/>
              <a:t>过亿，其中水杯销售占</a:t>
            </a:r>
            <a:r>
              <a:rPr lang="en-US" altLang="zh-CN" sz="1200" dirty="0" smtClean="0"/>
              <a:t>53%</a:t>
            </a:r>
            <a:r>
              <a:rPr lang="zh-CN" altLang="en-US" sz="1200" dirty="0" smtClean="0"/>
              <a:t>，餐椅体量较小仅占</a:t>
            </a:r>
            <a:r>
              <a:rPr lang="en-US" altLang="zh-CN" sz="1200" dirty="0" smtClean="0"/>
              <a:t>6%</a:t>
            </a:r>
            <a:r>
              <a:rPr lang="zh-CN" altLang="en-US" sz="1200" dirty="0" smtClean="0"/>
              <a:t>；</a:t>
            </a:r>
            <a:endParaRPr lang="en-US" altLang="zh-CN" sz="1200" dirty="0" smtClean="0"/>
          </a:p>
          <a:p>
            <a:r>
              <a:rPr lang="zh-CN" altLang="en-US" sz="1200" dirty="0" smtClean="0"/>
              <a:t>从消费者年龄来看，童车</a:t>
            </a:r>
            <a:r>
              <a:rPr lang="en-US" altLang="zh-CN" sz="1200" dirty="0" smtClean="0"/>
              <a:t>31-40</a:t>
            </a:r>
            <a:r>
              <a:rPr lang="zh-CN" altLang="en-US" sz="1200" dirty="0" smtClean="0"/>
              <a:t>岁消费者群体明显多于</a:t>
            </a:r>
            <a:r>
              <a:rPr lang="en-US" altLang="zh-CN" sz="1200" dirty="0" smtClean="0"/>
              <a:t>24-30</a:t>
            </a:r>
            <a:r>
              <a:rPr lang="zh-CN" altLang="en-US" sz="1200" dirty="0" smtClean="0"/>
              <a:t>岁，而水杯消费者更为年轻；</a:t>
            </a:r>
            <a:endParaRPr lang="en-US" altLang="zh-CN" sz="1200" dirty="0" smtClean="0"/>
          </a:p>
          <a:p>
            <a:r>
              <a:rPr lang="zh-CN" altLang="en-US" dirty="0" smtClean="0"/>
              <a:t>从城市等级来看，童车消费者主要集中在</a:t>
            </a:r>
            <a:r>
              <a:rPr lang="en-US" altLang="zh-CN" dirty="0" smtClean="0"/>
              <a:t>3-4</a:t>
            </a:r>
            <a:r>
              <a:rPr lang="zh-CN" altLang="en-US" dirty="0" smtClean="0"/>
              <a:t>线城市，而水杯的消费者则均匀的分布于各线城市，且一线新一线城市水杯消费者渗透率更高。</a:t>
            </a:r>
            <a:endParaRPr lang="en-US" altLang="zh-CN" sz="1200" dirty="0" smtClean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数据来源：飞瓜数据，</a:t>
            </a:r>
            <a:r>
              <a:rPr lang="en-US" altLang="zh-CN" dirty="0" smtClean="0"/>
              <a:t>2022.8.13-2022.11.10</a:t>
            </a:r>
            <a:r>
              <a:rPr lang="zh-CN" altLang="en-US" dirty="0" smtClean="0"/>
              <a:t>，</a:t>
            </a:r>
            <a:r>
              <a:rPr lang="zh-CN" altLang="en-US" dirty="0"/>
              <a:t>第三方数据仅供参考。</a:t>
            </a:r>
            <a:endParaRPr lang="en-US" altLang="zh-CN" dirty="0"/>
          </a:p>
          <a:p>
            <a:r>
              <a:rPr lang="zh-CN" altLang="en-US" dirty="0"/>
              <a:t>注释</a:t>
            </a:r>
            <a:r>
              <a:rPr lang="zh-CN" altLang="en-US" dirty="0" smtClean="0"/>
              <a:t>：</a:t>
            </a:r>
            <a:r>
              <a:rPr lang="zh-CN" altLang="en-US" dirty="0"/>
              <a:t>水</a:t>
            </a:r>
            <a:r>
              <a:rPr lang="zh-CN" altLang="en-US" dirty="0" smtClean="0"/>
              <a:t>杯三级类目指二级类目婴童用品下水杯</a:t>
            </a:r>
            <a:r>
              <a:rPr lang="en-US" altLang="zh-CN" dirty="0" smtClean="0"/>
              <a:t>/</a:t>
            </a:r>
            <a:r>
              <a:rPr lang="zh-CN" altLang="en-US" dirty="0" smtClean="0"/>
              <a:t>模具</a:t>
            </a:r>
            <a:r>
              <a:rPr lang="en-US" altLang="zh-CN" dirty="0" smtClean="0"/>
              <a:t>/</a:t>
            </a:r>
            <a:r>
              <a:rPr lang="zh-CN" altLang="en-US" dirty="0" smtClean="0"/>
              <a:t>研磨</a:t>
            </a:r>
            <a:r>
              <a:rPr lang="en-US" altLang="zh-CN" dirty="0" smtClean="0"/>
              <a:t>/</a:t>
            </a:r>
            <a:r>
              <a:rPr lang="zh-CN" altLang="en-US" dirty="0" smtClean="0"/>
              <a:t>辅食小家电。</a:t>
            </a:r>
            <a:endParaRPr lang="zh-CN" alt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图表 7"/>
              <p:cNvGraphicFramePr/>
              <p:nvPr>
                <p:extLst>
                  <p:ext uri="{D42A27DB-BD31-4B8C-83A1-F6EECF244321}">
                    <p14:modId xmlns:p14="http://schemas.microsoft.com/office/powerpoint/2010/main" val="1921344239"/>
                  </p:ext>
                </p:extLst>
              </p:nvPr>
            </p:nvGraphicFramePr>
            <p:xfrm>
              <a:off x="852852" y="1808163"/>
              <a:ext cx="5243148" cy="433017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图表 7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852" y="1808163"/>
                <a:ext cx="5243148" cy="433017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184790761"/>
              </p:ext>
            </p:extLst>
          </p:nvPr>
        </p:nvGraphicFramePr>
        <p:xfrm>
          <a:off x="6095999" y="1808163"/>
          <a:ext cx="5256213" cy="2267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圆角矩形 12"/>
          <p:cNvSpPr/>
          <p:nvPr/>
        </p:nvSpPr>
        <p:spPr>
          <a:xfrm>
            <a:off x="7772402" y="2395529"/>
            <a:ext cx="1960534" cy="1618532"/>
          </a:xfrm>
          <a:prstGeom prst="roundRect">
            <a:avLst>
              <a:gd name="adj" fmla="val 6423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3806769754"/>
              </p:ext>
            </p:extLst>
          </p:nvPr>
        </p:nvGraphicFramePr>
        <p:xfrm>
          <a:off x="6094411" y="4138047"/>
          <a:ext cx="5256213" cy="2077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439547" y="216976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年龄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285658" y="416065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城市等级</a:t>
            </a:r>
            <a:endParaRPr lang="zh-CN" altLang="en-US" sz="1200" dirty="0"/>
          </a:p>
        </p:txBody>
      </p:sp>
      <p:sp>
        <p:nvSpPr>
          <p:cNvPr id="17" name="圆角矩形 16"/>
          <p:cNvSpPr/>
          <p:nvPr/>
        </p:nvSpPr>
        <p:spPr>
          <a:xfrm>
            <a:off x="8787540" y="4640172"/>
            <a:ext cx="1449091" cy="1489650"/>
          </a:xfrm>
          <a:prstGeom prst="roundRect">
            <a:avLst>
              <a:gd name="adj" fmla="val 6423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607446" y="5060985"/>
            <a:ext cx="1376622" cy="1068837"/>
          </a:xfrm>
          <a:prstGeom prst="roundRect">
            <a:avLst>
              <a:gd name="adj" fmla="val 6423"/>
            </a:avLst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296043" y="4640173"/>
            <a:ext cx="545021" cy="1489650"/>
          </a:xfrm>
          <a:prstGeom prst="roundRect">
            <a:avLst>
              <a:gd name="adj" fmla="val 6423"/>
            </a:avLst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大盘分析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竞品分析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480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水</a:t>
            </a:r>
            <a:r>
              <a:rPr lang="zh-CN" altLang="en-US" dirty="0" smtClean="0"/>
              <a:t>杯价格大盘分析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从水杯客单同比高速增长到迅速回落可以</a:t>
            </a:r>
            <a:r>
              <a:rPr lang="zh-CN" altLang="en-US" dirty="0"/>
              <a:t>看出，抖</a:t>
            </a:r>
            <a:r>
              <a:rPr lang="zh-CN" altLang="en-US" dirty="0" smtClean="0"/>
              <a:t>音水杯市场已处于成长期并接近成熟期，头部大牌占据市场过半份额并引领市场导向；</a:t>
            </a:r>
            <a:endParaRPr lang="en-US" altLang="zh-CN" dirty="0" smtClean="0"/>
          </a:p>
          <a:p>
            <a:r>
              <a:rPr lang="zh-CN" altLang="en-US" dirty="0" smtClean="0"/>
              <a:t>从价格带分布来看，近一半的消费者集中在</a:t>
            </a:r>
            <a:r>
              <a:rPr lang="en-US" altLang="zh-CN" dirty="0" smtClean="0"/>
              <a:t>50-100</a:t>
            </a:r>
            <a:r>
              <a:rPr lang="zh-CN" altLang="en-US" dirty="0" smtClean="0"/>
              <a:t>元价格段，百元以上价格带占比达</a:t>
            </a:r>
            <a:r>
              <a:rPr lang="en-US" altLang="zh-CN" dirty="0" smtClean="0"/>
              <a:t>30%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数据来源：巨量云图</a:t>
            </a:r>
            <a:r>
              <a:rPr lang="en-US" altLang="zh-CN" dirty="0"/>
              <a:t>-</a:t>
            </a:r>
            <a:r>
              <a:rPr lang="zh-CN" altLang="en-US" dirty="0"/>
              <a:t>趋势策略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2344064817"/>
              </p:ext>
            </p:extLst>
          </p:nvPr>
        </p:nvGraphicFramePr>
        <p:xfrm>
          <a:off x="852852" y="1837855"/>
          <a:ext cx="5615325" cy="4377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1692433420"/>
              </p:ext>
            </p:extLst>
          </p:nvPr>
        </p:nvGraphicFramePr>
        <p:xfrm>
          <a:off x="6468177" y="1808163"/>
          <a:ext cx="4884036" cy="440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圆角矩形 6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大盘分析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竞品分析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7761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餐椅价格大盘分析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zh-CN" altLang="en-US" sz="1200" dirty="0" smtClean="0"/>
              <a:t>从餐椅均价波动大可以看出，抖音餐椅市场正处于导入期，各种品牌入局抖音跑马圈地，行业暂未形成格局；</a:t>
            </a:r>
            <a:endParaRPr lang="en-US" altLang="zh-CN" sz="1200" dirty="0" smtClean="0"/>
          </a:p>
          <a:p>
            <a:r>
              <a:rPr lang="zh-CN" altLang="en-US" sz="1200" dirty="0" smtClean="0"/>
              <a:t>从价格段分布来看，市场消费者存在较明显的分化现象：近</a:t>
            </a:r>
            <a:r>
              <a:rPr lang="en-US" altLang="zh-CN" sz="1200" dirty="0" smtClean="0"/>
              <a:t>50%</a:t>
            </a:r>
            <a:r>
              <a:rPr lang="zh-CN" altLang="en-US" sz="1200" dirty="0" smtClean="0"/>
              <a:t>消费者集中在</a:t>
            </a:r>
            <a:r>
              <a:rPr lang="en-US" altLang="zh-CN" sz="1200" dirty="0" smtClean="0"/>
              <a:t>100-300</a:t>
            </a:r>
            <a:r>
              <a:rPr lang="zh-CN" altLang="en-US" sz="1200" dirty="0" smtClean="0"/>
              <a:t>元价位，另外近</a:t>
            </a:r>
            <a:r>
              <a:rPr lang="en-US" altLang="zh-CN" sz="1200" dirty="0" smtClean="0"/>
              <a:t>35%</a:t>
            </a:r>
            <a:r>
              <a:rPr lang="zh-CN" altLang="en-US" sz="1200" dirty="0" smtClean="0"/>
              <a:t>消费者则集中在</a:t>
            </a:r>
            <a:r>
              <a:rPr lang="en-US" altLang="zh-CN" sz="1200" dirty="0" smtClean="0"/>
              <a:t>500-1000</a:t>
            </a:r>
            <a:r>
              <a:rPr lang="zh-CN" altLang="en-US" sz="1200" dirty="0" smtClean="0"/>
              <a:t>价格段；千元以上市场份额较低，仅有</a:t>
            </a:r>
            <a:r>
              <a:rPr lang="en-US" altLang="zh-CN" sz="1200" dirty="0" smtClean="0"/>
              <a:t>1%</a:t>
            </a:r>
            <a:r>
              <a:rPr lang="zh-CN" altLang="en-US" sz="1200" dirty="0" smtClean="0"/>
              <a:t>。</a:t>
            </a:r>
            <a:endParaRPr lang="zh-CN" altLang="en-US" sz="12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数据来源：巨量云图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趋势策略。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1894841110"/>
              </p:ext>
            </p:extLst>
          </p:nvPr>
        </p:nvGraphicFramePr>
        <p:xfrm>
          <a:off x="852852" y="1837855"/>
          <a:ext cx="5615325" cy="4377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941445866"/>
              </p:ext>
            </p:extLst>
          </p:nvPr>
        </p:nvGraphicFramePr>
        <p:xfrm>
          <a:off x="6468177" y="1808163"/>
          <a:ext cx="4884036" cy="440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圆角矩形 6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大盘分析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竞品分析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4451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水杯</a:t>
            </a:r>
            <a:r>
              <a:rPr lang="zh-CN" altLang="en-US" dirty="0" smtClean="0"/>
              <a:t>带货达人分析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852851" y="995259"/>
            <a:ext cx="4807719" cy="2281966"/>
          </a:xfrm>
        </p:spPr>
        <p:txBody>
          <a:bodyPr>
            <a:noAutofit/>
          </a:bodyPr>
          <a:lstStyle/>
          <a:p>
            <a:r>
              <a:rPr lang="zh-CN" altLang="en-US" dirty="0" smtClean="0"/>
              <a:t>水杯带货结构较为稳定：通过超头效应扩大中腰部及以下达人规模，进而为品牌自播蓄水；</a:t>
            </a:r>
            <a:endParaRPr lang="en-US" altLang="zh-CN" dirty="0"/>
          </a:p>
          <a:p>
            <a:r>
              <a:rPr lang="zh-CN" altLang="en-US" dirty="0" smtClean="0"/>
              <a:t>餐椅带货达人基本在</a:t>
            </a:r>
            <a:r>
              <a:rPr lang="en-US" altLang="zh-CN" dirty="0" smtClean="0"/>
              <a:t>24-40</a:t>
            </a:r>
            <a:r>
              <a:rPr lang="zh-CN" altLang="en-US" dirty="0" smtClean="0"/>
              <a:t>岁之间，</a:t>
            </a:r>
            <a:r>
              <a:rPr lang="en-US" altLang="zh-CN" dirty="0" smtClean="0"/>
              <a:t>24-30</a:t>
            </a:r>
            <a:r>
              <a:rPr lang="zh-CN" altLang="en-US" dirty="0" smtClean="0"/>
              <a:t>岁的达人比</a:t>
            </a:r>
            <a:r>
              <a:rPr lang="en-US" altLang="zh-CN" dirty="0" smtClean="0"/>
              <a:t>31-40</a:t>
            </a:r>
            <a:r>
              <a:rPr lang="zh-CN" altLang="en-US" dirty="0" smtClean="0"/>
              <a:t>岁的更愿意带水杯；</a:t>
            </a:r>
            <a:endParaRPr lang="en-US" altLang="zh-CN" dirty="0" smtClean="0"/>
          </a:p>
          <a:p>
            <a:r>
              <a:rPr lang="en-US" altLang="zh-CN" dirty="0" smtClean="0"/>
              <a:t>10-50w</a:t>
            </a:r>
            <a:r>
              <a:rPr lang="zh-CN" altLang="en-US" dirty="0" smtClean="0"/>
              <a:t>量级的纯佣垂类达人是水杯出货达人的中坚群体，</a:t>
            </a:r>
            <a:r>
              <a:rPr lang="en-US" altLang="zh-CN" dirty="0" smtClean="0"/>
              <a:t>1-10w</a:t>
            </a:r>
            <a:r>
              <a:rPr lang="zh-CN" altLang="en-US" dirty="0" smtClean="0"/>
              <a:t>量级达人众多，但出货效率低，随着粉丝量级的增长，达人的带货效率越高。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数据来源：飞瓜数据，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2022.8.13-2022.11.10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期间带出餐椅的达人数据，第三方数据仅供参考。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/>
              <a:t>注释：带货系数</a:t>
            </a:r>
            <a:r>
              <a:rPr lang="en-US" altLang="zh-CN" dirty="0" smtClean="0"/>
              <a:t>=GMV</a:t>
            </a:r>
            <a:r>
              <a:rPr lang="zh-CN" altLang="en-US" dirty="0" smtClean="0"/>
              <a:t>贡献率</a:t>
            </a:r>
            <a:r>
              <a:rPr lang="en-US" altLang="zh-CN" dirty="0" smtClean="0"/>
              <a:t>/</a:t>
            </a:r>
            <a:r>
              <a:rPr lang="zh-CN" altLang="en-US" dirty="0" smtClean="0"/>
              <a:t>达人占比，用来衡量特定视角下达人带货效率，数值越高，带货效率越高。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0" name="图表 9"/>
          <p:cNvGraphicFramePr/>
          <p:nvPr>
            <p:extLst>
              <p:ext uri="{D42A27DB-BD31-4B8C-83A1-F6EECF244321}">
                <p14:modId xmlns:p14="http://schemas.microsoft.com/office/powerpoint/2010/main" val="1775568505"/>
              </p:ext>
            </p:extLst>
          </p:nvPr>
        </p:nvGraphicFramePr>
        <p:xfrm>
          <a:off x="5834743" y="962489"/>
          <a:ext cx="5517470" cy="2609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2074560115"/>
              </p:ext>
            </p:extLst>
          </p:nvPr>
        </p:nvGraphicFramePr>
        <p:xfrm>
          <a:off x="5834743" y="3572358"/>
          <a:ext cx="5517470" cy="2642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图片 32">
            <a:extLst>
              <a:ext uri="{FF2B5EF4-FFF2-40B4-BE49-F238E27FC236}">
                <a16:creationId xmlns:a16="http://schemas.microsoft.com/office/drawing/2014/main" id="{30C09C6A-771D-4436-9AC2-76C240FB905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57" b="97143" l="10000" r="10000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8" t="8107" r="5687" b="3573"/>
          <a:stretch/>
        </p:blipFill>
        <p:spPr>
          <a:xfrm>
            <a:off x="10391498" y="4226156"/>
            <a:ext cx="563765" cy="397463"/>
          </a:xfrm>
          <a:prstGeom prst="rect">
            <a:avLst/>
          </a:prstGeom>
          <a:solidFill>
            <a:srgbClr val="70AD47">
              <a:alpha val="0"/>
            </a:srgbClr>
          </a:solidFill>
          <a:ln>
            <a:noFill/>
          </a:ln>
        </p:spPr>
      </p:pic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10AC440A-9F5E-479E-8FAF-BE4E574B4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1997068"/>
              </p:ext>
            </p:extLst>
          </p:nvPr>
        </p:nvGraphicFramePr>
        <p:xfrm>
          <a:off x="1726874" y="3121703"/>
          <a:ext cx="3220783" cy="3098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874639" y="4424888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616161"/>
                </a:solidFill>
              </a:rPr>
              <a:t>带</a:t>
            </a:r>
            <a:r>
              <a:rPr lang="zh-CN" altLang="en-US" sz="1400" b="1" dirty="0" smtClean="0">
                <a:solidFill>
                  <a:srgbClr val="616161"/>
                </a:solidFill>
              </a:rPr>
              <a:t>货结构</a:t>
            </a:r>
            <a:endParaRPr lang="en-US" altLang="zh-CN" sz="1400" b="1" dirty="0" smtClean="0">
              <a:solidFill>
                <a:srgbClr val="61616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GMV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大盘分析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竞品分析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8132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餐</a:t>
            </a:r>
            <a:r>
              <a:rPr lang="zh-CN" altLang="en-US" dirty="0" smtClean="0"/>
              <a:t>椅带货达人分析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852851" y="995259"/>
            <a:ext cx="4807719" cy="2281966"/>
          </a:xfrm>
        </p:spPr>
        <p:txBody>
          <a:bodyPr>
            <a:noAutofit/>
          </a:bodyPr>
          <a:lstStyle/>
          <a:p>
            <a:r>
              <a:rPr lang="zh-CN" altLang="en-US" dirty="0" smtClean="0"/>
              <a:t>餐</a:t>
            </a:r>
            <a:r>
              <a:rPr lang="zh-CN" altLang="en-US" dirty="0"/>
              <a:t>椅主要通过中腰部及以下达人带货，达人带货金额占比高达</a:t>
            </a:r>
            <a:r>
              <a:rPr lang="en-US" altLang="zh-CN" dirty="0"/>
              <a:t>95%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 smtClean="0"/>
              <a:t>餐椅带货达人基本在</a:t>
            </a:r>
            <a:r>
              <a:rPr lang="en-US" altLang="zh-CN" dirty="0" smtClean="0"/>
              <a:t>24-40</a:t>
            </a:r>
            <a:r>
              <a:rPr lang="zh-CN" altLang="en-US" dirty="0" smtClean="0"/>
              <a:t>岁之间，</a:t>
            </a:r>
            <a:r>
              <a:rPr lang="en-US" altLang="zh-CN" dirty="0" smtClean="0"/>
              <a:t>24-30</a:t>
            </a:r>
            <a:r>
              <a:rPr lang="zh-CN" altLang="en-US" dirty="0" smtClean="0"/>
              <a:t>岁的达人比</a:t>
            </a:r>
            <a:r>
              <a:rPr lang="en-US" altLang="zh-CN" dirty="0" smtClean="0"/>
              <a:t>31-40</a:t>
            </a:r>
            <a:r>
              <a:rPr lang="zh-CN" altLang="en-US" dirty="0" smtClean="0"/>
              <a:t>岁的更愿意带餐椅；</a:t>
            </a:r>
            <a:endParaRPr lang="en-US" altLang="zh-CN" dirty="0" smtClean="0"/>
          </a:p>
          <a:p>
            <a:r>
              <a:rPr lang="zh-CN" altLang="en-US" dirty="0" smtClean="0"/>
              <a:t>出货达人中，</a:t>
            </a:r>
            <a:r>
              <a:rPr lang="en-US" altLang="zh-CN" dirty="0" smtClean="0"/>
              <a:t>74%</a:t>
            </a:r>
            <a:r>
              <a:rPr lang="zh-CN" altLang="en-US" dirty="0" smtClean="0"/>
              <a:t>的粉丝都在</a:t>
            </a:r>
            <a:r>
              <a:rPr lang="en-US" altLang="zh-CN" dirty="0" smtClean="0"/>
              <a:t>10w</a:t>
            </a:r>
            <a:r>
              <a:rPr lang="zh-CN" altLang="en-US" dirty="0" smtClean="0"/>
              <a:t>以内，且贡献了</a:t>
            </a:r>
            <a:r>
              <a:rPr lang="en-US" altLang="zh-CN" dirty="0" smtClean="0"/>
              <a:t>77%</a:t>
            </a:r>
            <a:r>
              <a:rPr lang="zh-CN" altLang="en-US" dirty="0" smtClean="0"/>
              <a:t>的</a:t>
            </a:r>
            <a:r>
              <a:rPr lang="en-US" altLang="zh-CN" dirty="0" smtClean="0"/>
              <a:t>GMV</a:t>
            </a:r>
            <a:r>
              <a:rPr lang="zh-CN" altLang="en-US" dirty="0" smtClean="0"/>
              <a:t>；</a:t>
            </a:r>
            <a:r>
              <a:rPr lang="en-US" altLang="zh-CN" dirty="0" smtClean="0"/>
              <a:t>10-100w</a:t>
            </a:r>
            <a:r>
              <a:rPr lang="zh-CN" altLang="en-US" dirty="0" smtClean="0"/>
              <a:t>量级达人带货效率低于</a:t>
            </a:r>
            <a:r>
              <a:rPr lang="en-US" altLang="zh-CN" dirty="0" smtClean="0"/>
              <a:t>1-10w</a:t>
            </a:r>
            <a:r>
              <a:rPr lang="zh-CN" altLang="en-US" dirty="0" smtClean="0"/>
              <a:t>，而百万级达人带货系数高达</a:t>
            </a:r>
            <a:r>
              <a:rPr lang="en-US" altLang="zh-CN" dirty="0"/>
              <a:t>3</a:t>
            </a:r>
            <a:r>
              <a:rPr lang="en-US" altLang="zh-CN" dirty="0" smtClean="0"/>
              <a:t>.5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数据来源：飞瓜数据，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2022.8.13-2022.11.10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期间带出餐椅的达人数据，第三方数据仅供参考。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/>
              <a:t>注释：带货系数</a:t>
            </a:r>
            <a:r>
              <a:rPr lang="en-US" altLang="zh-CN" dirty="0" smtClean="0"/>
              <a:t>=GMV</a:t>
            </a:r>
            <a:r>
              <a:rPr lang="zh-CN" altLang="en-US" dirty="0" smtClean="0"/>
              <a:t>贡献率</a:t>
            </a:r>
            <a:r>
              <a:rPr lang="en-US" altLang="zh-CN" dirty="0" smtClean="0"/>
              <a:t>/</a:t>
            </a:r>
            <a:r>
              <a:rPr lang="zh-CN" altLang="en-US" dirty="0" smtClean="0"/>
              <a:t>达人占比，用来衡量特定视角下达人带货效率，数值越高，带货效率越高。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0" name="图表 9"/>
          <p:cNvGraphicFramePr/>
          <p:nvPr>
            <p:extLst>
              <p:ext uri="{D42A27DB-BD31-4B8C-83A1-F6EECF244321}">
                <p14:modId xmlns:p14="http://schemas.microsoft.com/office/powerpoint/2010/main" val="3412615593"/>
              </p:ext>
            </p:extLst>
          </p:nvPr>
        </p:nvGraphicFramePr>
        <p:xfrm>
          <a:off x="5834743" y="962489"/>
          <a:ext cx="5517470" cy="2609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155908416"/>
              </p:ext>
            </p:extLst>
          </p:nvPr>
        </p:nvGraphicFramePr>
        <p:xfrm>
          <a:off x="5834743" y="3572358"/>
          <a:ext cx="5517470" cy="2642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图片 32">
            <a:extLst>
              <a:ext uri="{FF2B5EF4-FFF2-40B4-BE49-F238E27FC236}">
                <a16:creationId xmlns:a16="http://schemas.microsoft.com/office/drawing/2014/main" id="{30C09C6A-771D-4436-9AC2-76C240FB905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57" b="97143" l="10000" r="10000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8" t="8107" r="5687" b="3573"/>
          <a:stretch/>
        </p:blipFill>
        <p:spPr>
          <a:xfrm>
            <a:off x="9369148" y="4166359"/>
            <a:ext cx="563765" cy="397463"/>
          </a:xfrm>
          <a:prstGeom prst="rect">
            <a:avLst/>
          </a:prstGeom>
          <a:solidFill>
            <a:srgbClr val="70AD47">
              <a:alpha val="0"/>
            </a:srgbClr>
          </a:solidFill>
          <a:ln>
            <a:noFill/>
          </a:ln>
        </p:spPr>
      </p:pic>
      <p:graphicFrame>
        <p:nvGraphicFramePr>
          <p:cNvPr id="24" name="图表 23">
            <a:extLst>
              <a:ext uri="{FF2B5EF4-FFF2-40B4-BE49-F238E27FC236}">
                <a16:creationId xmlns:a16="http://schemas.microsoft.com/office/drawing/2014/main" id="{10AC440A-9F5E-479E-8FAF-BE4E574B4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999302"/>
              </p:ext>
            </p:extLst>
          </p:nvPr>
        </p:nvGraphicFramePr>
        <p:xfrm>
          <a:off x="1733406" y="3121703"/>
          <a:ext cx="3220783" cy="3098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881171" y="4424888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616161"/>
                </a:solidFill>
              </a:rPr>
              <a:t>带</a:t>
            </a:r>
            <a:r>
              <a:rPr lang="zh-CN" altLang="en-US" sz="1400" b="1" dirty="0" smtClean="0">
                <a:solidFill>
                  <a:srgbClr val="616161"/>
                </a:solidFill>
              </a:rPr>
              <a:t>货结构</a:t>
            </a:r>
            <a:endParaRPr lang="en-US" altLang="zh-CN" sz="1400" b="1" dirty="0" smtClean="0">
              <a:solidFill>
                <a:srgbClr val="61616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GMV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大盘分析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竞品分析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5197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店铺整体分析</a:t>
            </a:r>
            <a:endParaRPr lang="zh-CN" alt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577221"/>
              </p:ext>
            </p:extLst>
          </p:nvPr>
        </p:nvGraphicFramePr>
        <p:xfrm>
          <a:off x="852488" y="1825625"/>
          <a:ext cx="5243512" cy="437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zh-CN" altLang="en-US" dirty="0" smtClean="0"/>
              <a:t>同贝易一样，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个竞品的大部分销量占比来自品牌自播；值得注意的是，</a:t>
            </a:r>
            <a:r>
              <a:rPr lang="en-US" altLang="zh-CN" dirty="0" err="1" smtClean="0"/>
              <a:t>Hagaday</a:t>
            </a:r>
            <a:r>
              <a:rPr lang="zh-CN" altLang="en-US" dirty="0" smtClean="0"/>
              <a:t>的自然销量占比高达</a:t>
            </a:r>
            <a:r>
              <a:rPr lang="en-US" altLang="zh-CN" dirty="0" smtClean="0"/>
              <a:t>32%</a:t>
            </a:r>
            <a:r>
              <a:rPr lang="zh-CN" altLang="en-US" dirty="0" smtClean="0"/>
              <a:t>，且短视频销量占比和世喜一样超过</a:t>
            </a:r>
            <a:r>
              <a:rPr lang="en-US" altLang="zh-CN" dirty="0" smtClean="0"/>
              <a:t>15%</a:t>
            </a:r>
            <a:r>
              <a:rPr lang="zh-CN" altLang="en-US" dirty="0" smtClean="0"/>
              <a:t>，贝易短视频占比仅为</a:t>
            </a:r>
            <a:r>
              <a:rPr lang="en-US" altLang="zh-CN" dirty="0" smtClean="0"/>
              <a:t>3%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从各品牌达人月均活跃度来看，世喜和</a:t>
            </a:r>
            <a:r>
              <a:rPr lang="en-US" altLang="zh-CN" dirty="0" err="1"/>
              <a:t>Hagaday</a:t>
            </a:r>
            <a:r>
              <a:rPr lang="zh-CN" altLang="en-US" dirty="0" smtClean="0"/>
              <a:t>的合作达人有着更高的短视频发布意愿和直播频次。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数据来源：飞瓜数据，</a:t>
            </a:r>
            <a:r>
              <a:rPr lang="en-US" altLang="zh-CN" dirty="0" smtClean="0"/>
              <a:t>2022.8.13-2022.11.10</a:t>
            </a:r>
            <a:r>
              <a:rPr lang="zh-CN" altLang="en-US" dirty="0" smtClean="0"/>
              <a:t>，</a:t>
            </a:r>
            <a:r>
              <a:rPr lang="zh-CN" altLang="en-US" dirty="0"/>
              <a:t>第三方数据仅供参考。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3493586425"/>
              </p:ext>
            </p:extLst>
          </p:nvPr>
        </p:nvGraphicFramePr>
        <p:xfrm>
          <a:off x="6096000" y="1822451"/>
          <a:ext cx="5256213" cy="439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圆角矩形 13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</a:rPr>
              <a:t>大盘分析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竞品分析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37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世喜带货达人发展分析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zh-CN" dirty="0" err="1" smtClean="0"/>
              <a:t>Hagaday</a:t>
            </a:r>
            <a:r>
              <a:rPr lang="zh-CN" altLang="en-US" dirty="0" smtClean="0"/>
              <a:t>大约于</a:t>
            </a:r>
            <a:r>
              <a:rPr lang="en-US" altLang="zh-CN" dirty="0" smtClean="0"/>
              <a:t>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10</a:t>
            </a:r>
            <a:r>
              <a:rPr lang="zh-CN" altLang="en-US" dirty="0" smtClean="0"/>
              <a:t>月入局抖音，</a:t>
            </a:r>
            <a:r>
              <a:rPr lang="en-US" altLang="zh-CN" dirty="0" smtClean="0"/>
              <a:t>21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11</a:t>
            </a:r>
            <a:r>
              <a:rPr lang="zh-CN" altLang="en-US" dirty="0" smtClean="0"/>
              <a:t>月合作达人数突破</a:t>
            </a:r>
            <a:r>
              <a:rPr lang="en-US" altLang="zh-CN" dirty="0" smtClean="0"/>
              <a:t>2000,12</a:t>
            </a:r>
            <a:r>
              <a:rPr lang="zh-CN" altLang="en-US" dirty="0" smtClean="0"/>
              <a:t>月暴涨</a:t>
            </a:r>
            <a:r>
              <a:rPr lang="en-US" altLang="zh-CN" dirty="0" smtClean="0"/>
              <a:t>800</a:t>
            </a:r>
            <a:r>
              <a:rPr lang="zh-CN" altLang="en-US" dirty="0" smtClean="0"/>
              <a:t>人，为后续品牌自播崛起打下了坚实的基础，</a:t>
            </a:r>
            <a:r>
              <a:rPr lang="en-US" altLang="zh-CN" dirty="0" smtClean="0"/>
              <a:t>22</a:t>
            </a:r>
            <a:r>
              <a:rPr lang="zh-CN" altLang="en-US" dirty="0" smtClean="0"/>
              <a:t>年品牌自播赢来爆发，</a:t>
            </a:r>
            <a:r>
              <a:rPr lang="en-US" altLang="zh-CN" dirty="0" smtClean="0"/>
              <a:t>8</a:t>
            </a:r>
            <a:r>
              <a:rPr lang="zh-CN" altLang="en-US" dirty="0" smtClean="0"/>
              <a:t>月合作达人数破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9</a:t>
            </a:r>
            <a:r>
              <a:rPr lang="zh-CN" altLang="en-US" dirty="0" smtClean="0"/>
              <a:t>月抖音渠道月</a:t>
            </a:r>
            <a:r>
              <a:rPr lang="en-US" altLang="zh-CN" dirty="0" smtClean="0"/>
              <a:t>GMV</a:t>
            </a:r>
            <a:r>
              <a:rPr lang="zh-CN" altLang="en-US" dirty="0" smtClean="0"/>
              <a:t>破千万，其中爆款保温杯销售贡献近</a:t>
            </a:r>
            <a:r>
              <a:rPr lang="en-US" altLang="zh-CN" dirty="0" smtClean="0"/>
              <a:t>70%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爆款保温杯于今年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月末上线，主要是通过已合作达人推广。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数据来源：飞瓜</a:t>
            </a:r>
            <a:r>
              <a:rPr lang="zh-CN" altLang="en-US" dirty="0" smtClean="0"/>
              <a:t>数据，</a:t>
            </a:r>
            <a:r>
              <a:rPr lang="zh-CN" altLang="en-US" dirty="0"/>
              <a:t>第三方数据仅供参考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1" name="图表 10"/>
              <p:cNvGraphicFramePr/>
              <p:nvPr>
                <p:extLst>
                  <p:ext uri="{D42A27DB-BD31-4B8C-83A1-F6EECF244321}">
                    <p14:modId xmlns:p14="http://schemas.microsoft.com/office/powerpoint/2010/main" val="488700307"/>
                  </p:ext>
                </p:extLst>
              </p:nvPr>
            </p:nvGraphicFramePr>
            <p:xfrm>
              <a:off x="852851" y="2449159"/>
              <a:ext cx="10488432" cy="323197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1" name="图表 10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851" y="2449159"/>
                <a:ext cx="10488432" cy="323197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3383730317"/>
              </p:ext>
            </p:extLst>
          </p:nvPr>
        </p:nvGraphicFramePr>
        <p:xfrm>
          <a:off x="1193799" y="1837855"/>
          <a:ext cx="10158413" cy="4300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圆角矩形 15"/>
          <p:cNvSpPr/>
          <p:nvPr/>
        </p:nvSpPr>
        <p:spPr>
          <a:xfrm>
            <a:off x="6285696" y="3064934"/>
            <a:ext cx="463217" cy="2924385"/>
          </a:xfrm>
          <a:prstGeom prst="roundRect">
            <a:avLst>
              <a:gd name="adj" fmla="val 6423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9447833" y="2945331"/>
            <a:ext cx="899325" cy="3043989"/>
          </a:xfrm>
          <a:prstGeom prst="roundRect">
            <a:avLst>
              <a:gd name="adj" fmla="val 6423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</a:rPr>
              <a:t>大盘分析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竞品分析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451102" y="3438480"/>
            <a:ext cx="1706544" cy="567601"/>
          </a:xfrm>
          <a:prstGeom prst="roundRect">
            <a:avLst>
              <a:gd name="adj" fmla="val 7801"/>
            </a:avLst>
          </a:prstGeom>
          <a:noFill/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839" y="3987844"/>
            <a:ext cx="711995" cy="710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7548039" y="5047259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3</a:t>
            </a:r>
            <a:r>
              <a:rPr lang="zh-CN" altLang="en-US" sz="1000" dirty="0" smtClean="0"/>
              <a:t>月末上线保温杯</a:t>
            </a:r>
            <a:endParaRPr lang="zh-CN" altLang="en-US" sz="1000" dirty="0"/>
          </a:p>
        </p:txBody>
      </p:sp>
      <p:pic>
        <p:nvPicPr>
          <p:cNvPr id="26" name="图片 25" descr="衣璇儿头像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665" y="2544670"/>
            <a:ext cx="801321" cy="801321"/>
          </a:xfrm>
          <a:custGeom>
            <a:avLst/>
            <a:gdLst>
              <a:gd name="connsiteX0" fmla="*/ 400661 w 801321"/>
              <a:gd name="connsiteY0" fmla="*/ 0 h 801321"/>
              <a:gd name="connsiteX1" fmla="*/ 793182 w 801321"/>
              <a:gd name="connsiteY1" fmla="*/ 319914 h 801321"/>
              <a:gd name="connsiteX2" fmla="*/ 801321 w 801321"/>
              <a:gd name="connsiteY2" fmla="*/ 400651 h 801321"/>
              <a:gd name="connsiteX3" fmla="*/ 801321 w 801321"/>
              <a:gd name="connsiteY3" fmla="*/ 400671 h 801321"/>
              <a:gd name="connsiteX4" fmla="*/ 793182 w 801321"/>
              <a:gd name="connsiteY4" fmla="*/ 481408 h 801321"/>
              <a:gd name="connsiteX5" fmla="*/ 481408 w 801321"/>
              <a:gd name="connsiteY5" fmla="*/ 793182 h 801321"/>
              <a:gd name="connsiteX6" fmla="*/ 400671 w 801321"/>
              <a:gd name="connsiteY6" fmla="*/ 801321 h 801321"/>
              <a:gd name="connsiteX7" fmla="*/ 400651 w 801321"/>
              <a:gd name="connsiteY7" fmla="*/ 801321 h 801321"/>
              <a:gd name="connsiteX8" fmla="*/ 319914 w 801321"/>
              <a:gd name="connsiteY8" fmla="*/ 793182 h 801321"/>
              <a:gd name="connsiteX9" fmla="*/ 0 w 801321"/>
              <a:gd name="connsiteY9" fmla="*/ 400661 h 801321"/>
              <a:gd name="connsiteX10" fmla="*/ 400661 w 801321"/>
              <a:gd name="connsiteY10" fmla="*/ 0 h 801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1321" h="801321">
                <a:moveTo>
                  <a:pt x="400661" y="0"/>
                </a:moveTo>
                <a:cubicBezTo>
                  <a:pt x="594280" y="0"/>
                  <a:pt x="755822" y="137339"/>
                  <a:pt x="793182" y="319914"/>
                </a:cubicBezTo>
                <a:lnTo>
                  <a:pt x="801321" y="400651"/>
                </a:lnTo>
                <a:lnTo>
                  <a:pt x="801321" y="400671"/>
                </a:lnTo>
                <a:lnTo>
                  <a:pt x="793182" y="481408"/>
                </a:lnTo>
                <a:cubicBezTo>
                  <a:pt x="761159" y="637901"/>
                  <a:pt x="637901" y="761159"/>
                  <a:pt x="481408" y="793182"/>
                </a:cubicBezTo>
                <a:lnTo>
                  <a:pt x="400671" y="801321"/>
                </a:lnTo>
                <a:lnTo>
                  <a:pt x="400651" y="801321"/>
                </a:lnTo>
                <a:lnTo>
                  <a:pt x="319914" y="793182"/>
                </a:lnTo>
                <a:cubicBezTo>
                  <a:pt x="137339" y="755822"/>
                  <a:pt x="0" y="594280"/>
                  <a:pt x="0" y="400661"/>
                </a:cubicBezTo>
                <a:cubicBezTo>
                  <a:pt x="0" y="179382"/>
                  <a:pt x="179382" y="0"/>
                  <a:pt x="40066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图片 26" descr="朵朵的带娃日记头像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114" y="2544670"/>
            <a:ext cx="801321" cy="801321"/>
          </a:xfrm>
          <a:custGeom>
            <a:avLst/>
            <a:gdLst>
              <a:gd name="connsiteX0" fmla="*/ 400661 w 801321"/>
              <a:gd name="connsiteY0" fmla="*/ 0 h 801321"/>
              <a:gd name="connsiteX1" fmla="*/ 793182 w 801321"/>
              <a:gd name="connsiteY1" fmla="*/ 319914 h 801321"/>
              <a:gd name="connsiteX2" fmla="*/ 801321 w 801321"/>
              <a:gd name="connsiteY2" fmla="*/ 400651 h 801321"/>
              <a:gd name="connsiteX3" fmla="*/ 801321 w 801321"/>
              <a:gd name="connsiteY3" fmla="*/ 400671 h 801321"/>
              <a:gd name="connsiteX4" fmla="*/ 793182 w 801321"/>
              <a:gd name="connsiteY4" fmla="*/ 481408 h 801321"/>
              <a:gd name="connsiteX5" fmla="*/ 481408 w 801321"/>
              <a:gd name="connsiteY5" fmla="*/ 793182 h 801321"/>
              <a:gd name="connsiteX6" fmla="*/ 400671 w 801321"/>
              <a:gd name="connsiteY6" fmla="*/ 801321 h 801321"/>
              <a:gd name="connsiteX7" fmla="*/ 400651 w 801321"/>
              <a:gd name="connsiteY7" fmla="*/ 801321 h 801321"/>
              <a:gd name="connsiteX8" fmla="*/ 319914 w 801321"/>
              <a:gd name="connsiteY8" fmla="*/ 793182 h 801321"/>
              <a:gd name="connsiteX9" fmla="*/ 0 w 801321"/>
              <a:gd name="connsiteY9" fmla="*/ 400661 h 801321"/>
              <a:gd name="connsiteX10" fmla="*/ 400661 w 801321"/>
              <a:gd name="connsiteY10" fmla="*/ 0 h 801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1321" h="801321">
                <a:moveTo>
                  <a:pt x="400661" y="0"/>
                </a:moveTo>
                <a:cubicBezTo>
                  <a:pt x="594280" y="0"/>
                  <a:pt x="755822" y="137339"/>
                  <a:pt x="793182" y="319914"/>
                </a:cubicBezTo>
                <a:lnTo>
                  <a:pt x="801321" y="400651"/>
                </a:lnTo>
                <a:lnTo>
                  <a:pt x="801321" y="400671"/>
                </a:lnTo>
                <a:lnTo>
                  <a:pt x="793182" y="481408"/>
                </a:lnTo>
                <a:cubicBezTo>
                  <a:pt x="761159" y="637901"/>
                  <a:pt x="637901" y="761159"/>
                  <a:pt x="481408" y="793182"/>
                </a:cubicBezTo>
                <a:lnTo>
                  <a:pt x="400671" y="801321"/>
                </a:lnTo>
                <a:lnTo>
                  <a:pt x="400651" y="801321"/>
                </a:lnTo>
                <a:lnTo>
                  <a:pt x="319914" y="793182"/>
                </a:lnTo>
                <a:cubicBezTo>
                  <a:pt x="137340" y="755822"/>
                  <a:pt x="0" y="594280"/>
                  <a:pt x="0" y="400661"/>
                </a:cubicBezTo>
                <a:cubicBezTo>
                  <a:pt x="0" y="179382"/>
                  <a:pt x="179382" y="0"/>
                  <a:pt x="40066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文本框 27"/>
          <p:cNvSpPr txBox="1"/>
          <p:nvPr/>
        </p:nvSpPr>
        <p:spPr>
          <a:xfrm>
            <a:off x="4273550" y="3429000"/>
            <a:ext cx="1822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 smtClean="0"/>
              <a:t>朵</a:t>
            </a:r>
            <a:r>
              <a:rPr lang="zh-CN" altLang="en-US" sz="1050" dirty="0"/>
              <a:t>朵的带娃</a:t>
            </a:r>
            <a:r>
              <a:rPr lang="zh-CN" altLang="en-US" sz="1050" dirty="0" smtClean="0"/>
              <a:t>日记</a:t>
            </a:r>
            <a:r>
              <a:rPr lang="en-US" altLang="zh-CN" sz="1050" dirty="0" smtClean="0"/>
              <a:t>6</a:t>
            </a:r>
            <a:r>
              <a:rPr lang="zh-CN" altLang="en-US" sz="1050" dirty="0" smtClean="0"/>
              <a:t>月开始带保温杯，近半年共带</a:t>
            </a:r>
            <a:r>
              <a:rPr lang="en-US" altLang="zh-CN" sz="1050" dirty="0" smtClean="0"/>
              <a:t>28</a:t>
            </a:r>
            <a:r>
              <a:rPr lang="zh-CN" altLang="en-US" sz="1050" dirty="0" smtClean="0"/>
              <a:t>场，</a:t>
            </a:r>
            <a:r>
              <a:rPr lang="en-US" altLang="zh-CN" sz="1050" dirty="0" smtClean="0"/>
              <a:t>GMV25-50w</a:t>
            </a:r>
            <a:endParaRPr lang="zh-CN" altLang="en-US" sz="1050" dirty="0"/>
          </a:p>
        </p:txBody>
      </p:sp>
      <p:sp>
        <p:nvSpPr>
          <p:cNvPr id="29" name="文本框 28"/>
          <p:cNvSpPr txBox="1"/>
          <p:nvPr/>
        </p:nvSpPr>
        <p:spPr>
          <a:xfrm>
            <a:off x="2451101" y="3429000"/>
            <a:ext cx="182244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衣璇</a:t>
            </a:r>
            <a:r>
              <a:rPr lang="zh-CN" altLang="en-US" sz="1050" dirty="0" smtClean="0"/>
              <a:t>儿</a:t>
            </a:r>
            <a:r>
              <a:rPr lang="en-US" altLang="zh-CN" sz="1050" dirty="0"/>
              <a:t>7</a:t>
            </a:r>
            <a:r>
              <a:rPr lang="zh-CN" altLang="en-US" sz="1050" dirty="0" smtClean="0"/>
              <a:t>月开始带保温杯，近半年共带</a:t>
            </a:r>
            <a:r>
              <a:rPr lang="en-US" altLang="zh-CN" sz="1050" dirty="0" smtClean="0"/>
              <a:t>45</a:t>
            </a:r>
            <a:r>
              <a:rPr lang="zh-CN" altLang="en-US" sz="1050" dirty="0" smtClean="0"/>
              <a:t>场，</a:t>
            </a:r>
            <a:r>
              <a:rPr lang="en-US" altLang="zh-CN" sz="1050" dirty="0" smtClean="0"/>
              <a:t>GMV50-75w</a:t>
            </a:r>
            <a:endParaRPr lang="zh-CN" altLang="en-US" sz="1050" dirty="0"/>
          </a:p>
        </p:txBody>
      </p:sp>
      <p:sp>
        <p:nvSpPr>
          <p:cNvPr id="30" name="圆角矩形 29"/>
          <p:cNvSpPr/>
          <p:nvPr/>
        </p:nvSpPr>
        <p:spPr>
          <a:xfrm>
            <a:off x="4273550" y="3438480"/>
            <a:ext cx="1706544" cy="567601"/>
          </a:xfrm>
          <a:prstGeom prst="roundRect">
            <a:avLst>
              <a:gd name="adj" fmla="val 7801"/>
            </a:avLst>
          </a:prstGeom>
          <a:noFill/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2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Hagaday</a:t>
            </a:r>
            <a:r>
              <a:rPr lang="zh-CN" altLang="en-US" dirty="0"/>
              <a:t>带</a:t>
            </a:r>
            <a:r>
              <a:rPr lang="zh-CN" altLang="en-US" dirty="0" smtClean="0"/>
              <a:t>货达人发展分析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zh-CN" dirty="0" err="1" smtClean="0"/>
              <a:t>Hagaday</a:t>
            </a:r>
            <a:r>
              <a:rPr lang="zh-CN" altLang="en-US" dirty="0" smtClean="0"/>
              <a:t>大约于</a:t>
            </a:r>
            <a:r>
              <a:rPr lang="en-US" altLang="zh-CN" dirty="0" smtClean="0"/>
              <a:t>21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月入局抖音，在近</a:t>
            </a:r>
            <a:r>
              <a:rPr lang="en-US" altLang="zh-CN" dirty="0" smtClean="0"/>
              <a:t>2</a:t>
            </a:r>
            <a:r>
              <a:rPr lang="zh-CN" altLang="en-US" dirty="0" smtClean="0"/>
              <a:t>年的渠道发展中有</a:t>
            </a:r>
            <a:r>
              <a:rPr lang="en-US" altLang="zh-CN" dirty="0" smtClean="0"/>
              <a:t>2</a:t>
            </a:r>
            <a:r>
              <a:rPr lang="zh-CN" altLang="en-US" dirty="0" smtClean="0"/>
              <a:t>次明显的突进，最近一次爆发发生在今年</a:t>
            </a:r>
            <a:r>
              <a:rPr lang="en-US" altLang="zh-CN" dirty="0" smtClean="0"/>
              <a:t>7</a:t>
            </a:r>
            <a:r>
              <a:rPr lang="zh-CN" altLang="en-US" dirty="0" smtClean="0"/>
              <a:t>月（</a:t>
            </a:r>
            <a:r>
              <a:rPr lang="en-US" altLang="zh-CN" dirty="0" smtClean="0"/>
              <a:t>618</a:t>
            </a:r>
            <a:r>
              <a:rPr lang="zh-CN" altLang="en-US" dirty="0" smtClean="0"/>
              <a:t>大促之后），每月合作达人增长</a:t>
            </a:r>
            <a:r>
              <a:rPr lang="en-US" altLang="zh-CN" dirty="0" smtClean="0"/>
              <a:t>100+</a:t>
            </a:r>
            <a:r>
              <a:rPr lang="zh-CN" altLang="en-US" dirty="0" smtClean="0"/>
              <a:t>，月</a:t>
            </a:r>
            <a:r>
              <a:rPr lang="en-US" altLang="zh-CN" dirty="0" smtClean="0"/>
              <a:t>GMV</a:t>
            </a:r>
            <a:r>
              <a:rPr lang="zh-CN" altLang="en-US" dirty="0" smtClean="0"/>
              <a:t>突破百万；</a:t>
            </a:r>
            <a:endParaRPr lang="en-US" altLang="zh-CN" dirty="0" smtClean="0"/>
          </a:p>
          <a:p>
            <a:r>
              <a:rPr lang="en-US" altLang="zh-CN" dirty="0"/>
              <a:t>HKD-268</a:t>
            </a:r>
            <a:r>
              <a:rPr lang="zh-CN" altLang="en-US" dirty="0"/>
              <a:t>在</a:t>
            </a:r>
            <a:r>
              <a:rPr lang="en-US" altLang="zh-CN" dirty="0"/>
              <a:t>618</a:t>
            </a:r>
            <a:r>
              <a:rPr lang="zh-CN" altLang="en-US" dirty="0"/>
              <a:t>后开启了一波明显的小</a:t>
            </a:r>
            <a:r>
              <a:rPr lang="zh-CN" altLang="en-US" dirty="0" smtClean="0"/>
              <a:t>爆发。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数据来源：飞瓜</a:t>
            </a:r>
            <a:r>
              <a:rPr lang="zh-CN" altLang="en-US" dirty="0" smtClean="0"/>
              <a:t>数据，</a:t>
            </a:r>
            <a:r>
              <a:rPr lang="zh-CN" altLang="en-US" dirty="0"/>
              <a:t>第三方数据仅供参考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1" name="图表 10"/>
              <p:cNvGraphicFramePr/>
              <p:nvPr>
                <p:extLst>
                  <p:ext uri="{D42A27DB-BD31-4B8C-83A1-F6EECF244321}">
                    <p14:modId xmlns:p14="http://schemas.microsoft.com/office/powerpoint/2010/main" val="1822742973"/>
                  </p:ext>
                </p:extLst>
              </p:nvPr>
            </p:nvGraphicFramePr>
            <p:xfrm>
              <a:off x="852851" y="2449159"/>
              <a:ext cx="10488432" cy="323197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1" name="图表 10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851" y="2449159"/>
                <a:ext cx="10488432" cy="323197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775936276"/>
              </p:ext>
            </p:extLst>
          </p:nvPr>
        </p:nvGraphicFramePr>
        <p:xfrm>
          <a:off x="1193799" y="1837855"/>
          <a:ext cx="10158413" cy="4300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圆角矩形 15"/>
          <p:cNvSpPr/>
          <p:nvPr/>
        </p:nvSpPr>
        <p:spPr>
          <a:xfrm>
            <a:off x="3063753" y="3064934"/>
            <a:ext cx="463217" cy="2924385"/>
          </a:xfrm>
          <a:prstGeom prst="roundRect">
            <a:avLst>
              <a:gd name="adj" fmla="val 6423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9447833" y="3064934"/>
            <a:ext cx="1350796" cy="2924386"/>
          </a:xfrm>
          <a:prstGeom prst="roundRect">
            <a:avLst>
              <a:gd name="adj" fmla="val 6423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</a:rPr>
              <a:t>大盘分析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竞品分析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pic>
        <p:nvPicPr>
          <p:cNvPr id="15" name="图片 14"/>
          <p:cNvPicPr>
            <a:picLocks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b="1053"/>
          <a:stretch/>
        </p:blipFill>
        <p:spPr>
          <a:xfrm>
            <a:off x="6131404" y="2377987"/>
            <a:ext cx="711995" cy="710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圆角矩形 7"/>
          <p:cNvSpPr/>
          <p:nvPr/>
        </p:nvSpPr>
        <p:spPr>
          <a:xfrm>
            <a:off x="6948262" y="2372430"/>
            <a:ext cx="2329097" cy="716233"/>
          </a:xfrm>
          <a:prstGeom prst="roundRect">
            <a:avLst>
              <a:gd name="adj" fmla="val 7801"/>
            </a:avLst>
          </a:prstGeom>
          <a:noFill/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948263" y="2357591"/>
            <a:ext cx="22242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 smtClean="0"/>
              <a:t>一方面是启明星母婴工厂、小</a:t>
            </a:r>
            <a:r>
              <a:rPr lang="zh-CN" altLang="en-US" sz="1050" dirty="0"/>
              <a:t>鸭子</a:t>
            </a:r>
            <a:r>
              <a:rPr lang="zh-CN" altLang="en-US" sz="1050" dirty="0" smtClean="0"/>
              <a:t>姐姐等配合活动机制合力主推的带动，另一方面是柠檬妈妈的突然爆火共同带起了</a:t>
            </a:r>
            <a:r>
              <a:rPr lang="en-US" altLang="zh-CN" sz="1050" dirty="0" smtClean="0"/>
              <a:t>7</a:t>
            </a:r>
            <a:r>
              <a:rPr lang="zh-CN" altLang="en-US" sz="1050" dirty="0" smtClean="0"/>
              <a:t>月的</a:t>
            </a:r>
            <a:r>
              <a:rPr lang="en-US" altLang="zh-CN" sz="1050" dirty="0" smtClean="0"/>
              <a:t>GMV</a:t>
            </a:r>
            <a:r>
              <a:rPr lang="zh-CN" altLang="en-US" sz="1050" dirty="0" smtClean="0"/>
              <a:t>爆发。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3289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/>
              <a:t>评价分析</a:t>
            </a:r>
            <a:r>
              <a:rPr lang="en-US" altLang="zh-CN" b="0" dirty="0" smtClean="0"/>
              <a:t>-</a:t>
            </a:r>
            <a:r>
              <a:rPr lang="zh-CN" altLang="en-US" b="0" dirty="0" smtClean="0"/>
              <a:t>差评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852851" y="995259"/>
            <a:ext cx="2593081" cy="4990674"/>
          </a:xfrm>
        </p:spPr>
        <p:txBody>
          <a:bodyPr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世喜</a:t>
            </a:r>
            <a:r>
              <a:rPr lang="zh-CN" altLang="en-US" dirty="0"/>
              <a:t>客户痛点</a:t>
            </a:r>
            <a:r>
              <a:rPr lang="en-US" altLang="zh-CN" dirty="0"/>
              <a:t>-</a:t>
            </a:r>
            <a:r>
              <a:rPr lang="zh-CN" altLang="en-US" dirty="0"/>
              <a:t>保温效果差，性价比不</a:t>
            </a:r>
            <a:r>
              <a:rPr lang="zh-CN" altLang="en-US" dirty="0" smtClean="0"/>
              <a:t>高</a:t>
            </a:r>
            <a:endParaRPr lang="en-US" altLang="zh-CN" dirty="0" smtClean="0"/>
          </a:p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膳魔师</a:t>
            </a:r>
            <a:r>
              <a:rPr lang="zh-CN" altLang="en-US" dirty="0"/>
              <a:t>客户痛点</a:t>
            </a:r>
            <a:r>
              <a:rPr lang="en-US" altLang="zh-CN" dirty="0"/>
              <a:t>-</a:t>
            </a:r>
            <a:r>
              <a:rPr lang="zh-CN" altLang="en-US" dirty="0"/>
              <a:t>质量不好，首次使用有异味，杯口漏水，不值</a:t>
            </a:r>
            <a:r>
              <a:rPr lang="zh-CN" altLang="en-US" dirty="0" smtClean="0"/>
              <a:t>高价</a:t>
            </a:r>
            <a:endParaRPr lang="en-US" altLang="zh-CN" dirty="0" smtClean="0"/>
          </a:p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花伴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森</a:t>
            </a:r>
            <a:r>
              <a:rPr lang="zh-CN" altLang="en-US" dirty="0" smtClean="0"/>
              <a:t>痛点</a:t>
            </a:r>
            <a:r>
              <a:rPr lang="en-US" altLang="zh-CN" dirty="0"/>
              <a:t>-</a:t>
            </a:r>
            <a:r>
              <a:rPr lang="zh-CN" altLang="en-US" dirty="0"/>
              <a:t>客服态度差，吸管使用感受差，物流不</a:t>
            </a:r>
            <a:r>
              <a:rPr lang="zh-CN" altLang="en-US" dirty="0" smtClean="0"/>
              <a:t>满意</a:t>
            </a:r>
            <a:endParaRPr lang="en-US" altLang="zh-CN" dirty="0" smtClean="0"/>
          </a:p>
          <a:p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Hagaday</a:t>
            </a:r>
            <a:r>
              <a:rPr lang="zh-CN" altLang="en-US" dirty="0" smtClean="0"/>
              <a:t>痛点</a:t>
            </a:r>
            <a:r>
              <a:rPr lang="en-US" altLang="zh-CN" dirty="0" smtClean="0"/>
              <a:t>-</a:t>
            </a:r>
            <a:r>
              <a:rPr lang="zh-CN" altLang="en-US" dirty="0"/>
              <a:t>餐椅不稳，座椅空间太窄不适合胖宝宝 靠背塑料太单薄 而且看起来很廉价 性价比不高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8" b="15926"/>
          <a:stretch/>
        </p:blipFill>
        <p:spPr>
          <a:xfrm>
            <a:off x="3674533" y="788316"/>
            <a:ext cx="3788067" cy="2632941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8" name="图片 7"/>
          <p:cNvPicPr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60" b="15049"/>
          <a:stretch/>
        </p:blipFill>
        <p:spPr>
          <a:xfrm>
            <a:off x="7462600" y="788316"/>
            <a:ext cx="3788067" cy="2632941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10" name="图片 9"/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2" b="16557"/>
          <a:stretch/>
        </p:blipFill>
        <p:spPr>
          <a:xfrm>
            <a:off x="7462600" y="3754279"/>
            <a:ext cx="3788067" cy="2632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>
            <a:picLocks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7" b="15665"/>
          <a:stretch/>
        </p:blipFill>
        <p:spPr>
          <a:xfrm>
            <a:off x="3674533" y="3754279"/>
            <a:ext cx="3788067" cy="2632941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</p:pic>
      <p:sp>
        <p:nvSpPr>
          <p:cNvPr id="14" name="圆角矩形 13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</a:rPr>
              <a:t>大盘分析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竞品分析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7000" y="3131883"/>
            <a:ext cx="59503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1600" b="1" i="1" dirty="0"/>
              <a:t>世喜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493668" y="3131883"/>
            <a:ext cx="800219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1600" b="1" i="1" dirty="0" smtClean="0"/>
              <a:t>膳魔师</a:t>
            </a:r>
            <a:endParaRPr lang="zh-CN" altLang="en-US" sz="1600" b="1" i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10493668" y="6222584"/>
            <a:ext cx="800219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1600" b="1" i="1" dirty="0" smtClean="0"/>
              <a:t>花伴森</a:t>
            </a:r>
            <a:endParaRPr lang="zh-CN" altLang="en-US" sz="1600" b="1" i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477000" y="6222584"/>
            <a:ext cx="1037463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1600" b="1" i="1" dirty="0" err="1"/>
              <a:t>Hagaday</a:t>
            </a:r>
            <a:endParaRPr lang="zh-CN" altLang="en-US" sz="1600" b="1" i="1" u="sng" dirty="0"/>
          </a:p>
        </p:txBody>
      </p:sp>
    </p:spTree>
    <p:extLst>
      <p:ext uri="{BB962C8B-B14F-4D97-AF65-F5344CB8AC3E}">
        <p14:creationId xmlns:p14="http://schemas.microsoft.com/office/powerpoint/2010/main" val="335154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4546600"/>
            <a:ext cx="12192000" cy="231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水杯</a:t>
            </a:r>
            <a:r>
              <a:rPr lang="zh-CN" altLang="en-US" dirty="0" smtClean="0"/>
              <a:t>主要竞品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" name="image4.png"/>
          <p:cNvPicPr>
            <a:picLocks noChangeAspect="1"/>
          </p:cNvPicPr>
          <p:nvPr/>
        </p:nvPicPr>
        <p:blipFill>
          <a:blip r:embed="rId2"/>
          <a:srcRect l="70968" t="30605"/>
          <a:stretch>
            <a:fillRect/>
          </a:stretch>
        </p:blipFill>
        <p:spPr>
          <a:xfrm rot="10800000">
            <a:off x="9271783" y="3802780"/>
            <a:ext cx="2920216" cy="3055219"/>
          </a:xfrm>
          <a:prstGeom prst="rect">
            <a:avLst/>
          </a:prstGeom>
          <a:noFill/>
          <a:ln w="12700">
            <a:miter lim="400000"/>
            <a:headEnd/>
            <a:tailEnd/>
          </a:ln>
        </p:spPr>
      </p:pic>
      <p:sp>
        <p:nvSpPr>
          <p:cNvPr id="21" name="文本框 20"/>
          <p:cNvSpPr txBox="1"/>
          <p:nvPr/>
        </p:nvSpPr>
        <p:spPr>
          <a:xfrm>
            <a:off x="1813643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5"/>
                </a:solidFill>
              </a:rPr>
              <a:t>世喜</a:t>
            </a:r>
            <a:r>
              <a:rPr lang="en-US" altLang="zh-CN" sz="1400" b="1" dirty="0" smtClean="0">
                <a:solidFill>
                  <a:schemeClr val="accent5"/>
                </a:solidFill>
              </a:rPr>
              <a:t> 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¥205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6</a:t>
            </a:r>
            <a:r>
              <a:rPr lang="en-US" altLang="zh-CN" sz="1100" dirty="0" smtClean="0">
                <a:solidFill>
                  <a:schemeClr val="accent5"/>
                </a:solidFill>
              </a:rPr>
              <a:t>w+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67917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5"/>
                </a:solidFill>
              </a:rPr>
              <a:t>膳魔师</a:t>
            </a:r>
            <a:r>
              <a:rPr lang="en-US" altLang="zh-CN" sz="1400" b="1" dirty="0" smtClean="0">
                <a:solidFill>
                  <a:schemeClr val="accent5"/>
                </a:solidFill>
              </a:rPr>
              <a:t>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¥238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6</a:t>
            </a:r>
            <a:r>
              <a:rPr lang="en-US" altLang="zh-CN" sz="1100" dirty="0" smtClean="0">
                <a:solidFill>
                  <a:schemeClr val="accent5"/>
                </a:solidFill>
              </a:rPr>
              <a:t>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722191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/>
                </a:solidFill>
              </a:rPr>
              <a:t>BBC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¥99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6</a:t>
            </a:r>
            <a:r>
              <a:rPr lang="en-US" altLang="zh-CN" sz="1100" dirty="0" smtClean="0">
                <a:solidFill>
                  <a:schemeClr val="accent5"/>
                </a:solidFill>
              </a:rPr>
              <a:t>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6465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5"/>
                </a:solidFill>
              </a:rPr>
              <a:t>花伴森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¥299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2</a:t>
            </a:r>
            <a:r>
              <a:rPr lang="en-US" altLang="zh-CN" sz="1100" dirty="0" smtClean="0">
                <a:solidFill>
                  <a:schemeClr val="accent5"/>
                </a:solidFill>
              </a:rPr>
              <a:t>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30737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 smtClean="0">
                <a:solidFill>
                  <a:schemeClr val="accent5"/>
                </a:solidFill>
              </a:rPr>
              <a:t>UOOha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</a:t>
            </a:r>
            <a:r>
              <a:rPr lang="en-US" altLang="zh-CN" sz="1200" dirty="0" smtClean="0">
                <a:solidFill>
                  <a:schemeClr val="accent5"/>
                </a:solidFill>
              </a:rPr>
              <a:t>169</a:t>
            </a:r>
            <a:r>
              <a:rPr lang="en-US" altLang="zh-CN" sz="1200" dirty="0" smtClean="0">
                <a:solidFill>
                  <a:schemeClr val="accent5"/>
                </a:solidFill>
              </a:rPr>
              <a:t>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5w+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36507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 smtClean="0">
                <a:solidFill>
                  <a:schemeClr val="accent5"/>
                </a:solidFill>
              </a:rPr>
              <a:t>Aag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¥169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90781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5"/>
                </a:solidFill>
              </a:rPr>
              <a:t>可优比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¥169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2</a:t>
            </a:r>
            <a:r>
              <a:rPr lang="en-US" altLang="zh-CN" sz="1100" dirty="0" smtClean="0">
                <a:solidFill>
                  <a:schemeClr val="accent5"/>
                </a:solidFill>
              </a:rPr>
              <a:t>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45055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5"/>
                </a:solidFill>
              </a:rPr>
              <a:t>科巢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¥89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5</a:t>
            </a:r>
            <a:r>
              <a:rPr lang="en-US" altLang="zh-CN" sz="1100" dirty="0" smtClean="0">
                <a:solidFill>
                  <a:schemeClr val="accent5"/>
                </a:solidFill>
              </a:rPr>
              <a:t>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699328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5"/>
                </a:solidFill>
              </a:rPr>
              <a:t>皇宠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¥109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653601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5"/>
                </a:solidFill>
              </a:rPr>
              <a:t>格罗咪咪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¥169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pic>
        <p:nvPicPr>
          <p:cNvPr id="37" name="图片 3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644" y="1449266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图片 37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15" y="1451359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图片 38"/>
          <p:cNvPicPr>
            <a:picLocks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5"/>
          <a:stretch/>
        </p:blipFill>
        <p:spPr>
          <a:xfrm>
            <a:off x="5722186" y="1454874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图片 39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66" y="1454874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图片 41"/>
          <p:cNvPicPr>
            <a:picLocks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"/>
          <a:stretch/>
        </p:blipFill>
        <p:spPr>
          <a:xfrm>
            <a:off x="836507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"/>
          <a:stretch/>
        </p:blipFill>
        <p:spPr>
          <a:xfrm>
            <a:off x="2790781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" name="图片 43"/>
          <p:cNvPicPr>
            <a:picLocks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"/>
          <a:stretch/>
        </p:blipFill>
        <p:spPr>
          <a:xfrm>
            <a:off x="4745055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" name="图片 44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329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图片 45"/>
          <p:cNvPicPr>
            <a:picLocks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" b="1"/>
          <a:stretch/>
        </p:blipFill>
        <p:spPr>
          <a:xfrm>
            <a:off x="8653603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/>
          <p:cNvPicPr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740" y="1454874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9" name="圆角矩形 48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</a:rPr>
              <a:t>大盘分析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竞品分析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82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4546600"/>
            <a:ext cx="12192000" cy="231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餐椅</a:t>
            </a:r>
            <a:r>
              <a:rPr lang="zh-CN" altLang="en-US" dirty="0" smtClean="0"/>
              <a:t>主要竞品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603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66" y="1449264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07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4"/>
          <a:stretch/>
        </p:blipFill>
        <p:spPr>
          <a:xfrm>
            <a:off x="6699329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18" y="1449266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>
            <a:picLocks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2"/>
          <a:stretch/>
        </p:blipFill>
        <p:spPr>
          <a:xfrm>
            <a:off x="2790781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/>
          <p:cNvPicPr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4"/>
          <a:stretch/>
        </p:blipFill>
        <p:spPr>
          <a:xfrm>
            <a:off x="9630740" y="1449264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/>
          <p:cNvPicPr>
            <a:picLocks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" b="3348"/>
          <a:stretch/>
        </p:blipFill>
        <p:spPr>
          <a:xfrm>
            <a:off x="5722192" y="1449266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055" y="3942480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4.png"/>
          <p:cNvPicPr>
            <a:picLocks noChangeAspect="1"/>
          </p:cNvPicPr>
          <p:nvPr/>
        </p:nvPicPr>
        <p:blipFill>
          <a:blip r:embed="rId11"/>
          <a:srcRect l="70968" t="30605"/>
          <a:stretch>
            <a:fillRect/>
          </a:stretch>
        </p:blipFill>
        <p:spPr>
          <a:xfrm rot="10800000">
            <a:off x="9271783" y="3802780"/>
            <a:ext cx="2920216" cy="3055219"/>
          </a:xfrm>
          <a:prstGeom prst="rect">
            <a:avLst/>
          </a:prstGeom>
          <a:noFill/>
          <a:ln w="12700">
            <a:miter lim="400000"/>
            <a:headEnd/>
            <a:tailEnd/>
          </a:ln>
        </p:spPr>
      </p:pic>
      <p:pic>
        <p:nvPicPr>
          <p:cNvPr id="20" name="图片 19"/>
          <p:cNvPicPr>
            <a:picLocks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b="1053"/>
          <a:stretch/>
        </p:blipFill>
        <p:spPr>
          <a:xfrm>
            <a:off x="1813644" y="1449265"/>
            <a:ext cx="1721473" cy="1718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文本框 20"/>
          <p:cNvSpPr txBox="1"/>
          <p:nvPr/>
        </p:nvSpPr>
        <p:spPr>
          <a:xfrm>
            <a:off x="1813643" y="3167550"/>
            <a:ext cx="172147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 smtClean="0">
                <a:solidFill>
                  <a:schemeClr val="accent5"/>
                </a:solidFill>
              </a:rPr>
              <a:t>Hagaday</a:t>
            </a:r>
            <a:r>
              <a:rPr lang="en-US" altLang="zh-CN" sz="1400" b="1" dirty="0">
                <a:solidFill>
                  <a:schemeClr val="accent5"/>
                </a:solidFill>
              </a:rPr>
              <a:t>  </a:t>
            </a:r>
            <a:r>
              <a:rPr lang="en-US" altLang="zh-CN" sz="1600" b="1" dirty="0" smtClean="0">
                <a:solidFill>
                  <a:schemeClr val="accent5"/>
                </a:solidFill>
              </a:rPr>
              <a:t>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¥569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1w+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67917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accent5"/>
                </a:solidFill>
              </a:rPr>
              <a:t>Karmababy</a:t>
            </a:r>
            <a:r>
              <a:rPr lang="en-US" altLang="zh-CN" sz="1400" b="1" dirty="0" smtClean="0">
                <a:solidFill>
                  <a:schemeClr val="accent5"/>
                </a:solidFill>
              </a:rPr>
              <a:t>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¥392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2000+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722191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5"/>
                </a:solidFill>
              </a:rPr>
              <a:t>可优比</a:t>
            </a:r>
            <a:r>
              <a:rPr lang="en-US" altLang="zh-CN" sz="1400" b="1" dirty="0" smtClean="0">
                <a:solidFill>
                  <a:schemeClr val="accent5"/>
                </a:solidFill>
              </a:rPr>
              <a:t>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¥419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2000+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6465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 smtClean="0">
                <a:solidFill>
                  <a:schemeClr val="accent5"/>
                </a:solidFill>
              </a:rPr>
              <a:t>Bebetour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¥599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2000+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30737" y="3167550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/>
                </a:solidFill>
              </a:rPr>
              <a:t>BBC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¥319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>
                <a:solidFill>
                  <a:schemeClr val="accent5"/>
                </a:solidFill>
              </a:rPr>
              <a:t>1</a:t>
            </a:r>
            <a:r>
              <a:rPr lang="en-US" altLang="zh-CN" sz="1100" dirty="0" smtClean="0">
                <a:solidFill>
                  <a:schemeClr val="accent5"/>
                </a:solidFill>
              </a:rPr>
              <a:t>000+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36507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/>
                </a:solidFill>
              </a:rPr>
              <a:t>Pouch 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¥539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90781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5"/>
                </a:solidFill>
              </a:rPr>
              <a:t>科巢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¥289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45055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 smtClean="0">
                <a:solidFill>
                  <a:schemeClr val="accent5"/>
                </a:solidFill>
              </a:rPr>
              <a:t>Aag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¥299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699328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err="1" smtClean="0">
                <a:solidFill>
                  <a:schemeClr val="accent5"/>
                </a:solidFill>
              </a:rPr>
              <a:t>Newber</a:t>
            </a:r>
            <a:endParaRPr lang="en-US" altLang="zh-CN" sz="1400" b="1" dirty="0" smtClean="0">
              <a:solidFill>
                <a:schemeClr val="accent5"/>
              </a:solidFill>
            </a:endParaRP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¥529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653601" y="5660765"/>
            <a:ext cx="172147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/>
                </a:solidFill>
              </a:rPr>
              <a:t>Hoag</a:t>
            </a:r>
          </a:p>
          <a:p>
            <a:pPr algn="r"/>
            <a:r>
              <a:rPr lang="en-US" altLang="zh-CN" sz="1200" dirty="0" smtClean="0">
                <a:solidFill>
                  <a:schemeClr val="accent5"/>
                </a:solidFill>
              </a:rPr>
              <a:t>¥789  </a:t>
            </a:r>
            <a:r>
              <a:rPr lang="zh-CN" altLang="en-US" sz="1100" dirty="0" smtClean="0">
                <a:solidFill>
                  <a:schemeClr val="accent5"/>
                </a:solidFill>
              </a:rPr>
              <a:t>销量</a:t>
            </a:r>
            <a:r>
              <a:rPr lang="en-US" altLang="zh-CN" sz="1100" dirty="0" smtClean="0">
                <a:solidFill>
                  <a:schemeClr val="accent5"/>
                </a:solidFill>
              </a:rPr>
              <a:t>10+</a:t>
            </a:r>
            <a:endParaRPr lang="zh-CN" altLang="en-US" sz="1100" dirty="0">
              <a:solidFill>
                <a:schemeClr val="accent5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0" y="1808163"/>
            <a:ext cx="304800" cy="925162"/>
          </a:xfrm>
          <a:prstGeom prst="roundRect">
            <a:avLst/>
          </a:prstGeom>
          <a:solidFill>
            <a:srgbClr val="DED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</a:rPr>
              <a:t>大盘分析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0" y="2733325"/>
            <a:ext cx="304800" cy="92516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accent5"/>
                </a:solidFill>
              </a:rPr>
              <a:t>竞品分析</a:t>
            </a:r>
            <a:endParaRPr lang="zh-CN" altLang="en-US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01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img.alicdn.com/imgextra/i2/2481631188/O1CN01tWg2Hs1Ke9H5SyekU_!!248163118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23" b="9189"/>
          <a:stretch/>
        </p:blipFill>
        <p:spPr bwMode="auto">
          <a:xfrm>
            <a:off x="0" y="8017"/>
            <a:ext cx="6096000" cy="684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椭圆 2"/>
          <p:cNvSpPr/>
          <p:nvPr/>
        </p:nvSpPr>
        <p:spPr>
          <a:xfrm>
            <a:off x="5364480" y="846686"/>
            <a:ext cx="1463040" cy="1463040"/>
          </a:xfrm>
          <a:prstGeom prst="ellipse">
            <a:avLst/>
          </a:prstGeom>
          <a:gradFill>
            <a:gsLst>
              <a:gs pos="20000">
                <a:srgbClr val="DEDACF">
                  <a:alpha val="70000"/>
                </a:srgbClr>
              </a:gs>
              <a:gs pos="100000">
                <a:srgbClr val="EAE7E2">
                  <a:alpha val="70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825875" y="400715"/>
            <a:ext cx="1004236" cy="1004236"/>
          </a:xfrm>
          <a:prstGeom prst="ellipse">
            <a:avLst/>
          </a:prstGeom>
          <a:gradFill>
            <a:gsLst>
              <a:gs pos="20000">
                <a:srgbClr val="DEDACF">
                  <a:alpha val="70000"/>
                </a:srgbClr>
              </a:gs>
              <a:gs pos="100000">
                <a:srgbClr val="EAE7E2">
                  <a:alpha val="70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4B867F-A6A7-EC47-9126-038CF8A8C18F}"/>
              </a:ext>
            </a:extLst>
          </p:cNvPr>
          <p:cNvSpPr txBox="1"/>
          <p:nvPr/>
        </p:nvSpPr>
        <p:spPr>
          <a:xfrm>
            <a:off x="7459134" y="2639898"/>
            <a:ext cx="3222494" cy="1173944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4000">
                <a:solidFill>
                  <a:schemeClr val="tx2"/>
                </a:solidFill>
                <a:latin typeface="FZTieJinLiShu-S17S" charset="0"/>
                <a:ea typeface="FZTieJinLiShu-S17S" charset="0"/>
                <a:cs typeface="FZTieJinLiShu-S17S" charset="0"/>
              </a:defRPr>
            </a:lvl1pPr>
          </a:lstStyle>
          <a:p>
            <a:r>
              <a:rPr lang="en-US" altLang="zh-CN" sz="6000" b="1" dirty="0" smtClean="0">
                <a:solidFill>
                  <a:srgbClr val="C3B8AA"/>
                </a:solidFill>
                <a:latin typeface="Arial" panose="020B0604020202020204" pitchFamily="34" charset="0"/>
                <a:ea typeface="Alibaba PuHuiTi" panose="00020600040101010101" pitchFamily="18" charset="-122"/>
                <a:cs typeface="Arial" panose="020B0604020202020204" pitchFamily="34" charset="0"/>
              </a:rPr>
              <a:t>Thanks!</a:t>
            </a:r>
            <a:endParaRPr lang="zh-CN" altLang="en-US" sz="6000" b="1" dirty="0">
              <a:solidFill>
                <a:srgbClr val="C3B8AA"/>
              </a:solidFill>
              <a:latin typeface="Arial" panose="020B0604020202020204" pitchFamily="34" charset="0"/>
              <a:ea typeface="Alibaba PuHuiTi" panose="00020600040101010101" pitchFamily="18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23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贝易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3B8AA"/>
      </a:accent1>
      <a:accent2>
        <a:srgbClr val="D8CEC4"/>
      </a:accent2>
      <a:accent3>
        <a:srgbClr val="DEDACF"/>
      </a:accent3>
      <a:accent4>
        <a:srgbClr val="EAE7E2"/>
      </a:accent4>
      <a:accent5>
        <a:srgbClr val="616161"/>
      </a:accent5>
      <a:accent6>
        <a:srgbClr val="C9C9C9"/>
      </a:accent6>
      <a:hlink>
        <a:srgbClr val="0563C1"/>
      </a:hlink>
      <a:folHlink>
        <a:srgbClr val="954F72"/>
      </a:folHlink>
    </a:clrScheme>
    <a:fontScheme name="贝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1517</Words>
  <Application>Microsoft Office PowerPoint</Application>
  <PresentationFormat>宽屏</PresentationFormat>
  <Paragraphs>188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Alibaba PuHuiTi</vt:lpstr>
      <vt:lpstr>阿里巴巴普惠体 R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水杯行业大盘分析</vt:lpstr>
      <vt:lpstr>水杯价格大盘分析</vt:lpstr>
      <vt:lpstr>餐椅价格大盘分析</vt:lpstr>
      <vt:lpstr>水杯带货达人分析</vt:lpstr>
      <vt:lpstr>餐椅带货达人分析</vt:lpstr>
      <vt:lpstr>店铺整体分析</vt:lpstr>
      <vt:lpstr>世喜带货达人发展分析</vt:lpstr>
      <vt:lpstr>Hagaday带货达人发展分析</vt:lpstr>
      <vt:lpstr>评价分析-差评</vt:lpstr>
      <vt:lpstr>水杯主要竞品</vt:lpstr>
      <vt:lpstr>餐椅主要竞品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高运</dc:creator>
  <cp:lastModifiedBy>高运</cp:lastModifiedBy>
  <cp:revision>292</cp:revision>
  <dcterms:created xsi:type="dcterms:W3CDTF">2022-11-10T11:19:23Z</dcterms:created>
  <dcterms:modified xsi:type="dcterms:W3CDTF">2022-11-13T15:27:04Z</dcterms:modified>
</cp:coreProperties>
</file>